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69" r:id="rId2"/>
    <p:sldId id="271" r:id="rId3"/>
    <p:sldId id="288" r:id="rId4"/>
    <p:sldId id="289" r:id="rId5"/>
    <p:sldId id="295" r:id="rId6"/>
    <p:sldId id="299" r:id="rId7"/>
    <p:sldId id="296" r:id="rId8"/>
    <p:sldId id="300" r:id="rId9"/>
    <p:sldId id="304" r:id="rId10"/>
    <p:sldId id="306" r:id="rId11"/>
    <p:sldId id="307" r:id="rId12"/>
    <p:sldId id="310" r:id="rId13"/>
    <p:sldId id="312" r:id="rId14"/>
    <p:sldId id="313" r:id="rId15"/>
    <p:sldId id="317" r:id="rId16"/>
    <p:sldId id="320" r:id="rId17"/>
    <p:sldId id="324" r:id="rId18"/>
    <p:sldId id="329" r:id="rId19"/>
    <p:sldId id="33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75" d="100"/>
          <a:sy n="75" d="100"/>
        </p:scale>
        <p:origin x="690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593231697101693"/>
          <c:y val="0.06"/>
          <c:w val="0.75230691908192326"/>
          <c:h val="0.83101708307222832"/>
        </c:manualLayout>
      </c:layout>
      <c:lineChart>
        <c:grouping val="standard"/>
        <c:varyColors val="0"/>
        <c:ser>
          <c:idx val="0"/>
          <c:order val="0"/>
          <c:tx>
            <c:v>Open</c:v>
          </c:tx>
          <c:spPr>
            <a:ln w="28575">
              <a:solidFill>
                <a:srgbClr val="F72FE0"/>
              </a:solidFill>
            </a:ln>
          </c:spPr>
          <c:marker>
            <c:symbol val="none"/>
          </c:marker>
          <c:dPt>
            <c:idx val="4"/>
            <c:marker>
              <c:symbol val="circle"/>
              <c:size val="7"/>
              <c:spPr>
                <a:solidFill>
                  <a:srgbClr val="F72FE0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AD22-4870-B21F-B0A61AAF7A8F}"/>
              </c:ext>
            </c:extLst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F72FE0"/>
                        </a:solidFill>
                        <a:latin typeface="Segoe UI"/>
                      </a:rPr>
                      <a:t>30T Open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D22-4870-B21F-B0A61AAF7A8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Jun '25</c:v>
              </c:pt>
              <c:pt idx="1">
                <c:v>Sep '25</c:v>
              </c:pt>
              <c:pt idx="2">
                <c:v>Dec '25</c:v>
              </c:pt>
              <c:pt idx="3">
                <c:v>Mar '26</c:v>
              </c:pt>
              <c:pt idx="4">
                <c:v>Jun '26</c:v>
              </c:pt>
            </c:strLit>
          </c:cat>
          <c:val>
            <c:numLit>
              <c:formatCode>General</c:formatCode>
              <c:ptCount val="5"/>
              <c:pt idx="0">
                <c:v>0.6</c:v>
              </c:pt>
              <c:pt idx="1">
                <c:v>1.4</c:v>
              </c:pt>
              <c:pt idx="2">
                <c:v>1.7</c:v>
              </c:pt>
              <c:pt idx="3">
                <c:v>7</c:v>
              </c:pt>
              <c:pt idx="4">
                <c:v>30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D22-4870-B21F-B0A61AAF7A8F}"/>
            </c:ext>
          </c:extLst>
        </c:ser>
        <c:ser>
          <c:idx val="1"/>
          <c:order val="1"/>
          <c:tx>
            <c:v>Closed</c:v>
          </c:tx>
          <c:spPr>
            <a:ln w="19050">
              <a:solidFill>
                <a:srgbClr val="9C8FBF"/>
              </a:solidFill>
            </a:ln>
          </c:spPr>
          <c:marker>
            <c:symbol val="none"/>
          </c:marker>
          <c:dPt>
            <c:idx val="4"/>
            <c:marker>
              <c:symbol val="circle"/>
              <c:size val="6"/>
              <c:spPr>
                <a:solidFill>
                  <a:srgbClr val="9C8FBF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AD22-4870-B21F-B0A61AAF7A8F}"/>
              </c:ext>
            </c:extLst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9C8FBF"/>
                        </a:solidFill>
                        <a:latin typeface="Segoe UI"/>
                      </a:rPr>
                      <a:t>17T Closed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D22-4870-B21F-B0A61AAF7A8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Jun '25</c:v>
              </c:pt>
              <c:pt idx="1">
                <c:v>Sep '25</c:v>
              </c:pt>
              <c:pt idx="2">
                <c:v>Dec '25</c:v>
              </c:pt>
              <c:pt idx="3">
                <c:v>Mar '26</c:v>
              </c:pt>
              <c:pt idx="4">
                <c:v>Jun '26</c:v>
              </c:pt>
            </c:strLit>
          </c:cat>
          <c:val>
            <c:numLit>
              <c:formatCode>General</c:formatCode>
              <c:ptCount val="5"/>
              <c:pt idx="0">
                <c:v>1.6</c:v>
              </c:pt>
              <c:pt idx="1">
                <c:v>3.1</c:v>
              </c:pt>
              <c:pt idx="2">
                <c:v>4.3</c:v>
              </c:pt>
              <c:pt idx="3">
                <c:v>7.5</c:v>
              </c:pt>
              <c:pt idx="4">
                <c:v>16.5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AD22-4870-B21F-B0A61AAF7A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524B66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F5EEFF"/>
                </a:solidFill>
                <a:latin typeface="Segoe U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322A47"/>
              </a:solidFill>
            </a:ln>
          </c:spPr>
        </c:majorGridlines>
        <c:numFmt formatCode="0&quot;T&quot;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400" b="0">
                <a:solidFill>
                  <a:srgbClr val="D9CCF2"/>
                </a:solidFill>
                <a:latin typeface="Segoe UI"/>
              </a:defRPr>
            </a:pPr>
            <a:endParaRPr lang="en-US"/>
          </a:p>
        </c:txPr>
        <c:crossAx val="1"/>
        <c:crosses val="autoZero"/>
        <c:crossBetween val="between"/>
        <c:majorUnit val="1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6C3BAA"/>
            </a:solidFill>
            <a:ln>
              <a:noFill/>
            </a:ln>
          </c:spPr>
          <c:invertIfNegative val="1"/>
          <c:dPt>
            <c:idx val="2"/>
            <c:invertIfNegative val="1"/>
            <c:bubble3D val="0"/>
            <c:spPr>
              <a:solidFill>
                <a:srgbClr val="F72FE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F36-4C0A-899B-7FD75206BBC2}"/>
              </c:ext>
            </c:extLst>
          </c:dPt>
          <c:dLbls>
            <c:numFmt formatCode="0.0&quot; GB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F5EEFF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16-bit</c:v>
              </c:pt>
              <c:pt idx="1">
                <c:v>8-bit</c:v>
              </c:pt>
              <c:pt idx="2">
                <c:v>4-bit</c:v>
              </c:pt>
            </c:strLit>
          </c:cat>
          <c:val>
            <c:numLit>
              <c:formatCode>General</c:formatCode>
              <c:ptCount val="3"/>
              <c:pt idx="0">
                <c:v>17.899999999999999</c:v>
              </c:pt>
              <c:pt idx="1">
                <c:v>8.9</c:v>
              </c:pt>
              <c:pt idx="2">
                <c:v>4.5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F36-4C0A-899B-7FD75206BB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524B66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F5EEFF"/>
                </a:solidFill>
                <a:latin typeface="Segoe U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22.4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6C3BAA"/>
            </a:solidFill>
            <a:ln>
              <a:noFill/>
            </a:ln>
          </c:spPr>
          <c:invertIfNegative val="1"/>
          <c:dPt>
            <c:idx val="4"/>
            <c:invertIfNegative val="1"/>
            <c:bubble3D val="0"/>
            <c:spPr>
              <a:solidFill>
                <a:srgbClr val="F72FE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217-4B67-9E82-6EFBB3AF4693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F5EEFF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5"/>
              <c:pt idx="0">
                <c:v>banana</c:v>
              </c:pt>
              <c:pt idx="1">
                <c:v>test</c:v>
              </c:pt>
              <c:pt idx="2">
                <c:v>variable</c:v>
              </c:pt>
              <c:pt idx="3">
                <c:v>loop</c:v>
              </c:pt>
              <c:pt idx="4">
                <c:v>function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9</c:v>
              </c:pt>
              <c:pt idx="2">
                <c:v>15</c:v>
              </c:pt>
              <c:pt idx="3">
                <c:v>27</c:v>
              </c:pt>
              <c:pt idx="4">
                <c:v>42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1217-4B67-9E82-6EFBB3AF46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524B66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F5EEFF"/>
                </a:solidFill>
                <a:latin typeface="Segoe U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6C3BAA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solidFill>
                <a:srgbClr val="F72FE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600-462C-A81C-DA7374D028E5}"/>
              </c:ext>
            </c:extLst>
          </c:dPt>
          <c:dLbls>
            <c:numFmt formatCode="General&quot;B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F5EEFF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2"/>
              <c:pt idx="0">
                <c:v>PaLM (2022)</c:v>
              </c:pt>
              <c:pt idx="1">
                <c:v>Phi-3-mini (2024)</c:v>
              </c:pt>
            </c:strLit>
          </c:cat>
          <c:val>
            <c:numLit>
              <c:formatCode>General</c:formatCode>
              <c:ptCount val="2"/>
              <c:pt idx="0">
                <c:v>540</c:v>
              </c:pt>
              <c:pt idx="1">
                <c:v>3.8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600-462C-A81C-DA7374D028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524B66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F5EEFF"/>
                </a:solidFill>
                <a:latin typeface="Segoe U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675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6C3BAA"/>
            </a:solidFill>
            <a:ln>
              <a:noFill/>
            </a:ln>
          </c:spPr>
          <c:invertIfNegative val="1"/>
          <c:dPt>
            <c:idx val="3"/>
            <c:invertIfNegative val="1"/>
            <c:bubble3D val="0"/>
            <c:spPr>
              <a:solidFill>
                <a:srgbClr val="F72FE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BBD-44B4-85CC-B4A10981C00B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F5EEFF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4"/>
              <c:pt idx="0">
                <c:v>Gemma 2 9B</c:v>
              </c:pt>
              <c:pt idx="1">
                <c:v>Llama 3.1 8B</c:v>
              </c:pt>
              <c:pt idx="2">
                <c:v>Qwen2.5 7B</c:v>
              </c:pt>
              <c:pt idx="3">
                <c:v>Qwen2.5-Coder 7B</c:v>
              </c:pt>
            </c:strLit>
          </c:cat>
          <c:val>
            <c:numLit>
              <c:formatCode>General</c:formatCode>
              <c:ptCount val="4"/>
              <c:pt idx="0">
                <c:v>68.900000000000006</c:v>
              </c:pt>
              <c:pt idx="1">
                <c:v>72.599999999999994</c:v>
              </c:pt>
              <c:pt idx="2">
                <c:v>84.8</c:v>
              </c:pt>
              <c:pt idx="3">
                <c:v>88.4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7BBD-44B4-85CC-B4A10981C0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524B66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F5EEFF"/>
                </a:solidFill>
                <a:latin typeface="Segoe U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AB4154-381C-46BD-9401-1E4C45D8F06B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7C8F0-2A43-48BC-B491-C566F0DE3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72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7C8F0-2A43-48BC-B491-C566F0DE32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3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94E42-0C72-96A9-268A-65371C0AE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9144000" cy="238760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A8AF67-B807-A163-6899-CBED8D4AC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9144000" cy="1655762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C94C1-4DA0-8EF2-D7F0-A660712F3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42EE-725D-40AA-A60E-48466B1E678A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D2AD7-BD47-3E6B-7982-DE359FED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B6BBD-C0B3-2258-4342-41569B030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B531-3EDB-452C-A704-182B5E8CD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5D918-5DAD-49C5-AB38-4EF5270B3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6C7C0-F10F-FBE6-5660-2E6013802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14A48-65F6-26AE-808C-DA0AE550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42EE-725D-40AA-A60E-48466B1E678A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1687F-A0C5-2F7F-5F90-AA4AB4CD4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52AA8-90CD-E007-2E10-4AEDC4259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B531-3EDB-452C-A704-182B5E8CD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69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C1F1-FF09-780C-FFFC-1E2396972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CAA85-5B42-1217-8D13-EC4536B0B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156CE-51F2-81EA-EEC3-24B63CE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42EE-725D-40AA-A60E-48466B1E678A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88319-0762-4BFA-C3A8-535DA2BF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050B1-5C5D-7699-6A4B-D38309D99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B531-3EDB-452C-A704-182B5E8CD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1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61E53-BBF3-C4DD-486A-6BA69A42C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1C9DF-C8F6-4D08-0999-9A3E7168BD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4E174-44DA-F1A9-1C0D-EDF6E914F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62D09-B917-2B38-9230-7DDD50DDD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42EE-725D-40AA-A60E-48466B1E678A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ADE3E-F890-F46A-330A-BECDB2299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4B14C-76BF-76A4-C6F0-F9B3E7E6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B531-3EDB-452C-A704-182B5E8CD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082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1A7F-20D4-8A9F-B50D-9828247C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EEF44-EE06-E350-21A6-6E2FC2D52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32EBA-795B-6A6E-9EC1-8715C0446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0B1A66-0DBC-4582-15F3-927F753CA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F62C44-23BF-7416-F2A9-86E8A8627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43B70B-B245-883E-F8C6-1A8E1614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42EE-725D-40AA-A60E-48466B1E678A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B4AA82-369D-4637-E8FE-AE464FFAD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69C04A-13C7-CE90-3560-CE816BB37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B531-3EDB-452C-A704-182B5E8CD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58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1F51-AEA1-CC70-F640-0B6EA2B7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82AEF-DAEC-713C-B98F-D2501C773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42EE-725D-40AA-A60E-48466B1E678A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E0FE5-CED4-8CDB-1914-166531C59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04FBA-46AA-D77D-80CD-3A13BC9E0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B531-3EDB-452C-A704-182B5E8CD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63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0C8D3B-FE26-7FC0-F809-F8EDBDC19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42EE-725D-40AA-A60E-48466B1E678A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76DA6-2F85-2577-2C10-9C0650458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52CCB-531B-2CCC-0CC2-2FBB4200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B531-3EDB-452C-A704-182B5E8CD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32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F9562-4A61-C6F6-1ABE-28CD1C87A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DB6D6-A467-4784-AB40-ABE3B4FCB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91449-96A1-829F-A500-C03612548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F905C-A306-4A0D-3BDF-EDF03E8F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42EE-725D-40AA-A60E-48466B1E678A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EF4CA-3AD3-172C-E8A3-C3308C7C3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A100-F4A1-FC80-16A8-094F416F6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B531-3EDB-452C-A704-182B5E8CD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38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4A323-EA9E-8DBA-53F4-430A14D52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281E5E-E2C3-ED83-9B55-EC0811F7578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D02B4-E9CB-C5EF-688A-621945FB3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31D24-6A74-CE46-8D32-D47BDE58E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42EE-725D-40AA-A60E-48466B1E678A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3C496-6AEA-F25B-0D4D-AC40F61B6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288F7-FD20-A137-CA8E-01DE7E1E1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B531-3EDB-452C-A704-182B5E8CD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51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E4AE0-53BB-06DA-9AA4-FC00D8503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0020D-AABF-B211-344E-4248B8B77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E6E6E-B707-4DF0-1C39-6822B0208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42EE-725D-40AA-A60E-48466B1E678A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F06A9-B03E-ECBA-F241-273938798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04C86-1066-85C7-6A81-32A8A76E6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B531-3EDB-452C-A704-182B5E8CD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11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963473-0CD2-A3E6-46DC-C9971EAEC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37EB7-A171-2562-832C-AD844C1CA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1F9ED-9B21-D724-9E8E-0BF0EA38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42EE-725D-40AA-A60E-48466B1E678A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922B5-2980-0876-1405-F50E5E04C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61743-F33B-1589-C6C2-FBA80C200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B531-3EDB-452C-A704-182B5E8CD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38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DD3874-1C45-2683-4918-A7B9B9BAA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E5BD5-0323-3382-6E50-B195008F0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B4F8D-E359-EF68-72E2-A8791894C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B42EE-725D-40AA-A60E-48466B1E678A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5DDED-B543-3009-AA71-1266639A8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C337F-2594-5E0B-FBE4-741324F3C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0BB531-3EDB-452C-A704-182B5E8CDB94}" type="slidenum">
              <a:rPr lang="en-US" smtClean="0"/>
              <a:t>‹#›</a:t>
            </a:fld>
            <a:endParaRPr lang="en-US"/>
          </a:p>
        </p:txBody>
      </p:sp>
      <p:sp>
        <p:nvSpPr>
          <p:cNvPr id="90" name="Sunset Bar"/>
          <p:cNvSpPr/>
          <p:nvPr userDrawn="1"/>
        </p:nvSpPr>
        <p:spPr>
          <a:xfrm>
            <a:off x="0" y="6781800"/>
            <a:ext cx="12192000" cy="76200"/>
          </a:xfrm>
          <a:prstGeom prst="rect">
            <a:avLst/>
          </a:prstGeom>
          <a:gradFill>
            <a:gsLst>
              <a:gs pos="0">
                <a:srgbClr val="FFE600"/>
              </a:gs>
              <a:gs pos="33000">
                <a:srgbClr val="FF8A2B"/>
              </a:gs>
              <a:gs pos="66000">
                <a:srgbClr val="F43F8E"/>
              </a:gs>
              <a:gs pos="100000">
                <a:srgbClr val="B620E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7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DCCA7-BC44-8139-BE3C-7FECEB092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778000"/>
            <a:ext cx="5080000" cy="228600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Power of  Open source AI</a:t>
            </a:r>
          </a:p>
        </p:txBody>
      </p:sp>
      <p:pic>
        <p:nvPicPr>
          <p:cNvPr id="4" name="Picture 3" descr="SpartaHack 12 logo">
            <a:extLst>
              <a:ext uri="{FF2B5EF4-FFF2-40B4-BE49-F238E27FC236}">
                <a16:creationId xmlns:a16="http://schemas.microsoft.com/office/drawing/2014/main" id="{811CEBD3-78C6-4CCA-9293-03ECBF6473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1" r="2923" b="-3"/>
          <a:stretch>
            <a:fillRect/>
          </a:stretch>
        </p:blipFill>
        <p:spPr>
          <a:xfrm>
            <a:off x="5080000" y="762000"/>
            <a:ext cx="7112000" cy="5334000"/>
          </a:xfrm>
          <a:prstGeom prst="rect">
            <a:avLst/>
          </a:prstGeom>
          <a:noFill/>
          <a:effectLst>
            <a:softEdge rad="762000"/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CE1A99D-44BD-D815-1EEE-1BFAC5865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4191000"/>
            <a:ext cx="5080000" cy="1143000"/>
          </a:xfrm>
        </p:spPr>
        <p:txBody>
          <a:bodyPr anchor="t">
            <a:normAutofit/>
          </a:bodyPr>
          <a:lstStyle/>
          <a:p>
            <a:pPr algn="l"/>
            <a:r>
              <a:rPr lang="en-US" b="1" dirty="0">
                <a:solidFill>
                  <a:schemeClr val="accent1"/>
                </a:solidFill>
              </a:rPr>
              <a:t>SpartaHack 12 Workshop</a:t>
            </a:r>
          </a:p>
          <a:p>
            <a:pPr algn="l"/>
            <a:r>
              <a:rPr lang="en-US" dirty="0"/>
              <a:t>Debugging with Gemma 4, fully offline</a:t>
            </a:r>
          </a:p>
        </p:txBody>
      </p:sp>
    </p:spTree>
    <p:extLst>
      <p:ext uri="{BB962C8B-B14F-4D97-AF65-F5344CB8AC3E}">
        <p14:creationId xmlns:p14="http://schemas.microsoft.com/office/powerpoint/2010/main" val="4272295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Rule"/>
          <p:cNvSpPr/>
          <p:nvPr/>
        </p:nvSpPr>
        <p:spPr>
          <a:xfrm>
            <a:off x="762000" y="1981200"/>
            <a:ext cx="101600" cy="2184400"/>
          </a:xfrm>
          <a:prstGeom prst="rect">
            <a:avLst/>
          </a:prstGeom>
          <a:gradFill>
            <a:gsLst>
              <a:gs pos="0">
                <a:srgbClr val="FFE600"/>
              </a:gs>
              <a:gs pos="50000">
                <a:srgbClr val="F43F8E"/>
              </a:gs>
              <a:gs pos="100000">
                <a:srgbClr val="B620E0"/>
              </a:gs>
            </a:gsLst>
            <a:lin ang="5400000" scaled="1"/>
          </a:gradFill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endParaRPr lang="en-US"/>
          </a:p>
        </p:txBody>
      </p:sp>
      <p:sp>
        <p:nvSpPr>
          <p:cNvPr id="11" name="Kicker"/>
          <p:cNvSpPr txBox="1"/>
          <p:nvPr/>
        </p:nvSpPr>
        <p:spPr>
          <a:xfrm>
            <a:off x="1016000" y="18542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chemeClr val="accent1"/>
                </a:solidFill>
                <a:latin typeface="+mj-lt"/>
              </a:rPr>
              <a:t>BY THE END OF TODAY</a:t>
            </a:r>
          </a:p>
        </p:txBody>
      </p:sp>
      <p:sp>
        <p:nvSpPr>
          <p:cNvPr id="12" name="Hook"/>
          <p:cNvSpPr txBox="1"/>
          <p:nvPr/>
        </p:nvSpPr>
        <p:spPr>
          <a:xfrm>
            <a:off x="1016000" y="2336800"/>
            <a:ext cx="10668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6000" b="1" dirty="0">
                <a:solidFill>
                  <a:schemeClr val="tx1"/>
                </a:solidFill>
                <a:latin typeface="+mj-lt"/>
              </a:rPr>
              <a:t>Turn off your Wi-Fi.</a:t>
            </a:r>
          </a:p>
          <a:p>
            <a:pPr algn="l">
              <a:lnSpc>
                <a:spcPct val="90000"/>
              </a:lnSpc>
            </a:pPr>
            <a:r>
              <a:rPr lang="en-US" sz="6000" b="1" dirty="0">
                <a:solidFill>
                  <a:srgbClr val="FFC21A"/>
                </a:solidFill>
                <a:latin typeface="+mj-lt"/>
              </a:rPr>
              <a:t>Your AI keeps working.</a:t>
            </a:r>
          </a:p>
        </p:txBody>
      </p:sp>
      <p:sp>
        <p:nvSpPr>
          <p:cNvPr id="13" name="Hook Sub"/>
          <p:cNvSpPr txBox="1"/>
          <p:nvPr/>
        </p:nvSpPr>
        <p:spPr>
          <a:xfrm>
            <a:off x="1016000" y="4445000"/>
            <a:ext cx="889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You will run Gemma 4 on your own laptop and use it as a coding tutor.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No cloud, no API key, no internet.</a:t>
            </a:r>
          </a:p>
        </p:txBody>
      </p:sp>
    </p:spTree>
    <p:extLst>
      <p:ext uri="{BB962C8B-B14F-4D97-AF65-F5344CB8AC3E}">
        <p14:creationId xmlns:p14="http://schemas.microsoft.com/office/powerpoint/2010/main" val="1951696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B273-D907-E635-C953-5A03E950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Open models now process more tokens than closed ones on OpenRouter</a:t>
            </a:r>
          </a:p>
        </p:txBody>
      </p:sp>
      <p:sp>
        <p:nvSpPr>
          <p:cNvPr id="10" name="Chart Label"/>
          <p:cNvSpPr txBox="1"/>
          <p:nvPr/>
        </p:nvSpPr>
        <p:spPr>
          <a:xfrm>
            <a:off x="838200" y="18542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600" b="1" dirty="0">
                <a:solidFill>
                  <a:schemeClr val="tx1"/>
                </a:solidFill>
              </a:rPr>
              <a:t>Weekly tokens processed on OpenRouter</a:t>
            </a:r>
          </a:p>
          <a:p>
            <a:pPr algn="l"/>
            <a:r>
              <a:rPr lang="en-US" sz="1300" dirty="0">
                <a:solidFill>
                  <a:srgbClr val="9C8FBF"/>
                </a:solidFill>
              </a:rPr>
              <a:t>Trillions of tokens, by model type</a:t>
            </a:r>
          </a:p>
        </p:txBody>
      </p:sp>
      <p:sp>
        <p:nvSpPr>
          <p:cNvPr id="19" name="Reasons Kicker"/>
          <p:cNvSpPr txBox="1"/>
          <p:nvPr/>
        </p:nvSpPr>
        <p:spPr>
          <a:xfrm>
            <a:off x="7366000" y="1854200"/>
            <a:ext cx="39878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b="1" dirty="0">
                <a:solidFill>
                  <a:schemeClr val="accent1"/>
                </a:solidFill>
                <a:latin typeface="+mj-lt"/>
              </a:rPr>
              <a:t>WHY THIS MATTERS FOR YOU</a:t>
            </a:r>
          </a:p>
        </p:txBody>
      </p:sp>
      <p:sp>
        <p:nvSpPr>
          <p:cNvPr id="30" name="Reason Rule 1"/>
          <p:cNvSpPr/>
          <p:nvPr/>
        </p:nvSpPr>
        <p:spPr>
          <a:xfrm>
            <a:off x="7366000" y="2438400"/>
            <a:ext cx="50800" cy="889000"/>
          </a:xfrm>
          <a:prstGeom prst="rect">
            <a:avLst/>
          </a:prstGeom>
          <a:solidFill>
            <a:srgbClr val="F72F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ason 1"/>
          <p:cNvSpPr txBox="1"/>
          <p:nvPr/>
        </p:nvSpPr>
        <p:spPr>
          <a:xfrm>
            <a:off x="7518400" y="2362200"/>
            <a:ext cx="38354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+mj-lt"/>
              </a:rPr>
              <a:t>You own it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chemeClr val="tx2"/>
                </a:solidFill>
              </a:rPr>
              <a:t>Download the weights once and run them anywhere, with no API key and no usage bill</a:t>
            </a:r>
          </a:p>
        </p:txBody>
      </p:sp>
      <p:sp>
        <p:nvSpPr>
          <p:cNvPr id="31" name="Reason Rule 2"/>
          <p:cNvSpPr/>
          <p:nvPr/>
        </p:nvSpPr>
        <p:spPr>
          <a:xfrm>
            <a:off x="7366000" y="3632200"/>
            <a:ext cx="50800" cy="889000"/>
          </a:xfrm>
          <a:prstGeom prst="rect">
            <a:avLst/>
          </a:prstGeom>
          <a:solidFill>
            <a:srgbClr val="FFC2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ason 2"/>
          <p:cNvSpPr txBox="1"/>
          <p:nvPr/>
        </p:nvSpPr>
        <p:spPr>
          <a:xfrm>
            <a:off x="7518400" y="3556000"/>
            <a:ext cx="38354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+mj-lt"/>
              </a:rPr>
              <a:t>Your data stays put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chemeClr val="tx2"/>
                </a:solidFill>
              </a:rPr>
              <a:t>Prompts and code never leave your laptop, so it works offline and in private</a:t>
            </a:r>
          </a:p>
        </p:txBody>
      </p:sp>
      <p:sp>
        <p:nvSpPr>
          <p:cNvPr id="32" name="Reason Rule 3"/>
          <p:cNvSpPr/>
          <p:nvPr/>
        </p:nvSpPr>
        <p:spPr>
          <a:xfrm>
            <a:off x="7366000" y="4826000"/>
            <a:ext cx="50800" cy="889000"/>
          </a:xfrm>
          <a:prstGeom prst="rect">
            <a:avLst/>
          </a:prstGeom>
          <a:solidFill>
            <a:srgbClr val="FF8A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ason 3"/>
          <p:cNvSpPr txBox="1"/>
          <p:nvPr/>
        </p:nvSpPr>
        <p:spPr>
          <a:xfrm>
            <a:off x="7518400" y="4749800"/>
            <a:ext cx="38354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+mj-lt"/>
              </a:rPr>
              <a:t>You can change it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chemeClr val="tx2"/>
                </a:solidFill>
              </a:rPr>
              <a:t>Tune the context size, system prompt and behavior, as you will today with a Modelfile</a:t>
            </a:r>
          </a:p>
        </p:txBody>
      </p:sp>
      <p:sp>
        <p:nvSpPr>
          <p:cNvPr id="40" name="Source"/>
          <p:cNvSpPr txBox="1"/>
          <p:nvPr/>
        </p:nvSpPr>
        <p:spPr>
          <a:xfrm>
            <a:off x="838200" y="6172200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000" dirty="0">
                <a:solidFill>
                  <a:srgbClr val="B3A8D4"/>
                </a:solidFill>
              </a:rPr>
              <a:t>Source: OpenRouter, weekly token volume at quarterly points, Jun 2025 to Jun 2026; values read from the published chart and rounded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="838200" y="2413000"/>
          <a:ext cx="5969000" cy="367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90296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9DF1-5FF0-84F8-DEB1-5771AE79D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You know the closed-model giants. Meet the open ones.</a:t>
            </a:r>
          </a:p>
        </p:txBody>
      </p:sp>
      <p:sp>
        <p:nvSpPr>
          <p:cNvPr id="100" name="CLOSED Label"/>
          <p:cNvSpPr/>
          <p:nvPr/>
        </p:nvSpPr>
        <p:spPr>
          <a:xfrm>
            <a:off x="838200" y="1905000"/>
            <a:ext cx="2159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dirty="0">
                <a:solidFill>
                  <a:srgbClr val="9C8FBF"/>
                </a:solidFill>
                <a:latin typeface="+mj-lt"/>
              </a:rPr>
              <a:t>CLOSED</a:t>
            </a:r>
          </a:p>
          <a:p>
            <a:pPr algn="l">
              <a:spcBef>
                <a:spcPts val="600"/>
              </a:spcBef>
            </a:pPr>
            <a:r>
              <a:rPr lang="en-US" sz="1400" dirty="0">
                <a:solidFill>
                  <a:srgbClr val="9C8FBF"/>
                </a:solidFill>
              </a:rPr>
              <a:t>Use them through their app or API</a:t>
            </a:r>
          </a:p>
        </p:txBody>
      </p:sp>
      <p:sp>
        <p:nvSpPr>
          <p:cNvPr id="101" name="Closed Gemini"/>
          <p:cNvSpPr/>
          <p:nvPr/>
        </p:nvSpPr>
        <p:spPr>
          <a:xfrm>
            <a:off x="3251200" y="1905000"/>
            <a:ext cx="2540000" cy="1524000"/>
          </a:xfrm>
          <a:prstGeom prst="rect">
            <a:avLst/>
          </a:prstGeom>
          <a:solidFill>
            <a:srgbClr val="231A40"/>
          </a:solidFill>
          <a:ln>
            <a:noFill/>
          </a:ln>
        </p:spPr>
        <p:txBody>
          <a:bodyPr wrap="square" lIns="177800" tIns="127000" rIns="177800" bIns="127000" anchor="ctr">
            <a:noAutofit/>
          </a:bodyPr>
          <a:lstStyle/>
          <a:p>
            <a:pPr algn="l"/>
            <a:r>
              <a:rPr lang="en-US" sz="2600" b="1" dirty="0">
                <a:solidFill>
                  <a:srgbClr val="9C8FBF"/>
                </a:solidFill>
                <a:latin typeface="+mj-lt"/>
              </a:rPr>
              <a:t>Gemini</a:t>
            </a:r>
          </a:p>
          <a:p>
            <a:pPr algn="l"/>
            <a:r>
              <a:rPr lang="en-US" sz="1400" dirty="0">
                <a:solidFill>
                  <a:srgbClr val="7E72A3"/>
                </a:solidFill>
              </a:rPr>
              <a:t>Google</a:t>
            </a:r>
          </a:p>
        </p:txBody>
      </p:sp>
      <p:sp>
        <p:nvSpPr>
          <p:cNvPr id="102" name="Closed Claude"/>
          <p:cNvSpPr/>
          <p:nvPr/>
        </p:nvSpPr>
        <p:spPr>
          <a:xfrm>
            <a:off x="6032500" y="1905000"/>
            <a:ext cx="2540000" cy="1524000"/>
          </a:xfrm>
          <a:prstGeom prst="rect">
            <a:avLst/>
          </a:prstGeom>
          <a:solidFill>
            <a:srgbClr val="231A40"/>
          </a:solidFill>
          <a:ln>
            <a:noFill/>
          </a:ln>
        </p:spPr>
        <p:txBody>
          <a:bodyPr wrap="square" lIns="177800" tIns="127000" rIns="177800" bIns="127000" anchor="ctr">
            <a:noAutofit/>
          </a:bodyPr>
          <a:lstStyle/>
          <a:p>
            <a:pPr algn="l"/>
            <a:r>
              <a:rPr lang="en-US" sz="2600" b="1" dirty="0">
                <a:solidFill>
                  <a:srgbClr val="9C8FBF"/>
                </a:solidFill>
                <a:latin typeface="+mj-lt"/>
              </a:rPr>
              <a:t>Claude</a:t>
            </a:r>
          </a:p>
          <a:p>
            <a:pPr algn="l"/>
            <a:r>
              <a:rPr lang="en-US" sz="1400" dirty="0">
                <a:solidFill>
                  <a:srgbClr val="7E72A3"/>
                </a:solidFill>
              </a:rPr>
              <a:t>Anthropic</a:t>
            </a:r>
          </a:p>
        </p:txBody>
      </p:sp>
      <p:sp>
        <p:nvSpPr>
          <p:cNvPr id="103" name="Closed GPT"/>
          <p:cNvSpPr/>
          <p:nvPr/>
        </p:nvSpPr>
        <p:spPr>
          <a:xfrm>
            <a:off x="8813800" y="1905000"/>
            <a:ext cx="2540000" cy="1524000"/>
          </a:xfrm>
          <a:prstGeom prst="rect">
            <a:avLst/>
          </a:prstGeom>
          <a:solidFill>
            <a:srgbClr val="231A40"/>
          </a:solidFill>
          <a:ln>
            <a:noFill/>
          </a:ln>
        </p:spPr>
        <p:txBody>
          <a:bodyPr wrap="square" lIns="177800" tIns="127000" rIns="177800" bIns="127000" anchor="ctr">
            <a:noAutofit/>
          </a:bodyPr>
          <a:lstStyle/>
          <a:p>
            <a:pPr algn="l"/>
            <a:r>
              <a:rPr lang="en-US" sz="2600" b="1" dirty="0">
                <a:solidFill>
                  <a:srgbClr val="9C8FBF"/>
                </a:solidFill>
                <a:latin typeface="+mj-lt"/>
              </a:rPr>
              <a:t>GPT</a:t>
            </a:r>
          </a:p>
          <a:p>
            <a:pPr algn="l"/>
            <a:r>
              <a:rPr lang="en-US" sz="1400" dirty="0">
                <a:solidFill>
                  <a:srgbClr val="7E72A3"/>
                </a:solidFill>
              </a:rPr>
              <a:t>OpenAI</a:t>
            </a:r>
          </a:p>
        </p:txBody>
      </p:sp>
      <p:sp>
        <p:nvSpPr>
          <p:cNvPr id="104" name="OPEN Label"/>
          <p:cNvSpPr/>
          <p:nvPr/>
        </p:nvSpPr>
        <p:spPr>
          <a:xfrm>
            <a:off x="838200" y="3810000"/>
            <a:ext cx="2159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000" b="1" dirty="0">
                <a:solidFill>
                  <a:srgbClr val="F72FE0"/>
                </a:solidFill>
                <a:latin typeface="+mj-lt"/>
              </a:rPr>
              <a:t>OPEN</a:t>
            </a:r>
          </a:p>
          <a:p>
            <a:pPr algn="l">
              <a:spcBef>
                <a:spcPts val="600"/>
              </a:spcBef>
            </a:pPr>
            <a:r>
              <a:rPr lang="en-US" sz="1400" dirty="0">
                <a:solidFill>
                  <a:srgbClr val="D9CCF2"/>
                </a:solidFill>
              </a:rPr>
              <a:t>Download the weights and run them anywhere</a:t>
            </a:r>
          </a:p>
        </p:txBody>
      </p:sp>
      <p:sp>
        <p:nvSpPr>
          <p:cNvPr id="105" name="Open Qwen"/>
          <p:cNvSpPr/>
          <p:nvPr/>
        </p:nvSpPr>
        <p:spPr>
          <a:xfrm>
            <a:off x="3251200" y="3810000"/>
            <a:ext cx="2540000" cy="21590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177800" tIns="127000" rIns="177800" bIns="127000" anchor="ctr">
            <a:noAutofit/>
          </a:bodyPr>
          <a:lstStyle/>
          <a:p>
            <a:pPr algn="l"/>
            <a:r>
              <a:rPr lang="en-US" sz="3200" b="1" dirty="0">
                <a:solidFill>
                  <a:srgbClr val="F5EEFF"/>
                </a:solidFill>
                <a:latin typeface="+mj-lt"/>
              </a:rPr>
              <a:t>Qwen</a:t>
            </a:r>
          </a:p>
          <a:p>
            <a:pPr algn="l"/>
            <a:r>
              <a:rPr lang="en-US" sz="1600" dirty="0">
                <a:solidFill>
                  <a:srgbClr val="D9CCF2"/>
                </a:solidFill>
              </a:rPr>
              <a:t>Alibaba</a:t>
            </a:r>
          </a:p>
        </p:txBody>
      </p:sp>
      <p:sp>
        <p:nvSpPr>
          <p:cNvPr id="106" name="Open Bar Qwen"/>
          <p:cNvSpPr/>
          <p:nvPr/>
        </p:nvSpPr>
        <p:spPr>
          <a:xfrm>
            <a:off x="3251200" y="3810000"/>
            <a:ext cx="2540000" cy="76200"/>
          </a:xfrm>
          <a:prstGeom prst="rect">
            <a:avLst/>
          </a:prstGeom>
          <a:solidFill>
            <a:srgbClr val="FFC21A"/>
          </a:solidFill>
          <a:ln>
            <a:noFill/>
          </a:ln>
        </p:spPr>
        <p:txBody>
          <a:bodyPr wrap="square" lIns="177800" tIns="127000" rIns="177800" bIns="127000" anchor="t">
            <a:noAutofit/>
          </a:bodyPr>
          <a:lstStyle/>
          <a:p>
            <a:endParaRPr lang="en-US"/>
          </a:p>
        </p:txBody>
      </p:sp>
      <p:sp>
        <p:nvSpPr>
          <p:cNvPr id="107" name="Open Llama"/>
          <p:cNvSpPr/>
          <p:nvPr/>
        </p:nvSpPr>
        <p:spPr>
          <a:xfrm>
            <a:off x="6032500" y="3810000"/>
            <a:ext cx="2540000" cy="21590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177800" tIns="127000" rIns="177800" bIns="127000" anchor="ctr">
            <a:noAutofit/>
          </a:bodyPr>
          <a:lstStyle/>
          <a:p>
            <a:pPr algn="l"/>
            <a:r>
              <a:rPr lang="en-US" sz="3200" b="1" dirty="0">
                <a:solidFill>
                  <a:srgbClr val="F5EEFF"/>
                </a:solidFill>
                <a:latin typeface="+mj-lt"/>
              </a:rPr>
              <a:t>Llama</a:t>
            </a:r>
          </a:p>
          <a:p>
            <a:pPr algn="l"/>
            <a:r>
              <a:rPr lang="en-US" sz="1600" dirty="0">
                <a:solidFill>
                  <a:srgbClr val="D9CCF2"/>
                </a:solidFill>
              </a:rPr>
              <a:t>Meta</a:t>
            </a:r>
          </a:p>
        </p:txBody>
      </p:sp>
      <p:sp>
        <p:nvSpPr>
          <p:cNvPr id="108" name="Open Bar Llama"/>
          <p:cNvSpPr/>
          <p:nvPr/>
        </p:nvSpPr>
        <p:spPr>
          <a:xfrm>
            <a:off x="6032500" y="3810000"/>
            <a:ext cx="2540000" cy="76200"/>
          </a:xfrm>
          <a:prstGeom prst="rect">
            <a:avLst/>
          </a:prstGeom>
          <a:solidFill>
            <a:srgbClr val="FF8A2B"/>
          </a:solidFill>
          <a:ln>
            <a:noFill/>
          </a:ln>
        </p:spPr>
        <p:txBody>
          <a:bodyPr wrap="square" lIns="177800" tIns="127000" rIns="177800" bIns="127000" anchor="t">
            <a:noAutofit/>
          </a:bodyPr>
          <a:lstStyle/>
          <a:p>
            <a:endParaRPr lang="en-US"/>
          </a:p>
        </p:txBody>
      </p:sp>
      <p:sp>
        <p:nvSpPr>
          <p:cNvPr id="109" name="Open Gemma"/>
          <p:cNvSpPr/>
          <p:nvPr/>
        </p:nvSpPr>
        <p:spPr>
          <a:xfrm>
            <a:off x="8813800" y="3810000"/>
            <a:ext cx="2540000" cy="2159000"/>
          </a:xfrm>
          <a:prstGeom prst="rect">
            <a:avLst/>
          </a:prstGeom>
          <a:solidFill>
            <a:srgbClr val="2A1D4D"/>
          </a:solidFill>
          <a:ln w="25400">
            <a:solidFill>
              <a:srgbClr val="F72FE0"/>
            </a:solidFill>
          </a:ln>
        </p:spPr>
        <p:txBody>
          <a:bodyPr wrap="square" lIns="177800" tIns="127000" rIns="177800" bIns="127000" anchor="ctr">
            <a:noAutofit/>
          </a:bodyPr>
          <a:lstStyle/>
          <a:p>
            <a:pPr algn="l"/>
            <a:r>
              <a:rPr lang="en-US" sz="3200" b="1" dirty="0">
                <a:solidFill>
                  <a:srgbClr val="F5EEFF"/>
                </a:solidFill>
                <a:latin typeface="+mj-lt"/>
              </a:rPr>
              <a:t>Gemma</a:t>
            </a:r>
          </a:p>
          <a:p>
            <a:pPr algn="l"/>
            <a:r>
              <a:rPr lang="en-US" sz="1600" dirty="0">
                <a:solidFill>
                  <a:srgbClr val="D9CCF2"/>
                </a:solidFill>
              </a:rPr>
              <a:t>Google</a:t>
            </a:r>
          </a:p>
        </p:txBody>
      </p:sp>
      <p:sp>
        <p:nvSpPr>
          <p:cNvPr id="110" name="Open Bar Gemma"/>
          <p:cNvSpPr/>
          <p:nvPr/>
        </p:nvSpPr>
        <p:spPr>
          <a:xfrm>
            <a:off x="8813800" y="3810000"/>
            <a:ext cx="2540000" cy="76200"/>
          </a:xfrm>
          <a:prstGeom prst="rect">
            <a:avLst/>
          </a:prstGeom>
          <a:solidFill>
            <a:srgbClr val="F72FE0"/>
          </a:solidFill>
          <a:ln>
            <a:noFill/>
          </a:ln>
        </p:spPr>
        <p:txBody>
          <a:bodyPr wrap="square" lIns="177800" tIns="127000" rIns="177800" bIns="127000" anchor="t">
            <a:noAutofit/>
          </a:bodyPr>
          <a:lstStyle/>
          <a:p>
            <a:endParaRPr lang="en-US"/>
          </a:p>
        </p:txBody>
      </p:sp>
      <p:sp>
        <p:nvSpPr>
          <p:cNvPr id="111" name="Gemma Tag"/>
          <p:cNvSpPr/>
          <p:nvPr/>
        </p:nvSpPr>
        <p:spPr>
          <a:xfrm>
            <a:off x="9448800" y="4013200"/>
            <a:ext cx="1701800" cy="330200"/>
          </a:xfrm>
          <a:prstGeom prst="round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1C1433"/>
                </a:solidFill>
                <a:latin typeface="+mj-lt"/>
              </a:rPr>
              <a:t>WE USE THIS TODAY</a:t>
            </a:r>
          </a:p>
        </p:txBody>
      </p:sp>
    </p:spTree>
    <p:extLst>
      <p:ext uri="{BB962C8B-B14F-4D97-AF65-F5344CB8AC3E}">
        <p14:creationId xmlns:p14="http://schemas.microsoft.com/office/powerpoint/2010/main" val="1868736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88CB7-1616-DB9F-35D9-6883ECC29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To run a model, its weights have to fit in memory</a:t>
            </a:r>
          </a:p>
        </p:txBody>
      </p:sp>
      <p:sp>
        <p:nvSpPr>
          <p:cNvPr id="100" name="Model Card"/>
          <p:cNvSpPr/>
          <p:nvPr/>
        </p:nvSpPr>
        <p:spPr>
          <a:xfrm>
            <a:off x="838200" y="2032000"/>
            <a:ext cx="3175000" cy="36830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1" name="Model Bar"/>
          <p:cNvSpPr/>
          <p:nvPr/>
        </p:nvSpPr>
        <p:spPr>
          <a:xfrm>
            <a:off x="838200" y="2032000"/>
            <a:ext cx="3175000" cy="76200"/>
          </a:xfrm>
          <a:prstGeom prst="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2" name="Model Text"/>
          <p:cNvSpPr/>
          <p:nvPr/>
        </p:nvSpPr>
        <p:spPr>
          <a:xfrm>
            <a:off x="1092200" y="2362200"/>
            <a:ext cx="2667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dirty="0">
                <a:solidFill>
                  <a:srgbClr val="F72FE0"/>
                </a:solidFill>
                <a:latin typeface="+mj-lt"/>
              </a:rPr>
              <a:t>THE MODEL</a:t>
            </a:r>
          </a:p>
          <a:p>
            <a:pPr algn="l">
              <a:spcBef>
                <a:spcPts val="600"/>
              </a:spcBef>
            </a:pPr>
            <a:r>
              <a:rPr lang="en-US" sz="2600" b="1" dirty="0">
                <a:solidFill>
                  <a:srgbClr val="F5EEFF"/>
                </a:solidFill>
                <a:latin typeface="+mj-lt"/>
              </a:rPr>
              <a:t>Gemma 4 E4B</a:t>
            </a:r>
          </a:p>
          <a:p>
            <a:pPr algn="l">
              <a:spcBef>
                <a:spcPts val="1800"/>
              </a:spcBef>
            </a:pPr>
            <a:r>
              <a:rPr lang="en-US" sz="4000" b="1" dirty="0">
                <a:solidFill>
                  <a:srgbClr val="FFC21A"/>
                </a:solidFill>
                <a:latin typeface="+mj-lt"/>
              </a:rPr>
              <a:t>4.5 GB</a:t>
            </a:r>
          </a:p>
          <a:p>
            <a:pPr algn="l"/>
            <a:r>
              <a:rPr lang="en-US" sz="1600" dirty="0">
                <a:solidFill>
                  <a:srgbClr val="D9CCF2"/>
                </a:solidFill>
              </a:rPr>
              <a:t>of weights at 4-bit</a:t>
            </a:r>
          </a:p>
          <a:p>
            <a:pPr algn="l">
              <a:spcBef>
                <a:spcPts val="1800"/>
              </a:spcBef>
            </a:pPr>
            <a:r>
              <a:rPr lang="en-US" sz="1400" dirty="0">
                <a:solidFill>
                  <a:srgbClr val="D9CCF2"/>
                </a:solidFill>
              </a:rPr>
              <a:t>All of it loads into memory before the model answers a single prompt</a:t>
            </a:r>
          </a:p>
        </p:txBody>
      </p:sp>
      <p:sp>
        <p:nvSpPr>
          <p:cNvPr id="103" name="Arrow RAM"/>
          <p:cNvSpPr/>
          <p:nvPr/>
        </p:nvSpPr>
        <p:spPr>
          <a:xfrm>
            <a:off x="4140200" y="2692400"/>
            <a:ext cx="609600" cy="381000"/>
          </a:xfrm>
          <a:prstGeom prst="rightArrow">
            <a:avLst/>
          </a:prstGeom>
          <a:solidFill>
            <a:srgbClr val="9C8FB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4" name="Arrow VRAM"/>
          <p:cNvSpPr/>
          <p:nvPr/>
        </p:nvSpPr>
        <p:spPr>
          <a:xfrm>
            <a:off x="4140200" y="4673600"/>
            <a:ext cx="609600" cy="381000"/>
          </a:xfrm>
          <a:prstGeom prst="rightArrow">
            <a:avLst/>
          </a:prstGeom>
          <a:solidFill>
            <a:srgbClr val="9C8FB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5" name="Option Card 1"/>
          <p:cNvSpPr/>
          <p:nvPr/>
        </p:nvSpPr>
        <p:spPr>
          <a:xfrm>
            <a:off x="4902200" y="2032000"/>
            <a:ext cx="6451600" cy="17145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6" name="Option Rule 1"/>
          <p:cNvSpPr/>
          <p:nvPr/>
        </p:nvSpPr>
        <p:spPr>
          <a:xfrm>
            <a:off x="4902200" y="2032000"/>
            <a:ext cx="63500" cy="1714500"/>
          </a:xfrm>
          <a:prstGeom prst="rect">
            <a:avLst/>
          </a:prstGeom>
          <a:solidFill>
            <a:srgbClr val="FFC21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7" name="Option Text 1"/>
          <p:cNvSpPr/>
          <p:nvPr/>
        </p:nvSpPr>
        <p:spPr>
          <a:xfrm>
            <a:off x="6172200" y="2260600"/>
            <a:ext cx="49530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dirty="0">
                <a:solidFill>
                  <a:srgbClr val="FFC21A"/>
                </a:solidFill>
                <a:latin typeface="+mj-lt"/>
              </a:rPr>
              <a:t>OPTION 1</a:t>
            </a:r>
          </a:p>
          <a:p>
            <a:pPr algn="l">
              <a:spcBef>
                <a:spcPts val="200"/>
              </a:spcBef>
            </a:pPr>
            <a:r>
              <a:rPr lang="en-US" sz="2200" b="1" dirty="0">
                <a:solidFill>
                  <a:srgbClr val="F5EEFF"/>
                </a:solidFill>
                <a:latin typeface="+mj-lt"/>
              </a:rPr>
              <a:t>RAM, used by the CPU</a:t>
            </a:r>
          </a:p>
          <a:p>
            <a:pPr algn="l">
              <a:spcBef>
                <a:spcPts val="400"/>
              </a:spcBef>
            </a:pPr>
            <a:r>
              <a:rPr lang="en-US" sz="1400" dirty="0">
                <a:solidFill>
                  <a:srgbClr val="D9CCF2"/>
                </a:solidFill>
              </a:rPr>
              <a:t>Every laptop has it. Fine for small models, but answers come out slower.</a:t>
            </a:r>
          </a:p>
        </p:txBody>
      </p:sp>
      <p:sp>
        <p:nvSpPr>
          <p:cNvPr id="108" name="Option Card 2"/>
          <p:cNvSpPr/>
          <p:nvPr/>
        </p:nvSpPr>
        <p:spPr>
          <a:xfrm>
            <a:off x="4902200" y="4000500"/>
            <a:ext cx="6451600" cy="17145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9" name="Option Rule 2"/>
          <p:cNvSpPr/>
          <p:nvPr/>
        </p:nvSpPr>
        <p:spPr>
          <a:xfrm>
            <a:off x="4902200" y="4000500"/>
            <a:ext cx="63500" cy="1714500"/>
          </a:xfrm>
          <a:prstGeom prst="rect">
            <a:avLst/>
          </a:prstGeom>
          <a:solidFill>
            <a:srgbClr val="FF8A2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0" name="Option Text 2"/>
          <p:cNvSpPr/>
          <p:nvPr/>
        </p:nvSpPr>
        <p:spPr>
          <a:xfrm>
            <a:off x="6172200" y="4229100"/>
            <a:ext cx="49530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dirty="0">
                <a:solidFill>
                  <a:srgbClr val="FF8A2B"/>
                </a:solidFill>
                <a:latin typeface="+mj-lt"/>
              </a:rPr>
              <a:t>OPTION 2</a:t>
            </a:r>
          </a:p>
          <a:p>
            <a:pPr algn="l">
              <a:spcBef>
                <a:spcPts val="200"/>
              </a:spcBef>
            </a:pPr>
            <a:r>
              <a:rPr lang="en-US" sz="2200" b="1" dirty="0">
                <a:solidFill>
                  <a:srgbClr val="F5EEFF"/>
                </a:solidFill>
                <a:latin typeface="+mj-lt"/>
              </a:rPr>
              <a:t>VRAM, used by the GPU</a:t>
            </a:r>
          </a:p>
          <a:p>
            <a:pPr algn="l">
              <a:spcBef>
                <a:spcPts val="400"/>
              </a:spcBef>
            </a:pPr>
            <a:r>
              <a:rPr lang="en-US" sz="1400" dirty="0">
                <a:solidFill>
                  <a:srgbClr val="D9CCF2"/>
                </a:solidFill>
              </a:rPr>
              <a:t>Much faster, but GPUs have less of it. Apple Silicon Macs share one memory pool.</a:t>
            </a:r>
          </a:p>
        </p:txBody>
      </p:sp>
      <p:sp>
        <p:nvSpPr>
          <p:cNvPr id="111" name="Rule of Thumb"/>
          <p:cNvSpPr/>
          <p:nvPr/>
        </p:nvSpPr>
        <p:spPr>
          <a:xfrm>
            <a:off x="838200" y="5918200"/>
            <a:ext cx="10515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FFC21A"/>
                </a:solidFill>
              </a:rPr>
              <a:t>Rule of thumb: </a:t>
            </a:r>
            <a:r>
              <a:rPr lang="en-US" sz="1400" dirty="0">
                <a:solidFill>
                  <a:srgbClr val="D9CCF2"/>
                </a:solidFill>
              </a:rPr>
              <a:t>at 4-bit, plan on about 0.5 GB of memory per billion parameters, plus room for your other apps</a:t>
            </a:r>
          </a:p>
        </p:txBody>
      </p:sp>
      <p:pic>
        <p:nvPicPr>
          <p:cNvPr id="112" name="Graphic 1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07000" y="2578100"/>
            <a:ext cx="635000" cy="635000"/>
          </a:xfrm>
          <a:prstGeom prst="rect">
            <a:avLst/>
          </a:prstGeom>
        </p:spPr>
      </p:pic>
      <p:pic>
        <p:nvPicPr>
          <p:cNvPr id="113" name="Graphic 1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7000" y="4546600"/>
            <a:ext cx="6350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38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931F5-783D-579E-DFD1-DC668A426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4-bit quantization shrinks Gemma from 17.9 GB to 4.5 GB</a:t>
            </a:r>
          </a:p>
        </p:txBody>
      </p:sp>
      <p:sp>
        <p:nvSpPr>
          <p:cNvPr id="100" name="Kicker"/>
          <p:cNvSpPr/>
          <p:nvPr/>
        </p:nvSpPr>
        <p:spPr>
          <a:xfrm>
            <a:off x="929640" y="1905000"/>
            <a:ext cx="469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72FE0"/>
                </a:solidFill>
                <a:latin typeface="+mj-lt"/>
              </a:rPr>
              <a:t>WHAT DOES 4-BIT MEAN?</a:t>
            </a:r>
          </a:p>
        </p:txBody>
      </p:sp>
      <p:sp>
        <p:nvSpPr>
          <p:cNvPr id="101" name="Explain"/>
          <p:cNvSpPr/>
          <p:nvPr/>
        </p:nvSpPr>
        <p:spPr>
          <a:xfrm>
            <a:off x="929640" y="2260600"/>
            <a:ext cx="4699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dirty="0">
                <a:solidFill>
                  <a:srgbClr val="F5EEFF"/>
                </a:solidFill>
              </a:rPr>
              <a:t>A model is billions of numbers called weights. Quantization stores each weight with fewer bits by rounding it.</a:t>
            </a:r>
          </a:p>
        </p:txBody>
      </p:sp>
      <p:sp>
        <p:nvSpPr>
          <p:cNvPr id="102" name="Level 16-bit"/>
          <p:cNvSpPr/>
          <p:nvPr/>
        </p:nvSpPr>
        <p:spPr>
          <a:xfrm>
            <a:off x="929640" y="3327400"/>
            <a:ext cx="1143000" cy="508000"/>
          </a:xfrm>
          <a:prstGeom prst="roundRect">
            <a:avLst/>
          </a:prstGeom>
          <a:solidFill>
            <a:srgbClr val="2A1D4D"/>
          </a:solidFill>
          <a:ln w="19050">
            <a:solidFill>
              <a:srgbClr val="9C8FBF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9C8FBF"/>
                </a:solidFill>
                <a:latin typeface="+mj-lt"/>
              </a:rPr>
              <a:t>16-bit</a:t>
            </a:r>
          </a:p>
        </p:txBody>
      </p:sp>
      <p:sp>
        <p:nvSpPr>
          <p:cNvPr id="103" name="Level Text 16-bit"/>
          <p:cNvSpPr/>
          <p:nvPr/>
        </p:nvSpPr>
        <p:spPr>
          <a:xfrm>
            <a:off x="2250440" y="3327400"/>
            <a:ext cx="3378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600" dirty="0">
                <a:solidFill>
                  <a:srgbClr val="D9CCF2"/>
                </a:solidFill>
              </a:rPr>
              <a:t>65,536 possible values</a:t>
            </a:r>
          </a:p>
        </p:txBody>
      </p:sp>
      <p:sp>
        <p:nvSpPr>
          <p:cNvPr id="104" name="Level 8-bit"/>
          <p:cNvSpPr/>
          <p:nvPr/>
        </p:nvSpPr>
        <p:spPr>
          <a:xfrm>
            <a:off x="929640" y="3987800"/>
            <a:ext cx="1143000" cy="508000"/>
          </a:xfrm>
          <a:prstGeom prst="roundRect">
            <a:avLst/>
          </a:prstGeom>
          <a:solidFill>
            <a:srgbClr val="2A1D4D"/>
          </a:solidFill>
          <a:ln w="19050">
            <a:solidFill>
              <a:srgbClr val="FF8A2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FF8A2B"/>
                </a:solidFill>
                <a:latin typeface="+mj-lt"/>
              </a:rPr>
              <a:t>8-bit</a:t>
            </a:r>
          </a:p>
        </p:txBody>
      </p:sp>
      <p:sp>
        <p:nvSpPr>
          <p:cNvPr id="105" name="Level Text 8-bit"/>
          <p:cNvSpPr/>
          <p:nvPr/>
        </p:nvSpPr>
        <p:spPr>
          <a:xfrm>
            <a:off x="2250440" y="3987800"/>
            <a:ext cx="3378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600" dirty="0">
                <a:solidFill>
                  <a:srgbClr val="D9CCF2"/>
                </a:solidFill>
              </a:rPr>
              <a:t>256 possible values</a:t>
            </a:r>
          </a:p>
        </p:txBody>
      </p:sp>
      <p:sp>
        <p:nvSpPr>
          <p:cNvPr id="106" name="Level 4-bit"/>
          <p:cNvSpPr/>
          <p:nvPr/>
        </p:nvSpPr>
        <p:spPr>
          <a:xfrm>
            <a:off x="929640" y="4648200"/>
            <a:ext cx="1143000" cy="508000"/>
          </a:xfrm>
          <a:prstGeom prst="round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1C1433"/>
                </a:solidFill>
                <a:latin typeface="+mj-lt"/>
              </a:rPr>
              <a:t>4-bit</a:t>
            </a:r>
          </a:p>
        </p:txBody>
      </p:sp>
      <p:sp>
        <p:nvSpPr>
          <p:cNvPr id="107" name="Level Text 4-bit"/>
          <p:cNvSpPr/>
          <p:nvPr/>
        </p:nvSpPr>
        <p:spPr>
          <a:xfrm>
            <a:off x="2250440" y="4648200"/>
            <a:ext cx="3378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600" b="1" dirty="0">
                <a:solidFill>
                  <a:srgbClr val="F5EEFF"/>
                </a:solidFill>
              </a:rPr>
              <a:t>16 possible values</a:t>
            </a:r>
          </a:p>
        </p:txBody>
      </p:sp>
      <p:sp>
        <p:nvSpPr>
          <p:cNvPr id="108" name="Analogy"/>
          <p:cNvSpPr/>
          <p:nvPr/>
        </p:nvSpPr>
        <p:spPr>
          <a:xfrm>
            <a:off x="929640" y="5384800"/>
            <a:ext cx="469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21A"/>
                </a:solidFill>
              </a:rPr>
              <a:t>Like saving a photo as a smaller JPEG: </a:t>
            </a:r>
            <a:r>
              <a:rPr lang="en-US" sz="1400" dirty="0">
                <a:solidFill>
                  <a:srgbClr val="D9CCF2"/>
                </a:solidFill>
              </a:rPr>
              <a:t>some fine detail is lost, but the picture still looks right.</a:t>
            </a:r>
          </a:p>
        </p:txBody>
      </p:sp>
      <p:sp>
        <p:nvSpPr>
          <p:cNvPr id="109" name="Chart Label"/>
          <p:cNvSpPr/>
          <p:nvPr/>
        </p:nvSpPr>
        <p:spPr>
          <a:xfrm>
            <a:off x="6172200" y="1905000"/>
            <a:ext cx="51816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pPr algn="l"/>
            <a:r>
              <a:rPr lang="en-US" sz="1600" b="1" dirty="0">
                <a:solidFill>
                  <a:srgbClr val="F5EEFF"/>
                </a:solidFill>
              </a:rPr>
              <a:t>Gemma 4 E4B memory needed, by precision</a:t>
            </a:r>
          </a:p>
        </p:txBody>
      </p:sp>
      <p:sp>
        <p:nvSpPr>
          <p:cNvPr id="110" name="Source"/>
          <p:cNvSpPr/>
          <p:nvPr/>
        </p:nvSpPr>
        <p:spPr>
          <a:xfrm>
            <a:off x="929640" y="6248400"/>
            <a:ext cx="1042416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dirty="0">
                <a:solidFill>
                  <a:srgbClr val="B3A8D4"/>
                </a:solidFill>
              </a:rPr>
              <a:t>Source: Google AI for Developers, Gemma 4 model overview, inference memory requirements (BF16, SFP8, Q4_0), 2026</a:t>
            </a:r>
          </a:p>
        </p:txBody>
      </p:sp>
      <p:graphicFrame>
        <p:nvGraphicFramePr>
          <p:cNvPr id="111" name="Chart"/>
          <p:cNvGraphicFramePr/>
          <p:nvPr/>
        </p:nvGraphicFramePr>
        <p:xfrm>
          <a:off x="6172200" y="2463800"/>
          <a:ext cx="5181600" cy="363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12" name="GrowthArrow f111 0"/>
          <p:cNvGrpSpPr/>
          <p:nvPr/>
        </p:nvGrpSpPr>
        <p:grpSpPr>
          <a:xfrm>
            <a:off x="7184888" y="3038374"/>
            <a:ext cx="3156224" cy="1850984"/>
            <a:chOff x="7184888" y="3038374"/>
            <a:chExt cx="3156224" cy="1850984"/>
          </a:xfrm>
        </p:grpSpPr>
        <p:cxnSp>
          <p:nvCxnSpPr>
            <p:cNvPr id="113" name="GrowthArrow f111 0 rise"/>
            <p:cNvCxnSpPr/>
            <p:nvPr/>
          </p:nvCxnSpPr>
          <p:spPr>
            <a:xfrm flipV="1">
              <a:off x="7184888" y="3163374"/>
              <a:ext cx="1" cy="205000"/>
            </a:xfrm>
            <a:prstGeom prst="line">
              <a:avLst/>
            </a:prstGeom>
            <a:ln w="12700">
              <a:solidFill>
                <a:srgbClr val="D9CCF2"/>
              </a:solidFill>
            </a:ln>
          </p:spPr>
        </p:cxnSp>
        <p:cxnSp>
          <p:nvCxnSpPr>
            <p:cNvPr id="114" name="GrowthArrow f111 0 line"/>
            <p:cNvCxnSpPr/>
            <p:nvPr/>
          </p:nvCxnSpPr>
          <p:spPr>
            <a:xfrm>
              <a:off x="7184888" y="3163374"/>
              <a:ext cx="3156224" cy="1"/>
            </a:xfrm>
            <a:prstGeom prst="line">
              <a:avLst/>
            </a:prstGeom>
            <a:ln w="12700">
              <a:solidFill>
                <a:srgbClr val="D9CCF2"/>
              </a:solidFill>
            </a:ln>
          </p:spPr>
        </p:cxnSp>
        <p:cxnSp>
          <p:nvCxnSpPr>
            <p:cNvPr id="115" name="GrowthArrow f111 0 drop"/>
            <p:cNvCxnSpPr/>
            <p:nvPr/>
          </p:nvCxnSpPr>
          <p:spPr>
            <a:xfrm>
              <a:off x="10341112" y="3163374"/>
              <a:ext cx="1" cy="1725984"/>
            </a:xfrm>
            <a:prstGeom prst="line">
              <a:avLst/>
            </a:prstGeom>
            <a:ln w="12700">
              <a:solidFill>
                <a:srgbClr val="D9CCF2"/>
              </a:solidFill>
              <a:tailEnd type="triangle" w="med" len="med"/>
            </a:ln>
          </p:spPr>
        </p:cxnSp>
        <p:sp>
          <p:nvSpPr>
            <p:cNvPr id="116" name="GrowthArrow f111 0 label"/>
            <p:cNvSpPr txBox="1"/>
            <p:nvPr/>
          </p:nvSpPr>
          <p:spPr>
            <a:xfrm>
              <a:off x="8105000" y="3038374"/>
              <a:ext cx="1316000" cy="250000"/>
            </a:xfrm>
            <a:prstGeom prst="rect">
              <a:avLst/>
            </a:prstGeom>
            <a:solidFill>
              <a:srgbClr val="1C1433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F5EEFF"/>
                  </a:solidFill>
                  <a:latin typeface="Segoe UI"/>
                </a:rPr>
                <a:t>4x smaller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9180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C68AC-F92B-FF70-84D6-9A2386FB0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Models read tokens, not words</a:t>
            </a:r>
          </a:p>
        </p:txBody>
      </p:sp>
      <p:sp>
        <p:nvSpPr>
          <p:cNvPr id="100" name="Step 1"/>
          <p:cNvSpPr/>
          <p:nvPr/>
        </p:nvSpPr>
        <p:spPr>
          <a:xfrm>
            <a:off x="929640" y="2209800"/>
            <a:ext cx="406400" cy="406400"/>
          </a:xfrm>
          <a:prstGeom prst="ellipse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C1433"/>
                </a:solidFill>
                <a:latin typeface="+mj-lt"/>
              </a:rPr>
              <a:t>1</a:t>
            </a:r>
          </a:p>
        </p:txBody>
      </p:sp>
      <p:sp>
        <p:nvSpPr>
          <p:cNvPr id="101" name="Step Label 1"/>
          <p:cNvSpPr/>
          <p:nvPr/>
        </p:nvSpPr>
        <p:spPr>
          <a:xfrm>
            <a:off x="1488440" y="2032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F5EEFF"/>
                </a:solidFill>
                <a:latin typeface="+mj-lt"/>
              </a:rPr>
              <a:t>YOU TYPE</a:t>
            </a:r>
          </a:p>
        </p:txBody>
      </p:sp>
      <p:sp>
        <p:nvSpPr>
          <p:cNvPr id="102" name="Step 2"/>
          <p:cNvSpPr/>
          <p:nvPr/>
        </p:nvSpPr>
        <p:spPr>
          <a:xfrm>
            <a:off x="929640" y="3352800"/>
            <a:ext cx="406400" cy="406400"/>
          </a:xfrm>
          <a:prstGeom prst="ellipse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C1433"/>
                </a:solidFill>
                <a:latin typeface="+mj-lt"/>
              </a:rPr>
              <a:t>2</a:t>
            </a:r>
          </a:p>
        </p:txBody>
      </p:sp>
      <p:sp>
        <p:nvSpPr>
          <p:cNvPr id="103" name="Step Label 2"/>
          <p:cNvSpPr/>
          <p:nvPr/>
        </p:nvSpPr>
        <p:spPr>
          <a:xfrm>
            <a:off x="1488440" y="3175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F5EEFF"/>
                </a:solidFill>
                <a:latin typeface="+mj-lt"/>
              </a:rPr>
              <a:t>TOKENIZER SPLITS IT</a:t>
            </a:r>
          </a:p>
        </p:txBody>
      </p:sp>
      <p:sp>
        <p:nvSpPr>
          <p:cNvPr id="104" name="Step 3"/>
          <p:cNvSpPr/>
          <p:nvPr/>
        </p:nvSpPr>
        <p:spPr>
          <a:xfrm>
            <a:off x="929640" y="4495800"/>
            <a:ext cx="406400" cy="406400"/>
          </a:xfrm>
          <a:prstGeom prst="ellipse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C1433"/>
                </a:solidFill>
                <a:latin typeface="+mj-lt"/>
              </a:rPr>
              <a:t>3</a:t>
            </a:r>
          </a:p>
        </p:txBody>
      </p:sp>
      <p:sp>
        <p:nvSpPr>
          <p:cNvPr id="105" name="Step Label 3"/>
          <p:cNvSpPr/>
          <p:nvPr/>
        </p:nvSpPr>
        <p:spPr>
          <a:xfrm>
            <a:off x="1488440" y="43180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F5EEFF"/>
                </a:solidFill>
                <a:latin typeface="+mj-lt"/>
              </a:rPr>
              <a:t>MODEL SEES NUMBERS</a:t>
            </a:r>
          </a:p>
        </p:txBody>
      </p:sp>
      <p:sp>
        <p:nvSpPr>
          <p:cNvPr id="106" name="Sentence"/>
          <p:cNvSpPr/>
          <p:nvPr/>
        </p:nvSpPr>
        <p:spPr>
          <a:xfrm>
            <a:off x="3810000" y="2032000"/>
            <a:ext cx="5740400" cy="7620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228600" tIns="0" rIns="0" bIns="0" anchor="ctr">
            <a:noAutofit/>
          </a:bodyPr>
          <a:lstStyle/>
          <a:p>
            <a:pPr algn="l"/>
            <a:r>
              <a:rPr lang="en-US" sz="2800" b="1" dirty="0">
                <a:solidFill>
                  <a:srgbClr val="F5EEFF"/>
                </a:solidFill>
                <a:latin typeface="+mj-lt"/>
              </a:rPr>
              <a:t>Debugging is fun!</a:t>
            </a:r>
          </a:p>
        </p:txBody>
      </p:sp>
      <p:sp>
        <p:nvSpPr>
          <p:cNvPr id="107" name="Token 1"/>
          <p:cNvSpPr/>
          <p:nvPr/>
        </p:nvSpPr>
        <p:spPr>
          <a:xfrm>
            <a:off x="3810000" y="3175000"/>
            <a:ext cx="1397000" cy="762000"/>
          </a:xfrm>
          <a:prstGeom prst="roundRect">
            <a:avLst/>
          </a:prstGeom>
          <a:solidFill>
            <a:srgbClr val="2A1D4D"/>
          </a:solidFill>
          <a:ln w="19050">
            <a:solidFill>
              <a:srgbClr val="FFC21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C21A"/>
                </a:solidFill>
                <a:latin typeface="+mj-lt"/>
              </a:rPr>
              <a:t>Debug</a:t>
            </a:r>
          </a:p>
        </p:txBody>
      </p:sp>
      <p:sp>
        <p:nvSpPr>
          <p:cNvPr id="108" name="Token ID 1"/>
          <p:cNvSpPr/>
          <p:nvPr/>
        </p:nvSpPr>
        <p:spPr>
          <a:xfrm>
            <a:off x="3810000" y="4318000"/>
            <a:ext cx="1397000" cy="762000"/>
          </a:xfrm>
          <a:prstGeom prst="roundRect">
            <a:avLst/>
          </a:prstGeom>
          <a:solidFill>
            <a:srgbClr val="FFC2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1C1433"/>
                </a:solidFill>
                <a:latin typeface="+mj-lt"/>
              </a:rPr>
              <a:t>8732</a:t>
            </a:r>
          </a:p>
        </p:txBody>
      </p:sp>
      <p:sp>
        <p:nvSpPr>
          <p:cNvPr id="109" name="Token 2"/>
          <p:cNvSpPr/>
          <p:nvPr/>
        </p:nvSpPr>
        <p:spPr>
          <a:xfrm>
            <a:off x="5359400" y="3175000"/>
            <a:ext cx="1193800" cy="762000"/>
          </a:xfrm>
          <a:prstGeom prst="roundRect">
            <a:avLst/>
          </a:prstGeom>
          <a:solidFill>
            <a:srgbClr val="2A1D4D"/>
          </a:solidFill>
          <a:ln w="19050">
            <a:solidFill>
              <a:srgbClr val="FF8A2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F8A2B"/>
                </a:solidFill>
                <a:latin typeface="+mj-lt"/>
              </a:rPr>
              <a:t>ging</a:t>
            </a:r>
          </a:p>
        </p:txBody>
      </p:sp>
      <p:sp>
        <p:nvSpPr>
          <p:cNvPr id="110" name="Token ID 2"/>
          <p:cNvSpPr/>
          <p:nvPr/>
        </p:nvSpPr>
        <p:spPr>
          <a:xfrm>
            <a:off x="5359400" y="4318000"/>
            <a:ext cx="1193800" cy="762000"/>
          </a:xfrm>
          <a:prstGeom prst="roundRect">
            <a:avLst/>
          </a:prstGeom>
          <a:solidFill>
            <a:srgbClr val="FF8A2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1C1433"/>
                </a:solidFill>
                <a:latin typeface="+mj-lt"/>
              </a:rPr>
              <a:t>3180</a:t>
            </a:r>
          </a:p>
        </p:txBody>
      </p:sp>
      <p:sp>
        <p:nvSpPr>
          <p:cNvPr id="111" name="Token 3"/>
          <p:cNvSpPr/>
          <p:nvPr/>
        </p:nvSpPr>
        <p:spPr>
          <a:xfrm>
            <a:off x="6705600" y="3175000"/>
            <a:ext cx="787400" cy="762000"/>
          </a:xfrm>
          <a:prstGeom prst="roundRect">
            <a:avLst/>
          </a:prstGeom>
          <a:solidFill>
            <a:srgbClr val="2A1D4D"/>
          </a:solidFill>
          <a:ln w="19050">
            <a:solidFill>
              <a:srgbClr val="F43F8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43F8E"/>
                </a:solidFill>
                <a:latin typeface="+mj-lt"/>
              </a:rPr>
              <a:t>is</a:t>
            </a:r>
          </a:p>
        </p:txBody>
      </p:sp>
      <p:sp>
        <p:nvSpPr>
          <p:cNvPr id="112" name="Token ID 3"/>
          <p:cNvSpPr/>
          <p:nvPr/>
        </p:nvSpPr>
        <p:spPr>
          <a:xfrm>
            <a:off x="6705600" y="4318000"/>
            <a:ext cx="787400" cy="762000"/>
          </a:xfrm>
          <a:prstGeom prst="roundRect">
            <a:avLst/>
          </a:prstGeom>
          <a:solidFill>
            <a:srgbClr val="F43F8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1C1433"/>
                </a:solidFill>
                <a:latin typeface="+mj-lt"/>
              </a:rPr>
              <a:t>374</a:t>
            </a:r>
          </a:p>
        </p:txBody>
      </p:sp>
      <p:sp>
        <p:nvSpPr>
          <p:cNvPr id="113" name="Token 4"/>
          <p:cNvSpPr/>
          <p:nvPr/>
        </p:nvSpPr>
        <p:spPr>
          <a:xfrm>
            <a:off x="7645400" y="3175000"/>
            <a:ext cx="990600" cy="762000"/>
          </a:xfrm>
          <a:prstGeom prst="roundRect">
            <a:avLst/>
          </a:prstGeom>
          <a:solidFill>
            <a:srgbClr val="2A1D4D"/>
          </a:solidFill>
          <a:ln w="19050">
            <a:solidFill>
              <a:srgbClr val="F72FE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F72FE0"/>
                </a:solidFill>
                <a:latin typeface="+mj-lt"/>
              </a:rPr>
              <a:t>fun</a:t>
            </a:r>
          </a:p>
        </p:txBody>
      </p:sp>
      <p:sp>
        <p:nvSpPr>
          <p:cNvPr id="114" name="Token ID 4"/>
          <p:cNvSpPr/>
          <p:nvPr/>
        </p:nvSpPr>
        <p:spPr>
          <a:xfrm>
            <a:off x="7645400" y="4318000"/>
            <a:ext cx="990600" cy="762000"/>
          </a:xfrm>
          <a:prstGeom prst="round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1C1433"/>
                </a:solidFill>
                <a:latin typeface="+mj-lt"/>
              </a:rPr>
              <a:t>1405</a:t>
            </a:r>
          </a:p>
        </p:txBody>
      </p:sp>
      <p:sp>
        <p:nvSpPr>
          <p:cNvPr id="115" name="Token 5"/>
          <p:cNvSpPr/>
          <p:nvPr/>
        </p:nvSpPr>
        <p:spPr>
          <a:xfrm>
            <a:off x="8788400" y="3175000"/>
            <a:ext cx="762000" cy="762000"/>
          </a:xfrm>
          <a:prstGeom prst="roundRect">
            <a:avLst/>
          </a:prstGeom>
          <a:solidFill>
            <a:srgbClr val="2A1D4D"/>
          </a:solidFill>
          <a:ln w="19050">
            <a:solidFill>
              <a:srgbClr val="B620E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B620E0"/>
                </a:solidFill>
                <a:latin typeface="+mj-lt"/>
              </a:rPr>
              <a:t>!</a:t>
            </a:r>
          </a:p>
        </p:txBody>
      </p:sp>
      <p:sp>
        <p:nvSpPr>
          <p:cNvPr id="116" name="Token ID 5"/>
          <p:cNvSpPr/>
          <p:nvPr/>
        </p:nvSpPr>
        <p:spPr>
          <a:xfrm>
            <a:off x="8788400" y="4318000"/>
            <a:ext cx="762000" cy="762000"/>
          </a:xfrm>
          <a:prstGeom prst="roundRect">
            <a:avLst/>
          </a:prstGeom>
          <a:solidFill>
            <a:srgbClr val="B620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1C1433"/>
                </a:solidFill>
                <a:latin typeface="+mj-lt"/>
              </a:rPr>
              <a:t>0</a:t>
            </a:r>
          </a:p>
        </p:txBody>
      </p:sp>
      <p:sp>
        <p:nvSpPr>
          <p:cNvPr id="117" name="Down 1"/>
          <p:cNvSpPr/>
          <p:nvPr/>
        </p:nvSpPr>
        <p:spPr>
          <a:xfrm>
            <a:off x="4064000" y="2870200"/>
            <a:ext cx="228600" cy="228600"/>
          </a:xfrm>
          <a:prstGeom prst="downArrow">
            <a:avLst/>
          </a:prstGeom>
          <a:solidFill>
            <a:srgbClr val="9C8F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8" name="Down 2"/>
          <p:cNvSpPr/>
          <p:nvPr/>
        </p:nvSpPr>
        <p:spPr>
          <a:xfrm>
            <a:off x="4064000" y="4013200"/>
            <a:ext cx="228600" cy="228600"/>
          </a:xfrm>
          <a:prstGeom prst="downArrow">
            <a:avLst/>
          </a:prstGeom>
          <a:solidFill>
            <a:srgbClr val="9C8F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9" name="Fact 1"/>
          <p:cNvSpPr/>
          <p:nvPr/>
        </p:nvSpPr>
        <p:spPr>
          <a:xfrm>
            <a:off x="929640" y="5435600"/>
            <a:ext cx="5080000" cy="6604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203200" tIns="0" rIns="152400" bIns="0" anchor="ctr">
            <a:noAutofit/>
          </a:bodyPr>
          <a:lstStyle/>
          <a:p>
            <a:pPr algn="l"/>
            <a:r>
              <a:rPr lang="en-US" sz="1800" b="1" dirty="0">
                <a:solidFill>
                  <a:srgbClr val="FFC21A"/>
                </a:solidFill>
                <a:latin typeface="+mj-lt"/>
              </a:rPr>
              <a:t>1 token ≈ ¾ of a word  </a:t>
            </a:r>
            <a:r>
              <a:rPr lang="en-US" sz="1400" dirty="0">
                <a:solidFill>
                  <a:srgbClr val="D9CCF2"/>
                </a:solidFill>
              </a:rPr>
              <a:t>in English text, on average</a:t>
            </a:r>
          </a:p>
        </p:txBody>
      </p:sp>
      <p:sp>
        <p:nvSpPr>
          <p:cNvPr id="120" name="Fact 2"/>
          <p:cNvSpPr/>
          <p:nvPr/>
        </p:nvSpPr>
        <p:spPr>
          <a:xfrm>
            <a:off x="6212840" y="5435600"/>
            <a:ext cx="5140960" cy="6604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203200" tIns="0" rIns="152400" bIns="0" anchor="ctr">
            <a:noAutofit/>
          </a:bodyPr>
          <a:lstStyle/>
          <a:p>
            <a:pPr algn="l"/>
            <a:r>
              <a:rPr lang="en-US" sz="1800" b="1" dirty="0">
                <a:solidFill>
                  <a:srgbClr val="FFC21A"/>
                </a:solidFill>
                <a:latin typeface="+mj-lt"/>
              </a:rPr>
              <a:t>Context window  </a:t>
            </a:r>
            <a:r>
              <a:rPr lang="en-US" sz="1400" dirty="0">
                <a:solidFill>
                  <a:srgbClr val="D9CCF2"/>
                </a:solidFill>
              </a:rPr>
              <a:t>how many tokens the model can see at once; Gemma 4 E4B takes 128K</a:t>
            </a:r>
          </a:p>
        </p:txBody>
      </p:sp>
      <p:sp>
        <p:nvSpPr>
          <p:cNvPr id="121" name="Footnote"/>
          <p:cNvSpPr/>
          <p:nvPr/>
        </p:nvSpPr>
        <p:spPr>
          <a:xfrm>
            <a:off x="929640" y="6248400"/>
            <a:ext cx="1042416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dirty="0">
                <a:solidFill>
                  <a:srgbClr val="B3A8D4"/>
                </a:solidFill>
              </a:rPr>
              <a:t>Token split and ID numbers are illustrative; every model family uses its own tokenizer</a:t>
            </a:r>
          </a:p>
        </p:txBody>
      </p:sp>
    </p:spTree>
    <p:extLst>
      <p:ext uri="{BB962C8B-B14F-4D97-AF65-F5344CB8AC3E}">
        <p14:creationId xmlns:p14="http://schemas.microsoft.com/office/powerpoint/2010/main" val="3340226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3D720-AA2A-0683-7461-4B1DE389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Let's get to it!</a:t>
            </a:r>
          </a:p>
        </p:txBody>
      </p:sp>
      <p:sp>
        <p:nvSpPr>
          <p:cNvPr id="100" name="QR Card"/>
          <p:cNvSpPr/>
          <p:nvPr/>
        </p:nvSpPr>
        <p:spPr>
          <a:xfrm>
            <a:off x="929640" y="1905000"/>
            <a:ext cx="3175000" cy="317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1" name="QR Code"/>
          <p:cNvSpPr/>
          <p:nvPr/>
        </p:nvSpPr>
        <p:spPr>
          <a:xfrm>
            <a:off x="1173871" y="2149231"/>
            <a:ext cx="2686538" cy="2686538"/>
          </a:xfrm>
          <a:custGeom>
            <a:avLst/>
            <a:gdLst/>
            <a:ahLst/>
            <a:cxnLst/>
            <a:rect l="0" t="0" r="r" b="b"/>
            <a:pathLst>
              <a:path w="33" h="33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  <a:moveTo>
                  <a:pt x="1" y="0"/>
                </a:move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close/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close/>
                <a:moveTo>
                  <a:pt x="4" y="0"/>
                </a:move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close/>
                <a:moveTo>
                  <a:pt x="5" y="0"/>
                </a:moveTo>
                <a:lnTo>
                  <a:pt x="6" y="0"/>
                </a:lnTo>
                <a:lnTo>
                  <a:pt x="6" y="1"/>
                </a:lnTo>
                <a:lnTo>
                  <a:pt x="5" y="1"/>
                </a:lnTo>
                <a:close/>
                <a:moveTo>
                  <a:pt x="6" y="0"/>
                </a:moveTo>
                <a:lnTo>
                  <a:pt x="7" y="0"/>
                </a:lnTo>
                <a:lnTo>
                  <a:pt x="7" y="1"/>
                </a:lnTo>
                <a:lnTo>
                  <a:pt x="6" y="1"/>
                </a:lnTo>
                <a:close/>
                <a:moveTo>
                  <a:pt x="11" y="0"/>
                </a:moveTo>
                <a:lnTo>
                  <a:pt x="12" y="0"/>
                </a:lnTo>
                <a:lnTo>
                  <a:pt x="12" y="1"/>
                </a:lnTo>
                <a:lnTo>
                  <a:pt x="11" y="1"/>
                </a:lnTo>
                <a:close/>
                <a:moveTo>
                  <a:pt x="12" y="0"/>
                </a:moveTo>
                <a:lnTo>
                  <a:pt x="13" y="0"/>
                </a:lnTo>
                <a:lnTo>
                  <a:pt x="13" y="1"/>
                </a:lnTo>
                <a:lnTo>
                  <a:pt x="12" y="1"/>
                </a:lnTo>
                <a:close/>
                <a:moveTo>
                  <a:pt x="13" y="0"/>
                </a:moveTo>
                <a:lnTo>
                  <a:pt x="14" y="0"/>
                </a:lnTo>
                <a:lnTo>
                  <a:pt x="14" y="1"/>
                </a:lnTo>
                <a:lnTo>
                  <a:pt x="13" y="1"/>
                </a:lnTo>
                <a:close/>
                <a:moveTo>
                  <a:pt x="17" y="0"/>
                </a:moveTo>
                <a:lnTo>
                  <a:pt x="18" y="0"/>
                </a:lnTo>
                <a:lnTo>
                  <a:pt x="18" y="1"/>
                </a:lnTo>
                <a:lnTo>
                  <a:pt x="17" y="1"/>
                </a:lnTo>
                <a:close/>
                <a:moveTo>
                  <a:pt x="19" y="0"/>
                </a:moveTo>
                <a:lnTo>
                  <a:pt x="20" y="0"/>
                </a:lnTo>
                <a:lnTo>
                  <a:pt x="20" y="1"/>
                </a:lnTo>
                <a:lnTo>
                  <a:pt x="19" y="1"/>
                </a:lnTo>
                <a:close/>
                <a:moveTo>
                  <a:pt x="20" y="0"/>
                </a:moveTo>
                <a:lnTo>
                  <a:pt x="21" y="0"/>
                </a:lnTo>
                <a:lnTo>
                  <a:pt x="21" y="1"/>
                </a:lnTo>
                <a:lnTo>
                  <a:pt x="20" y="1"/>
                </a:lnTo>
                <a:close/>
                <a:moveTo>
                  <a:pt x="23" y="0"/>
                </a:moveTo>
                <a:lnTo>
                  <a:pt x="24" y="0"/>
                </a:lnTo>
                <a:lnTo>
                  <a:pt x="24" y="1"/>
                </a:lnTo>
                <a:lnTo>
                  <a:pt x="23" y="1"/>
                </a:lnTo>
                <a:close/>
                <a:moveTo>
                  <a:pt x="26" y="0"/>
                </a:moveTo>
                <a:lnTo>
                  <a:pt x="27" y="0"/>
                </a:lnTo>
                <a:lnTo>
                  <a:pt x="27" y="1"/>
                </a:lnTo>
                <a:lnTo>
                  <a:pt x="26" y="1"/>
                </a:lnTo>
                <a:close/>
                <a:moveTo>
                  <a:pt x="27" y="0"/>
                </a:moveTo>
                <a:lnTo>
                  <a:pt x="28" y="0"/>
                </a:lnTo>
                <a:lnTo>
                  <a:pt x="28" y="1"/>
                </a:lnTo>
                <a:lnTo>
                  <a:pt x="27" y="1"/>
                </a:lnTo>
                <a:close/>
                <a:moveTo>
                  <a:pt x="28" y="0"/>
                </a:moveTo>
                <a:lnTo>
                  <a:pt x="29" y="0"/>
                </a:lnTo>
                <a:lnTo>
                  <a:pt x="29" y="1"/>
                </a:lnTo>
                <a:lnTo>
                  <a:pt x="28" y="1"/>
                </a:lnTo>
                <a:close/>
                <a:moveTo>
                  <a:pt x="29" y="0"/>
                </a:moveTo>
                <a:lnTo>
                  <a:pt x="30" y="0"/>
                </a:lnTo>
                <a:lnTo>
                  <a:pt x="30" y="1"/>
                </a:lnTo>
                <a:lnTo>
                  <a:pt x="29" y="1"/>
                </a:lnTo>
                <a:close/>
                <a:moveTo>
                  <a:pt x="30" y="0"/>
                </a:moveTo>
                <a:lnTo>
                  <a:pt x="31" y="0"/>
                </a:lnTo>
                <a:lnTo>
                  <a:pt x="31" y="1"/>
                </a:lnTo>
                <a:lnTo>
                  <a:pt x="30" y="1"/>
                </a:lnTo>
                <a:close/>
                <a:moveTo>
                  <a:pt x="31" y="0"/>
                </a:moveTo>
                <a:lnTo>
                  <a:pt x="32" y="0"/>
                </a:lnTo>
                <a:lnTo>
                  <a:pt x="32" y="1"/>
                </a:lnTo>
                <a:lnTo>
                  <a:pt x="31" y="1"/>
                </a:lnTo>
                <a:close/>
                <a:moveTo>
                  <a:pt x="32" y="0"/>
                </a:moveTo>
                <a:lnTo>
                  <a:pt x="33" y="0"/>
                </a:lnTo>
                <a:lnTo>
                  <a:pt x="33" y="1"/>
                </a:lnTo>
                <a:lnTo>
                  <a:pt x="32" y="1"/>
                </a:lnTo>
                <a:close/>
                <a:moveTo>
                  <a:pt x="0" y="1"/>
                </a:move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  <a:moveTo>
                  <a:pt x="6" y="1"/>
                </a:moveTo>
                <a:lnTo>
                  <a:pt x="7" y="1"/>
                </a:lnTo>
                <a:lnTo>
                  <a:pt x="7" y="2"/>
                </a:lnTo>
                <a:lnTo>
                  <a:pt x="6" y="2"/>
                </a:lnTo>
                <a:close/>
                <a:moveTo>
                  <a:pt x="10" y="1"/>
                </a:moveTo>
                <a:lnTo>
                  <a:pt x="11" y="1"/>
                </a:lnTo>
                <a:lnTo>
                  <a:pt x="11" y="2"/>
                </a:lnTo>
                <a:lnTo>
                  <a:pt x="10" y="2"/>
                </a:lnTo>
                <a:close/>
                <a:moveTo>
                  <a:pt x="13" y="1"/>
                </a:moveTo>
                <a:lnTo>
                  <a:pt x="14" y="1"/>
                </a:lnTo>
                <a:lnTo>
                  <a:pt x="14" y="2"/>
                </a:lnTo>
                <a:lnTo>
                  <a:pt x="13" y="2"/>
                </a:lnTo>
                <a:close/>
                <a:moveTo>
                  <a:pt x="14" y="1"/>
                </a:moveTo>
                <a:lnTo>
                  <a:pt x="15" y="1"/>
                </a:lnTo>
                <a:lnTo>
                  <a:pt x="15" y="2"/>
                </a:lnTo>
                <a:lnTo>
                  <a:pt x="14" y="2"/>
                </a:lnTo>
                <a:close/>
                <a:moveTo>
                  <a:pt x="15" y="1"/>
                </a:moveTo>
                <a:lnTo>
                  <a:pt x="16" y="1"/>
                </a:lnTo>
                <a:lnTo>
                  <a:pt x="16" y="2"/>
                </a:lnTo>
                <a:lnTo>
                  <a:pt x="15" y="2"/>
                </a:lnTo>
                <a:close/>
                <a:moveTo>
                  <a:pt x="16" y="1"/>
                </a:moveTo>
                <a:lnTo>
                  <a:pt x="17" y="1"/>
                </a:lnTo>
                <a:lnTo>
                  <a:pt x="17" y="2"/>
                </a:lnTo>
                <a:lnTo>
                  <a:pt x="16" y="2"/>
                </a:lnTo>
                <a:close/>
                <a:moveTo>
                  <a:pt x="17" y="1"/>
                </a:moveTo>
                <a:lnTo>
                  <a:pt x="18" y="1"/>
                </a:lnTo>
                <a:lnTo>
                  <a:pt x="18" y="2"/>
                </a:lnTo>
                <a:lnTo>
                  <a:pt x="17" y="2"/>
                </a:lnTo>
                <a:close/>
                <a:moveTo>
                  <a:pt x="22" y="1"/>
                </a:moveTo>
                <a:lnTo>
                  <a:pt x="23" y="1"/>
                </a:lnTo>
                <a:lnTo>
                  <a:pt x="23" y="2"/>
                </a:lnTo>
                <a:lnTo>
                  <a:pt x="22" y="2"/>
                </a:lnTo>
                <a:close/>
                <a:moveTo>
                  <a:pt x="26" y="1"/>
                </a:moveTo>
                <a:lnTo>
                  <a:pt x="27" y="1"/>
                </a:lnTo>
                <a:lnTo>
                  <a:pt x="27" y="2"/>
                </a:lnTo>
                <a:lnTo>
                  <a:pt x="26" y="2"/>
                </a:lnTo>
                <a:close/>
                <a:moveTo>
                  <a:pt x="32" y="1"/>
                </a:moveTo>
                <a:lnTo>
                  <a:pt x="33" y="1"/>
                </a:lnTo>
                <a:lnTo>
                  <a:pt x="33" y="2"/>
                </a:lnTo>
                <a:lnTo>
                  <a:pt x="32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close/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  <a:moveTo>
                  <a:pt x="6" y="2"/>
                </a:moveTo>
                <a:lnTo>
                  <a:pt x="7" y="2"/>
                </a:lnTo>
                <a:lnTo>
                  <a:pt x="7" y="3"/>
                </a:lnTo>
                <a:lnTo>
                  <a:pt x="6" y="3"/>
                </a:lnTo>
                <a:close/>
                <a:moveTo>
                  <a:pt x="8" y="2"/>
                </a:moveTo>
                <a:lnTo>
                  <a:pt x="9" y="2"/>
                </a:lnTo>
                <a:lnTo>
                  <a:pt x="9" y="3"/>
                </a:lnTo>
                <a:lnTo>
                  <a:pt x="8" y="3"/>
                </a:lnTo>
                <a:close/>
                <a:moveTo>
                  <a:pt x="9" y="2"/>
                </a:moveTo>
                <a:lnTo>
                  <a:pt x="10" y="2"/>
                </a:lnTo>
                <a:lnTo>
                  <a:pt x="10" y="3"/>
                </a:lnTo>
                <a:lnTo>
                  <a:pt x="9" y="3"/>
                </a:lnTo>
                <a:close/>
                <a:moveTo>
                  <a:pt x="11" y="2"/>
                </a:moveTo>
                <a:lnTo>
                  <a:pt x="12" y="2"/>
                </a:lnTo>
                <a:lnTo>
                  <a:pt x="12" y="3"/>
                </a:lnTo>
                <a:lnTo>
                  <a:pt x="11" y="3"/>
                </a:lnTo>
                <a:close/>
                <a:moveTo>
                  <a:pt x="13" y="2"/>
                </a:moveTo>
                <a:lnTo>
                  <a:pt x="14" y="2"/>
                </a:lnTo>
                <a:lnTo>
                  <a:pt x="14" y="3"/>
                </a:lnTo>
                <a:lnTo>
                  <a:pt x="13" y="3"/>
                </a:lnTo>
                <a:close/>
                <a:moveTo>
                  <a:pt x="15" y="2"/>
                </a:moveTo>
                <a:lnTo>
                  <a:pt x="16" y="2"/>
                </a:lnTo>
                <a:lnTo>
                  <a:pt x="16" y="3"/>
                </a:lnTo>
                <a:lnTo>
                  <a:pt x="15" y="3"/>
                </a:lnTo>
                <a:close/>
                <a:moveTo>
                  <a:pt x="17" y="2"/>
                </a:moveTo>
                <a:lnTo>
                  <a:pt x="18" y="2"/>
                </a:lnTo>
                <a:lnTo>
                  <a:pt x="18" y="3"/>
                </a:lnTo>
                <a:lnTo>
                  <a:pt x="17" y="3"/>
                </a:lnTo>
                <a:close/>
                <a:moveTo>
                  <a:pt x="18" y="2"/>
                </a:moveTo>
                <a:lnTo>
                  <a:pt x="19" y="2"/>
                </a:lnTo>
                <a:lnTo>
                  <a:pt x="19" y="3"/>
                </a:lnTo>
                <a:lnTo>
                  <a:pt x="18" y="3"/>
                </a:lnTo>
                <a:close/>
                <a:moveTo>
                  <a:pt x="20" y="2"/>
                </a:moveTo>
                <a:lnTo>
                  <a:pt x="21" y="2"/>
                </a:lnTo>
                <a:lnTo>
                  <a:pt x="21" y="3"/>
                </a:lnTo>
                <a:lnTo>
                  <a:pt x="20" y="3"/>
                </a:lnTo>
                <a:close/>
                <a:moveTo>
                  <a:pt x="26" y="2"/>
                </a:moveTo>
                <a:lnTo>
                  <a:pt x="27" y="2"/>
                </a:lnTo>
                <a:lnTo>
                  <a:pt x="27" y="3"/>
                </a:lnTo>
                <a:lnTo>
                  <a:pt x="26" y="3"/>
                </a:lnTo>
                <a:close/>
                <a:moveTo>
                  <a:pt x="28" y="2"/>
                </a:moveTo>
                <a:lnTo>
                  <a:pt x="29" y="2"/>
                </a:lnTo>
                <a:lnTo>
                  <a:pt x="29" y="3"/>
                </a:lnTo>
                <a:lnTo>
                  <a:pt x="28" y="3"/>
                </a:lnTo>
                <a:close/>
                <a:moveTo>
                  <a:pt x="29" y="2"/>
                </a:moveTo>
                <a:lnTo>
                  <a:pt x="30" y="2"/>
                </a:lnTo>
                <a:lnTo>
                  <a:pt x="30" y="3"/>
                </a:lnTo>
                <a:lnTo>
                  <a:pt x="29" y="3"/>
                </a:lnTo>
                <a:close/>
                <a:moveTo>
                  <a:pt x="30" y="2"/>
                </a:moveTo>
                <a:lnTo>
                  <a:pt x="31" y="2"/>
                </a:lnTo>
                <a:lnTo>
                  <a:pt x="31" y="3"/>
                </a:lnTo>
                <a:lnTo>
                  <a:pt x="30" y="3"/>
                </a:lnTo>
                <a:close/>
                <a:moveTo>
                  <a:pt x="32" y="2"/>
                </a:moveTo>
                <a:lnTo>
                  <a:pt x="33" y="2"/>
                </a:lnTo>
                <a:lnTo>
                  <a:pt x="33" y="3"/>
                </a:lnTo>
                <a:lnTo>
                  <a:pt x="32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close/>
                <a:moveTo>
                  <a:pt x="3" y="3"/>
                </a:move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close/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close/>
                <a:moveTo>
                  <a:pt x="6" y="3"/>
                </a:move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close/>
                <a:moveTo>
                  <a:pt x="8" y="3"/>
                </a:moveTo>
                <a:lnTo>
                  <a:pt x="9" y="3"/>
                </a:lnTo>
                <a:lnTo>
                  <a:pt x="9" y="4"/>
                </a:lnTo>
                <a:lnTo>
                  <a:pt x="8" y="4"/>
                </a:lnTo>
                <a:close/>
                <a:moveTo>
                  <a:pt x="10" y="3"/>
                </a:moveTo>
                <a:lnTo>
                  <a:pt x="11" y="3"/>
                </a:lnTo>
                <a:lnTo>
                  <a:pt x="11" y="4"/>
                </a:lnTo>
                <a:lnTo>
                  <a:pt x="10" y="4"/>
                </a:lnTo>
                <a:close/>
                <a:moveTo>
                  <a:pt x="12" y="3"/>
                </a:moveTo>
                <a:lnTo>
                  <a:pt x="13" y="3"/>
                </a:lnTo>
                <a:lnTo>
                  <a:pt x="13" y="4"/>
                </a:lnTo>
                <a:lnTo>
                  <a:pt x="12" y="4"/>
                </a:lnTo>
                <a:close/>
                <a:moveTo>
                  <a:pt x="14" y="3"/>
                </a:moveTo>
                <a:lnTo>
                  <a:pt x="15" y="3"/>
                </a:lnTo>
                <a:lnTo>
                  <a:pt x="15" y="4"/>
                </a:lnTo>
                <a:lnTo>
                  <a:pt x="14" y="4"/>
                </a:lnTo>
                <a:close/>
                <a:moveTo>
                  <a:pt x="15" y="3"/>
                </a:moveTo>
                <a:lnTo>
                  <a:pt x="16" y="3"/>
                </a:lnTo>
                <a:lnTo>
                  <a:pt x="16" y="4"/>
                </a:lnTo>
                <a:lnTo>
                  <a:pt x="15" y="4"/>
                </a:lnTo>
                <a:close/>
                <a:moveTo>
                  <a:pt x="16" y="3"/>
                </a:moveTo>
                <a:lnTo>
                  <a:pt x="17" y="3"/>
                </a:lnTo>
                <a:lnTo>
                  <a:pt x="17" y="4"/>
                </a:lnTo>
                <a:lnTo>
                  <a:pt x="16" y="4"/>
                </a:lnTo>
                <a:close/>
                <a:moveTo>
                  <a:pt x="20" y="3"/>
                </a:moveTo>
                <a:lnTo>
                  <a:pt x="21" y="3"/>
                </a:lnTo>
                <a:lnTo>
                  <a:pt x="21" y="4"/>
                </a:lnTo>
                <a:lnTo>
                  <a:pt x="20" y="4"/>
                </a:lnTo>
                <a:close/>
                <a:moveTo>
                  <a:pt x="21" y="3"/>
                </a:moveTo>
                <a:lnTo>
                  <a:pt x="22" y="3"/>
                </a:lnTo>
                <a:lnTo>
                  <a:pt x="22" y="4"/>
                </a:lnTo>
                <a:lnTo>
                  <a:pt x="21" y="4"/>
                </a:lnTo>
                <a:close/>
                <a:moveTo>
                  <a:pt x="22" y="3"/>
                </a:moveTo>
                <a:lnTo>
                  <a:pt x="23" y="3"/>
                </a:lnTo>
                <a:lnTo>
                  <a:pt x="23" y="4"/>
                </a:lnTo>
                <a:lnTo>
                  <a:pt x="22" y="4"/>
                </a:lnTo>
                <a:close/>
                <a:moveTo>
                  <a:pt x="24" y="3"/>
                </a:moveTo>
                <a:lnTo>
                  <a:pt x="25" y="3"/>
                </a:lnTo>
                <a:lnTo>
                  <a:pt x="25" y="4"/>
                </a:lnTo>
                <a:lnTo>
                  <a:pt x="24" y="4"/>
                </a:lnTo>
                <a:close/>
                <a:moveTo>
                  <a:pt x="26" y="3"/>
                </a:moveTo>
                <a:lnTo>
                  <a:pt x="27" y="3"/>
                </a:lnTo>
                <a:lnTo>
                  <a:pt x="27" y="4"/>
                </a:lnTo>
                <a:lnTo>
                  <a:pt x="26" y="4"/>
                </a:lnTo>
                <a:close/>
                <a:moveTo>
                  <a:pt x="28" y="3"/>
                </a:moveTo>
                <a:lnTo>
                  <a:pt x="29" y="3"/>
                </a:lnTo>
                <a:lnTo>
                  <a:pt x="29" y="4"/>
                </a:lnTo>
                <a:lnTo>
                  <a:pt x="28" y="4"/>
                </a:lnTo>
                <a:close/>
                <a:moveTo>
                  <a:pt x="29" y="3"/>
                </a:moveTo>
                <a:lnTo>
                  <a:pt x="30" y="3"/>
                </a:lnTo>
                <a:lnTo>
                  <a:pt x="30" y="4"/>
                </a:lnTo>
                <a:lnTo>
                  <a:pt x="29" y="4"/>
                </a:lnTo>
                <a:close/>
                <a:moveTo>
                  <a:pt x="30" y="3"/>
                </a:moveTo>
                <a:lnTo>
                  <a:pt x="31" y="3"/>
                </a:lnTo>
                <a:lnTo>
                  <a:pt x="31" y="4"/>
                </a:lnTo>
                <a:lnTo>
                  <a:pt x="30" y="4"/>
                </a:lnTo>
                <a:close/>
                <a:moveTo>
                  <a:pt x="32" y="3"/>
                </a:moveTo>
                <a:lnTo>
                  <a:pt x="33" y="3"/>
                </a:lnTo>
                <a:lnTo>
                  <a:pt x="33" y="4"/>
                </a:lnTo>
                <a:lnTo>
                  <a:pt x="32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2" y="4"/>
                </a:move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close/>
                <a:moveTo>
                  <a:pt x="3" y="4"/>
                </a:move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close/>
                <a:moveTo>
                  <a:pt x="4" y="4"/>
                </a:move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close/>
                <a:moveTo>
                  <a:pt x="6" y="4"/>
                </a:move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close/>
                <a:moveTo>
                  <a:pt x="8" y="4"/>
                </a:moveTo>
                <a:lnTo>
                  <a:pt x="9" y="4"/>
                </a:lnTo>
                <a:lnTo>
                  <a:pt x="9" y="5"/>
                </a:lnTo>
                <a:lnTo>
                  <a:pt x="8" y="5"/>
                </a:lnTo>
                <a:close/>
                <a:moveTo>
                  <a:pt x="9" y="4"/>
                </a:moveTo>
                <a:lnTo>
                  <a:pt x="10" y="4"/>
                </a:lnTo>
                <a:lnTo>
                  <a:pt x="10" y="5"/>
                </a:lnTo>
                <a:lnTo>
                  <a:pt x="9" y="5"/>
                </a:lnTo>
                <a:close/>
                <a:moveTo>
                  <a:pt x="10" y="4"/>
                </a:moveTo>
                <a:lnTo>
                  <a:pt x="11" y="4"/>
                </a:lnTo>
                <a:lnTo>
                  <a:pt x="11" y="5"/>
                </a:lnTo>
                <a:lnTo>
                  <a:pt x="10" y="5"/>
                </a:lnTo>
                <a:close/>
                <a:moveTo>
                  <a:pt x="11" y="4"/>
                </a:moveTo>
                <a:lnTo>
                  <a:pt x="12" y="4"/>
                </a:lnTo>
                <a:lnTo>
                  <a:pt x="12" y="5"/>
                </a:lnTo>
                <a:lnTo>
                  <a:pt x="11" y="5"/>
                </a:lnTo>
                <a:close/>
                <a:moveTo>
                  <a:pt x="12" y="4"/>
                </a:moveTo>
                <a:lnTo>
                  <a:pt x="13" y="4"/>
                </a:lnTo>
                <a:lnTo>
                  <a:pt x="13" y="5"/>
                </a:lnTo>
                <a:lnTo>
                  <a:pt x="12" y="5"/>
                </a:lnTo>
                <a:close/>
                <a:moveTo>
                  <a:pt x="13" y="4"/>
                </a:moveTo>
                <a:lnTo>
                  <a:pt x="14" y="4"/>
                </a:lnTo>
                <a:lnTo>
                  <a:pt x="14" y="5"/>
                </a:lnTo>
                <a:lnTo>
                  <a:pt x="13" y="5"/>
                </a:lnTo>
                <a:close/>
                <a:moveTo>
                  <a:pt x="15" y="4"/>
                </a:moveTo>
                <a:lnTo>
                  <a:pt x="16" y="4"/>
                </a:lnTo>
                <a:lnTo>
                  <a:pt x="16" y="5"/>
                </a:lnTo>
                <a:lnTo>
                  <a:pt x="15" y="5"/>
                </a:lnTo>
                <a:close/>
                <a:moveTo>
                  <a:pt x="18" y="4"/>
                </a:moveTo>
                <a:lnTo>
                  <a:pt x="19" y="4"/>
                </a:lnTo>
                <a:lnTo>
                  <a:pt x="19" y="5"/>
                </a:lnTo>
                <a:lnTo>
                  <a:pt x="18" y="5"/>
                </a:lnTo>
                <a:close/>
                <a:moveTo>
                  <a:pt x="21" y="4"/>
                </a:moveTo>
                <a:lnTo>
                  <a:pt x="22" y="4"/>
                </a:lnTo>
                <a:lnTo>
                  <a:pt x="22" y="5"/>
                </a:lnTo>
                <a:lnTo>
                  <a:pt x="21" y="5"/>
                </a:lnTo>
                <a:close/>
                <a:moveTo>
                  <a:pt x="24" y="4"/>
                </a:moveTo>
                <a:lnTo>
                  <a:pt x="25" y="4"/>
                </a:lnTo>
                <a:lnTo>
                  <a:pt x="25" y="5"/>
                </a:lnTo>
                <a:lnTo>
                  <a:pt x="24" y="5"/>
                </a:lnTo>
                <a:close/>
                <a:moveTo>
                  <a:pt x="26" y="4"/>
                </a:moveTo>
                <a:lnTo>
                  <a:pt x="27" y="4"/>
                </a:lnTo>
                <a:lnTo>
                  <a:pt x="27" y="5"/>
                </a:lnTo>
                <a:lnTo>
                  <a:pt x="26" y="5"/>
                </a:lnTo>
                <a:close/>
                <a:moveTo>
                  <a:pt x="28" y="4"/>
                </a:moveTo>
                <a:lnTo>
                  <a:pt x="29" y="4"/>
                </a:lnTo>
                <a:lnTo>
                  <a:pt x="29" y="5"/>
                </a:lnTo>
                <a:lnTo>
                  <a:pt x="28" y="5"/>
                </a:lnTo>
                <a:close/>
                <a:moveTo>
                  <a:pt x="29" y="4"/>
                </a:moveTo>
                <a:lnTo>
                  <a:pt x="30" y="4"/>
                </a:lnTo>
                <a:lnTo>
                  <a:pt x="30" y="5"/>
                </a:lnTo>
                <a:lnTo>
                  <a:pt x="29" y="5"/>
                </a:lnTo>
                <a:close/>
                <a:moveTo>
                  <a:pt x="30" y="4"/>
                </a:moveTo>
                <a:lnTo>
                  <a:pt x="31" y="4"/>
                </a:lnTo>
                <a:lnTo>
                  <a:pt x="31" y="5"/>
                </a:lnTo>
                <a:lnTo>
                  <a:pt x="30" y="5"/>
                </a:lnTo>
                <a:close/>
                <a:moveTo>
                  <a:pt x="32" y="4"/>
                </a:moveTo>
                <a:lnTo>
                  <a:pt x="33" y="4"/>
                </a:lnTo>
                <a:lnTo>
                  <a:pt x="33" y="5"/>
                </a:lnTo>
                <a:lnTo>
                  <a:pt x="32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6" y="5"/>
                </a:move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close/>
                <a:moveTo>
                  <a:pt x="8" y="5"/>
                </a:moveTo>
                <a:lnTo>
                  <a:pt x="9" y="5"/>
                </a:lnTo>
                <a:lnTo>
                  <a:pt x="9" y="6"/>
                </a:lnTo>
                <a:lnTo>
                  <a:pt x="8" y="6"/>
                </a:lnTo>
                <a:close/>
                <a:moveTo>
                  <a:pt x="10" y="5"/>
                </a:moveTo>
                <a:lnTo>
                  <a:pt x="11" y="5"/>
                </a:lnTo>
                <a:lnTo>
                  <a:pt x="11" y="6"/>
                </a:lnTo>
                <a:lnTo>
                  <a:pt x="10" y="6"/>
                </a:lnTo>
                <a:close/>
                <a:moveTo>
                  <a:pt x="13" y="5"/>
                </a:moveTo>
                <a:lnTo>
                  <a:pt x="14" y="5"/>
                </a:lnTo>
                <a:lnTo>
                  <a:pt x="14" y="6"/>
                </a:lnTo>
                <a:lnTo>
                  <a:pt x="13" y="6"/>
                </a:lnTo>
                <a:close/>
                <a:moveTo>
                  <a:pt x="14" y="5"/>
                </a:moveTo>
                <a:lnTo>
                  <a:pt x="15" y="5"/>
                </a:lnTo>
                <a:lnTo>
                  <a:pt x="15" y="6"/>
                </a:lnTo>
                <a:lnTo>
                  <a:pt x="14" y="6"/>
                </a:lnTo>
                <a:close/>
                <a:moveTo>
                  <a:pt x="15" y="5"/>
                </a:moveTo>
                <a:lnTo>
                  <a:pt x="16" y="5"/>
                </a:lnTo>
                <a:lnTo>
                  <a:pt x="16" y="6"/>
                </a:lnTo>
                <a:lnTo>
                  <a:pt x="15" y="6"/>
                </a:lnTo>
                <a:close/>
                <a:moveTo>
                  <a:pt x="16" y="5"/>
                </a:moveTo>
                <a:lnTo>
                  <a:pt x="17" y="5"/>
                </a:lnTo>
                <a:lnTo>
                  <a:pt x="17" y="6"/>
                </a:lnTo>
                <a:lnTo>
                  <a:pt x="16" y="6"/>
                </a:lnTo>
                <a:close/>
                <a:moveTo>
                  <a:pt x="17" y="5"/>
                </a:moveTo>
                <a:lnTo>
                  <a:pt x="18" y="5"/>
                </a:lnTo>
                <a:lnTo>
                  <a:pt x="18" y="6"/>
                </a:lnTo>
                <a:lnTo>
                  <a:pt x="17" y="6"/>
                </a:lnTo>
                <a:close/>
                <a:moveTo>
                  <a:pt x="18" y="5"/>
                </a:moveTo>
                <a:lnTo>
                  <a:pt x="19" y="5"/>
                </a:lnTo>
                <a:lnTo>
                  <a:pt x="19" y="6"/>
                </a:lnTo>
                <a:lnTo>
                  <a:pt x="18" y="6"/>
                </a:lnTo>
                <a:close/>
                <a:moveTo>
                  <a:pt x="20" y="5"/>
                </a:moveTo>
                <a:lnTo>
                  <a:pt x="21" y="5"/>
                </a:lnTo>
                <a:lnTo>
                  <a:pt x="21" y="6"/>
                </a:lnTo>
                <a:lnTo>
                  <a:pt x="20" y="6"/>
                </a:lnTo>
                <a:close/>
                <a:moveTo>
                  <a:pt x="24" y="5"/>
                </a:moveTo>
                <a:lnTo>
                  <a:pt x="25" y="5"/>
                </a:lnTo>
                <a:lnTo>
                  <a:pt x="25" y="6"/>
                </a:lnTo>
                <a:lnTo>
                  <a:pt x="24" y="6"/>
                </a:lnTo>
                <a:close/>
                <a:moveTo>
                  <a:pt x="26" y="5"/>
                </a:moveTo>
                <a:lnTo>
                  <a:pt x="27" y="5"/>
                </a:lnTo>
                <a:lnTo>
                  <a:pt x="27" y="6"/>
                </a:lnTo>
                <a:lnTo>
                  <a:pt x="26" y="6"/>
                </a:lnTo>
                <a:close/>
                <a:moveTo>
                  <a:pt x="32" y="5"/>
                </a:moveTo>
                <a:lnTo>
                  <a:pt x="33" y="5"/>
                </a:lnTo>
                <a:lnTo>
                  <a:pt x="33" y="6"/>
                </a:lnTo>
                <a:lnTo>
                  <a:pt x="32" y="6"/>
                </a:lnTo>
                <a:close/>
                <a:moveTo>
                  <a:pt x="0" y="6"/>
                </a:moveTo>
                <a:lnTo>
                  <a:pt x="1" y="6"/>
                </a:lnTo>
                <a:lnTo>
                  <a:pt x="1" y="7"/>
                </a:lnTo>
                <a:lnTo>
                  <a:pt x="0" y="7"/>
                </a:lnTo>
                <a:close/>
                <a:moveTo>
                  <a:pt x="1" y="6"/>
                </a:move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close/>
                <a:moveTo>
                  <a:pt x="2" y="6"/>
                </a:moveTo>
                <a:lnTo>
                  <a:pt x="3" y="6"/>
                </a:lnTo>
                <a:lnTo>
                  <a:pt x="3" y="7"/>
                </a:lnTo>
                <a:lnTo>
                  <a:pt x="2" y="7"/>
                </a:lnTo>
                <a:close/>
                <a:moveTo>
                  <a:pt x="3" y="6"/>
                </a:move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close/>
                <a:moveTo>
                  <a:pt x="4" y="6"/>
                </a:move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close/>
                <a:moveTo>
                  <a:pt x="5" y="6"/>
                </a:move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close/>
                <a:moveTo>
                  <a:pt x="6" y="6"/>
                </a:moveTo>
                <a:lnTo>
                  <a:pt x="7" y="6"/>
                </a:lnTo>
                <a:lnTo>
                  <a:pt x="7" y="7"/>
                </a:lnTo>
                <a:lnTo>
                  <a:pt x="6" y="7"/>
                </a:lnTo>
                <a:close/>
                <a:moveTo>
                  <a:pt x="8" y="6"/>
                </a:moveTo>
                <a:lnTo>
                  <a:pt x="9" y="6"/>
                </a:lnTo>
                <a:lnTo>
                  <a:pt x="9" y="7"/>
                </a:lnTo>
                <a:lnTo>
                  <a:pt x="8" y="7"/>
                </a:lnTo>
                <a:close/>
                <a:moveTo>
                  <a:pt x="10" y="6"/>
                </a:moveTo>
                <a:lnTo>
                  <a:pt x="11" y="6"/>
                </a:lnTo>
                <a:lnTo>
                  <a:pt x="11" y="7"/>
                </a:lnTo>
                <a:lnTo>
                  <a:pt x="10" y="7"/>
                </a:lnTo>
                <a:close/>
                <a:moveTo>
                  <a:pt x="12" y="6"/>
                </a:moveTo>
                <a:lnTo>
                  <a:pt x="13" y="6"/>
                </a:lnTo>
                <a:lnTo>
                  <a:pt x="13" y="7"/>
                </a:lnTo>
                <a:lnTo>
                  <a:pt x="12" y="7"/>
                </a:lnTo>
                <a:close/>
                <a:moveTo>
                  <a:pt x="14" y="6"/>
                </a:moveTo>
                <a:lnTo>
                  <a:pt x="15" y="6"/>
                </a:lnTo>
                <a:lnTo>
                  <a:pt x="15" y="7"/>
                </a:lnTo>
                <a:lnTo>
                  <a:pt x="14" y="7"/>
                </a:lnTo>
                <a:close/>
                <a:moveTo>
                  <a:pt x="16" y="6"/>
                </a:moveTo>
                <a:lnTo>
                  <a:pt x="17" y="6"/>
                </a:lnTo>
                <a:lnTo>
                  <a:pt x="17" y="7"/>
                </a:lnTo>
                <a:lnTo>
                  <a:pt x="16" y="7"/>
                </a:lnTo>
                <a:close/>
                <a:moveTo>
                  <a:pt x="18" y="6"/>
                </a:moveTo>
                <a:lnTo>
                  <a:pt x="19" y="6"/>
                </a:lnTo>
                <a:lnTo>
                  <a:pt x="19" y="7"/>
                </a:lnTo>
                <a:lnTo>
                  <a:pt x="18" y="7"/>
                </a:lnTo>
                <a:close/>
                <a:moveTo>
                  <a:pt x="20" y="6"/>
                </a:moveTo>
                <a:lnTo>
                  <a:pt x="21" y="6"/>
                </a:lnTo>
                <a:lnTo>
                  <a:pt x="21" y="7"/>
                </a:lnTo>
                <a:lnTo>
                  <a:pt x="20" y="7"/>
                </a:lnTo>
                <a:close/>
                <a:moveTo>
                  <a:pt x="22" y="6"/>
                </a:moveTo>
                <a:lnTo>
                  <a:pt x="23" y="6"/>
                </a:lnTo>
                <a:lnTo>
                  <a:pt x="23" y="7"/>
                </a:lnTo>
                <a:lnTo>
                  <a:pt x="22" y="7"/>
                </a:lnTo>
                <a:close/>
                <a:moveTo>
                  <a:pt x="24" y="6"/>
                </a:moveTo>
                <a:lnTo>
                  <a:pt x="25" y="6"/>
                </a:lnTo>
                <a:lnTo>
                  <a:pt x="25" y="7"/>
                </a:lnTo>
                <a:lnTo>
                  <a:pt x="24" y="7"/>
                </a:lnTo>
                <a:close/>
                <a:moveTo>
                  <a:pt x="26" y="6"/>
                </a:moveTo>
                <a:lnTo>
                  <a:pt x="27" y="6"/>
                </a:lnTo>
                <a:lnTo>
                  <a:pt x="27" y="7"/>
                </a:lnTo>
                <a:lnTo>
                  <a:pt x="26" y="7"/>
                </a:lnTo>
                <a:close/>
                <a:moveTo>
                  <a:pt x="27" y="6"/>
                </a:moveTo>
                <a:lnTo>
                  <a:pt x="28" y="6"/>
                </a:lnTo>
                <a:lnTo>
                  <a:pt x="28" y="7"/>
                </a:lnTo>
                <a:lnTo>
                  <a:pt x="27" y="7"/>
                </a:lnTo>
                <a:close/>
                <a:moveTo>
                  <a:pt x="28" y="6"/>
                </a:moveTo>
                <a:lnTo>
                  <a:pt x="29" y="6"/>
                </a:lnTo>
                <a:lnTo>
                  <a:pt x="29" y="7"/>
                </a:lnTo>
                <a:lnTo>
                  <a:pt x="28" y="7"/>
                </a:lnTo>
                <a:close/>
                <a:moveTo>
                  <a:pt x="29" y="6"/>
                </a:moveTo>
                <a:lnTo>
                  <a:pt x="30" y="6"/>
                </a:lnTo>
                <a:lnTo>
                  <a:pt x="30" y="7"/>
                </a:lnTo>
                <a:lnTo>
                  <a:pt x="29" y="7"/>
                </a:lnTo>
                <a:close/>
                <a:moveTo>
                  <a:pt x="30" y="6"/>
                </a:moveTo>
                <a:lnTo>
                  <a:pt x="31" y="6"/>
                </a:lnTo>
                <a:lnTo>
                  <a:pt x="31" y="7"/>
                </a:lnTo>
                <a:lnTo>
                  <a:pt x="30" y="7"/>
                </a:lnTo>
                <a:close/>
                <a:moveTo>
                  <a:pt x="31" y="6"/>
                </a:moveTo>
                <a:lnTo>
                  <a:pt x="32" y="6"/>
                </a:lnTo>
                <a:lnTo>
                  <a:pt x="32" y="7"/>
                </a:lnTo>
                <a:lnTo>
                  <a:pt x="31" y="7"/>
                </a:lnTo>
                <a:close/>
                <a:moveTo>
                  <a:pt x="32" y="6"/>
                </a:moveTo>
                <a:lnTo>
                  <a:pt x="33" y="6"/>
                </a:lnTo>
                <a:lnTo>
                  <a:pt x="33" y="7"/>
                </a:lnTo>
                <a:lnTo>
                  <a:pt x="32" y="7"/>
                </a:lnTo>
                <a:close/>
                <a:moveTo>
                  <a:pt x="8" y="7"/>
                </a:moveTo>
                <a:lnTo>
                  <a:pt x="9" y="7"/>
                </a:lnTo>
                <a:lnTo>
                  <a:pt x="9" y="8"/>
                </a:lnTo>
                <a:lnTo>
                  <a:pt x="8" y="8"/>
                </a:lnTo>
                <a:close/>
                <a:moveTo>
                  <a:pt x="12" y="7"/>
                </a:moveTo>
                <a:lnTo>
                  <a:pt x="13" y="7"/>
                </a:lnTo>
                <a:lnTo>
                  <a:pt x="13" y="8"/>
                </a:lnTo>
                <a:lnTo>
                  <a:pt x="12" y="8"/>
                </a:lnTo>
                <a:close/>
                <a:moveTo>
                  <a:pt x="14" y="7"/>
                </a:moveTo>
                <a:lnTo>
                  <a:pt x="15" y="7"/>
                </a:lnTo>
                <a:lnTo>
                  <a:pt x="15" y="8"/>
                </a:lnTo>
                <a:lnTo>
                  <a:pt x="14" y="8"/>
                </a:lnTo>
                <a:close/>
                <a:moveTo>
                  <a:pt x="15" y="7"/>
                </a:moveTo>
                <a:lnTo>
                  <a:pt x="16" y="7"/>
                </a:lnTo>
                <a:lnTo>
                  <a:pt x="16" y="8"/>
                </a:lnTo>
                <a:lnTo>
                  <a:pt x="15" y="8"/>
                </a:lnTo>
                <a:close/>
                <a:moveTo>
                  <a:pt x="18" y="7"/>
                </a:moveTo>
                <a:lnTo>
                  <a:pt x="19" y="7"/>
                </a:lnTo>
                <a:lnTo>
                  <a:pt x="19" y="8"/>
                </a:lnTo>
                <a:lnTo>
                  <a:pt x="18" y="8"/>
                </a:lnTo>
                <a:close/>
                <a:moveTo>
                  <a:pt x="21" y="7"/>
                </a:moveTo>
                <a:lnTo>
                  <a:pt x="22" y="7"/>
                </a:lnTo>
                <a:lnTo>
                  <a:pt x="22" y="8"/>
                </a:lnTo>
                <a:lnTo>
                  <a:pt x="21" y="8"/>
                </a:lnTo>
                <a:close/>
                <a:moveTo>
                  <a:pt x="24" y="7"/>
                </a:moveTo>
                <a:lnTo>
                  <a:pt x="25" y="7"/>
                </a:lnTo>
                <a:lnTo>
                  <a:pt x="25" y="8"/>
                </a:lnTo>
                <a:lnTo>
                  <a:pt x="24" y="8"/>
                </a:lnTo>
                <a:close/>
                <a:moveTo>
                  <a:pt x="0" y="8"/>
                </a:moveTo>
                <a:lnTo>
                  <a:pt x="1" y="8"/>
                </a:lnTo>
                <a:lnTo>
                  <a:pt x="1" y="9"/>
                </a:lnTo>
                <a:lnTo>
                  <a:pt x="0" y="9"/>
                </a:lnTo>
                <a:close/>
                <a:moveTo>
                  <a:pt x="2" y="8"/>
                </a:moveTo>
                <a:lnTo>
                  <a:pt x="3" y="8"/>
                </a:lnTo>
                <a:lnTo>
                  <a:pt x="3" y="9"/>
                </a:lnTo>
                <a:lnTo>
                  <a:pt x="2" y="9"/>
                </a:lnTo>
                <a:close/>
                <a:moveTo>
                  <a:pt x="3" y="8"/>
                </a:moveTo>
                <a:lnTo>
                  <a:pt x="4" y="8"/>
                </a:lnTo>
                <a:lnTo>
                  <a:pt x="4" y="9"/>
                </a:lnTo>
                <a:lnTo>
                  <a:pt x="3" y="9"/>
                </a:lnTo>
                <a:close/>
                <a:moveTo>
                  <a:pt x="4" y="8"/>
                </a:move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close/>
                <a:moveTo>
                  <a:pt x="5" y="8"/>
                </a:moveTo>
                <a:lnTo>
                  <a:pt x="6" y="8"/>
                </a:lnTo>
                <a:lnTo>
                  <a:pt x="6" y="9"/>
                </a:lnTo>
                <a:lnTo>
                  <a:pt x="5" y="9"/>
                </a:lnTo>
                <a:close/>
                <a:moveTo>
                  <a:pt x="6" y="8"/>
                </a:moveTo>
                <a:lnTo>
                  <a:pt x="7" y="8"/>
                </a:lnTo>
                <a:lnTo>
                  <a:pt x="7" y="9"/>
                </a:lnTo>
                <a:lnTo>
                  <a:pt x="6" y="9"/>
                </a:lnTo>
                <a:close/>
                <a:moveTo>
                  <a:pt x="10" y="8"/>
                </a:moveTo>
                <a:lnTo>
                  <a:pt x="11" y="8"/>
                </a:lnTo>
                <a:lnTo>
                  <a:pt x="11" y="9"/>
                </a:lnTo>
                <a:lnTo>
                  <a:pt x="10" y="9"/>
                </a:lnTo>
                <a:close/>
                <a:moveTo>
                  <a:pt x="11" y="8"/>
                </a:moveTo>
                <a:lnTo>
                  <a:pt x="12" y="8"/>
                </a:lnTo>
                <a:lnTo>
                  <a:pt x="12" y="9"/>
                </a:lnTo>
                <a:lnTo>
                  <a:pt x="11" y="9"/>
                </a:lnTo>
                <a:close/>
                <a:moveTo>
                  <a:pt x="12" y="8"/>
                </a:move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close/>
                <a:moveTo>
                  <a:pt x="13" y="8"/>
                </a:moveTo>
                <a:lnTo>
                  <a:pt x="14" y="8"/>
                </a:lnTo>
                <a:lnTo>
                  <a:pt x="14" y="9"/>
                </a:lnTo>
                <a:lnTo>
                  <a:pt x="13" y="9"/>
                </a:lnTo>
                <a:close/>
                <a:moveTo>
                  <a:pt x="14" y="8"/>
                </a:moveTo>
                <a:lnTo>
                  <a:pt x="15" y="8"/>
                </a:lnTo>
                <a:lnTo>
                  <a:pt x="15" y="9"/>
                </a:lnTo>
                <a:lnTo>
                  <a:pt x="14" y="9"/>
                </a:lnTo>
                <a:close/>
                <a:moveTo>
                  <a:pt x="15" y="8"/>
                </a:moveTo>
                <a:lnTo>
                  <a:pt x="16" y="8"/>
                </a:lnTo>
                <a:lnTo>
                  <a:pt x="16" y="9"/>
                </a:lnTo>
                <a:lnTo>
                  <a:pt x="15" y="9"/>
                </a:lnTo>
                <a:close/>
                <a:moveTo>
                  <a:pt x="17" y="8"/>
                </a:moveTo>
                <a:lnTo>
                  <a:pt x="18" y="8"/>
                </a:lnTo>
                <a:lnTo>
                  <a:pt x="18" y="9"/>
                </a:lnTo>
                <a:lnTo>
                  <a:pt x="17" y="9"/>
                </a:lnTo>
                <a:close/>
                <a:moveTo>
                  <a:pt x="20" y="8"/>
                </a:moveTo>
                <a:lnTo>
                  <a:pt x="21" y="8"/>
                </a:lnTo>
                <a:lnTo>
                  <a:pt x="21" y="9"/>
                </a:lnTo>
                <a:lnTo>
                  <a:pt x="20" y="9"/>
                </a:lnTo>
                <a:close/>
                <a:moveTo>
                  <a:pt x="26" y="8"/>
                </a:moveTo>
                <a:lnTo>
                  <a:pt x="27" y="8"/>
                </a:lnTo>
                <a:lnTo>
                  <a:pt x="27" y="9"/>
                </a:lnTo>
                <a:lnTo>
                  <a:pt x="26" y="9"/>
                </a:lnTo>
                <a:close/>
                <a:moveTo>
                  <a:pt x="27" y="8"/>
                </a:moveTo>
                <a:lnTo>
                  <a:pt x="28" y="8"/>
                </a:lnTo>
                <a:lnTo>
                  <a:pt x="28" y="9"/>
                </a:lnTo>
                <a:lnTo>
                  <a:pt x="27" y="9"/>
                </a:lnTo>
                <a:close/>
                <a:moveTo>
                  <a:pt x="28" y="8"/>
                </a:moveTo>
                <a:lnTo>
                  <a:pt x="29" y="8"/>
                </a:lnTo>
                <a:lnTo>
                  <a:pt x="29" y="9"/>
                </a:lnTo>
                <a:lnTo>
                  <a:pt x="28" y="9"/>
                </a:lnTo>
                <a:close/>
                <a:moveTo>
                  <a:pt x="29" y="8"/>
                </a:moveTo>
                <a:lnTo>
                  <a:pt x="30" y="8"/>
                </a:lnTo>
                <a:lnTo>
                  <a:pt x="30" y="9"/>
                </a:lnTo>
                <a:lnTo>
                  <a:pt x="29" y="9"/>
                </a:lnTo>
                <a:close/>
                <a:moveTo>
                  <a:pt x="30" y="8"/>
                </a:moveTo>
                <a:lnTo>
                  <a:pt x="31" y="8"/>
                </a:lnTo>
                <a:lnTo>
                  <a:pt x="31" y="9"/>
                </a:lnTo>
                <a:lnTo>
                  <a:pt x="30" y="9"/>
                </a:lnTo>
                <a:close/>
                <a:moveTo>
                  <a:pt x="3" y="9"/>
                </a:move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close/>
                <a:moveTo>
                  <a:pt x="5" y="9"/>
                </a:moveTo>
                <a:lnTo>
                  <a:pt x="6" y="9"/>
                </a:lnTo>
                <a:lnTo>
                  <a:pt x="6" y="10"/>
                </a:lnTo>
                <a:lnTo>
                  <a:pt x="5" y="10"/>
                </a:lnTo>
                <a:close/>
                <a:moveTo>
                  <a:pt x="9" y="9"/>
                </a:moveTo>
                <a:lnTo>
                  <a:pt x="10" y="9"/>
                </a:lnTo>
                <a:lnTo>
                  <a:pt x="10" y="10"/>
                </a:lnTo>
                <a:lnTo>
                  <a:pt x="9" y="10"/>
                </a:lnTo>
                <a:close/>
                <a:moveTo>
                  <a:pt x="11" y="9"/>
                </a:moveTo>
                <a:lnTo>
                  <a:pt x="12" y="9"/>
                </a:lnTo>
                <a:lnTo>
                  <a:pt x="12" y="10"/>
                </a:lnTo>
                <a:lnTo>
                  <a:pt x="11" y="10"/>
                </a:lnTo>
                <a:close/>
                <a:moveTo>
                  <a:pt x="16" y="9"/>
                </a:moveTo>
                <a:lnTo>
                  <a:pt x="17" y="9"/>
                </a:lnTo>
                <a:lnTo>
                  <a:pt x="17" y="10"/>
                </a:lnTo>
                <a:lnTo>
                  <a:pt x="16" y="10"/>
                </a:lnTo>
                <a:close/>
                <a:moveTo>
                  <a:pt x="18" y="9"/>
                </a:moveTo>
                <a:lnTo>
                  <a:pt x="19" y="9"/>
                </a:lnTo>
                <a:lnTo>
                  <a:pt x="19" y="10"/>
                </a:lnTo>
                <a:lnTo>
                  <a:pt x="18" y="10"/>
                </a:lnTo>
                <a:close/>
                <a:moveTo>
                  <a:pt x="19" y="9"/>
                </a:moveTo>
                <a:lnTo>
                  <a:pt x="20" y="9"/>
                </a:lnTo>
                <a:lnTo>
                  <a:pt x="20" y="10"/>
                </a:lnTo>
                <a:lnTo>
                  <a:pt x="19" y="10"/>
                </a:lnTo>
                <a:close/>
                <a:moveTo>
                  <a:pt x="20" y="9"/>
                </a:moveTo>
                <a:lnTo>
                  <a:pt x="21" y="9"/>
                </a:lnTo>
                <a:lnTo>
                  <a:pt x="21" y="10"/>
                </a:lnTo>
                <a:lnTo>
                  <a:pt x="20" y="10"/>
                </a:lnTo>
                <a:close/>
                <a:moveTo>
                  <a:pt x="21" y="9"/>
                </a:moveTo>
                <a:lnTo>
                  <a:pt x="22" y="9"/>
                </a:lnTo>
                <a:lnTo>
                  <a:pt x="22" y="10"/>
                </a:lnTo>
                <a:lnTo>
                  <a:pt x="21" y="10"/>
                </a:lnTo>
                <a:close/>
                <a:moveTo>
                  <a:pt x="23" y="9"/>
                </a:moveTo>
                <a:lnTo>
                  <a:pt x="24" y="9"/>
                </a:lnTo>
                <a:lnTo>
                  <a:pt x="24" y="10"/>
                </a:lnTo>
                <a:lnTo>
                  <a:pt x="23" y="10"/>
                </a:lnTo>
                <a:close/>
                <a:moveTo>
                  <a:pt x="26" y="9"/>
                </a:moveTo>
                <a:lnTo>
                  <a:pt x="27" y="9"/>
                </a:lnTo>
                <a:lnTo>
                  <a:pt x="27" y="10"/>
                </a:lnTo>
                <a:lnTo>
                  <a:pt x="26" y="10"/>
                </a:lnTo>
                <a:close/>
                <a:moveTo>
                  <a:pt x="27" y="9"/>
                </a:moveTo>
                <a:lnTo>
                  <a:pt x="28" y="9"/>
                </a:lnTo>
                <a:lnTo>
                  <a:pt x="28" y="10"/>
                </a:lnTo>
                <a:lnTo>
                  <a:pt x="27" y="10"/>
                </a:lnTo>
                <a:close/>
                <a:moveTo>
                  <a:pt x="29" y="9"/>
                </a:moveTo>
                <a:lnTo>
                  <a:pt x="30" y="9"/>
                </a:lnTo>
                <a:lnTo>
                  <a:pt x="30" y="10"/>
                </a:lnTo>
                <a:lnTo>
                  <a:pt x="29" y="10"/>
                </a:lnTo>
                <a:close/>
                <a:moveTo>
                  <a:pt x="30" y="9"/>
                </a:moveTo>
                <a:lnTo>
                  <a:pt x="31" y="9"/>
                </a:lnTo>
                <a:lnTo>
                  <a:pt x="31" y="10"/>
                </a:lnTo>
                <a:lnTo>
                  <a:pt x="30" y="10"/>
                </a:lnTo>
                <a:close/>
                <a:moveTo>
                  <a:pt x="32" y="9"/>
                </a:moveTo>
                <a:lnTo>
                  <a:pt x="33" y="9"/>
                </a:lnTo>
                <a:lnTo>
                  <a:pt x="33" y="10"/>
                </a:lnTo>
                <a:lnTo>
                  <a:pt x="32" y="10"/>
                </a:lnTo>
                <a:close/>
                <a:moveTo>
                  <a:pt x="2" y="10"/>
                </a:moveTo>
                <a:lnTo>
                  <a:pt x="3" y="10"/>
                </a:lnTo>
                <a:lnTo>
                  <a:pt x="3" y="11"/>
                </a:lnTo>
                <a:lnTo>
                  <a:pt x="2" y="11"/>
                </a:lnTo>
                <a:close/>
                <a:moveTo>
                  <a:pt x="3" y="10"/>
                </a:moveTo>
                <a:lnTo>
                  <a:pt x="4" y="10"/>
                </a:lnTo>
                <a:lnTo>
                  <a:pt x="4" y="11"/>
                </a:lnTo>
                <a:lnTo>
                  <a:pt x="3" y="11"/>
                </a:lnTo>
                <a:close/>
                <a:moveTo>
                  <a:pt x="4" y="10"/>
                </a:moveTo>
                <a:lnTo>
                  <a:pt x="5" y="10"/>
                </a:lnTo>
                <a:lnTo>
                  <a:pt x="5" y="11"/>
                </a:lnTo>
                <a:lnTo>
                  <a:pt x="4" y="11"/>
                </a:lnTo>
                <a:close/>
                <a:moveTo>
                  <a:pt x="6" y="10"/>
                </a:moveTo>
                <a:lnTo>
                  <a:pt x="7" y="10"/>
                </a:lnTo>
                <a:lnTo>
                  <a:pt x="7" y="11"/>
                </a:lnTo>
                <a:lnTo>
                  <a:pt x="6" y="11"/>
                </a:lnTo>
                <a:close/>
                <a:moveTo>
                  <a:pt x="7" y="10"/>
                </a:moveTo>
                <a:lnTo>
                  <a:pt x="8" y="10"/>
                </a:lnTo>
                <a:lnTo>
                  <a:pt x="8" y="11"/>
                </a:lnTo>
                <a:lnTo>
                  <a:pt x="7" y="11"/>
                </a:lnTo>
                <a:close/>
                <a:moveTo>
                  <a:pt x="12" y="10"/>
                </a:moveTo>
                <a:lnTo>
                  <a:pt x="13" y="10"/>
                </a:lnTo>
                <a:lnTo>
                  <a:pt x="13" y="11"/>
                </a:lnTo>
                <a:lnTo>
                  <a:pt x="12" y="11"/>
                </a:lnTo>
                <a:close/>
                <a:moveTo>
                  <a:pt x="15" y="10"/>
                </a:moveTo>
                <a:lnTo>
                  <a:pt x="16" y="10"/>
                </a:lnTo>
                <a:lnTo>
                  <a:pt x="16" y="11"/>
                </a:lnTo>
                <a:lnTo>
                  <a:pt x="15" y="11"/>
                </a:lnTo>
                <a:close/>
                <a:moveTo>
                  <a:pt x="18" y="10"/>
                </a:moveTo>
                <a:lnTo>
                  <a:pt x="19" y="10"/>
                </a:lnTo>
                <a:lnTo>
                  <a:pt x="19" y="11"/>
                </a:lnTo>
                <a:lnTo>
                  <a:pt x="18" y="11"/>
                </a:lnTo>
                <a:close/>
                <a:moveTo>
                  <a:pt x="20" y="10"/>
                </a:moveTo>
                <a:lnTo>
                  <a:pt x="21" y="10"/>
                </a:lnTo>
                <a:lnTo>
                  <a:pt x="21" y="11"/>
                </a:lnTo>
                <a:lnTo>
                  <a:pt x="20" y="11"/>
                </a:lnTo>
                <a:close/>
                <a:moveTo>
                  <a:pt x="21" y="10"/>
                </a:moveTo>
                <a:lnTo>
                  <a:pt x="22" y="10"/>
                </a:lnTo>
                <a:lnTo>
                  <a:pt x="22" y="11"/>
                </a:lnTo>
                <a:lnTo>
                  <a:pt x="21" y="11"/>
                </a:lnTo>
                <a:close/>
                <a:moveTo>
                  <a:pt x="24" y="10"/>
                </a:moveTo>
                <a:lnTo>
                  <a:pt x="25" y="10"/>
                </a:lnTo>
                <a:lnTo>
                  <a:pt x="25" y="11"/>
                </a:lnTo>
                <a:lnTo>
                  <a:pt x="24" y="11"/>
                </a:lnTo>
                <a:close/>
                <a:moveTo>
                  <a:pt x="28" y="10"/>
                </a:moveTo>
                <a:lnTo>
                  <a:pt x="29" y="10"/>
                </a:lnTo>
                <a:lnTo>
                  <a:pt x="29" y="11"/>
                </a:lnTo>
                <a:lnTo>
                  <a:pt x="28" y="11"/>
                </a:lnTo>
                <a:close/>
                <a:moveTo>
                  <a:pt x="30" y="10"/>
                </a:moveTo>
                <a:lnTo>
                  <a:pt x="31" y="10"/>
                </a:lnTo>
                <a:lnTo>
                  <a:pt x="31" y="11"/>
                </a:lnTo>
                <a:lnTo>
                  <a:pt x="30" y="11"/>
                </a:lnTo>
                <a:close/>
                <a:moveTo>
                  <a:pt x="31" y="10"/>
                </a:moveTo>
                <a:lnTo>
                  <a:pt x="32" y="10"/>
                </a:lnTo>
                <a:lnTo>
                  <a:pt x="32" y="11"/>
                </a:lnTo>
                <a:lnTo>
                  <a:pt x="31" y="11"/>
                </a:lnTo>
                <a:close/>
                <a:moveTo>
                  <a:pt x="0" y="11"/>
                </a:moveTo>
                <a:lnTo>
                  <a:pt x="1" y="11"/>
                </a:lnTo>
                <a:lnTo>
                  <a:pt x="1" y="12"/>
                </a:lnTo>
                <a:lnTo>
                  <a:pt x="0" y="12"/>
                </a:lnTo>
                <a:close/>
                <a:moveTo>
                  <a:pt x="1" y="11"/>
                </a:moveTo>
                <a:lnTo>
                  <a:pt x="2" y="11"/>
                </a:lnTo>
                <a:lnTo>
                  <a:pt x="2" y="12"/>
                </a:lnTo>
                <a:lnTo>
                  <a:pt x="1" y="12"/>
                </a:lnTo>
                <a:close/>
                <a:moveTo>
                  <a:pt x="2" y="11"/>
                </a:moveTo>
                <a:lnTo>
                  <a:pt x="3" y="11"/>
                </a:lnTo>
                <a:lnTo>
                  <a:pt x="3" y="12"/>
                </a:lnTo>
                <a:lnTo>
                  <a:pt x="2" y="12"/>
                </a:lnTo>
                <a:close/>
                <a:moveTo>
                  <a:pt x="3" y="11"/>
                </a:moveTo>
                <a:lnTo>
                  <a:pt x="4" y="11"/>
                </a:lnTo>
                <a:lnTo>
                  <a:pt x="4" y="12"/>
                </a:lnTo>
                <a:lnTo>
                  <a:pt x="3" y="12"/>
                </a:lnTo>
                <a:close/>
                <a:moveTo>
                  <a:pt x="8" y="11"/>
                </a:moveTo>
                <a:lnTo>
                  <a:pt x="9" y="11"/>
                </a:lnTo>
                <a:lnTo>
                  <a:pt x="9" y="12"/>
                </a:lnTo>
                <a:lnTo>
                  <a:pt x="8" y="12"/>
                </a:lnTo>
                <a:close/>
                <a:moveTo>
                  <a:pt x="10" y="11"/>
                </a:moveTo>
                <a:lnTo>
                  <a:pt x="11" y="11"/>
                </a:lnTo>
                <a:lnTo>
                  <a:pt x="11" y="12"/>
                </a:lnTo>
                <a:lnTo>
                  <a:pt x="10" y="12"/>
                </a:lnTo>
                <a:close/>
                <a:moveTo>
                  <a:pt x="11" y="11"/>
                </a:moveTo>
                <a:lnTo>
                  <a:pt x="12" y="11"/>
                </a:lnTo>
                <a:lnTo>
                  <a:pt x="12" y="12"/>
                </a:lnTo>
                <a:lnTo>
                  <a:pt x="11" y="12"/>
                </a:lnTo>
                <a:close/>
                <a:moveTo>
                  <a:pt x="14" y="11"/>
                </a:moveTo>
                <a:lnTo>
                  <a:pt x="15" y="11"/>
                </a:lnTo>
                <a:lnTo>
                  <a:pt x="15" y="12"/>
                </a:lnTo>
                <a:lnTo>
                  <a:pt x="14" y="12"/>
                </a:lnTo>
                <a:close/>
                <a:moveTo>
                  <a:pt x="19" y="11"/>
                </a:moveTo>
                <a:lnTo>
                  <a:pt x="20" y="11"/>
                </a:lnTo>
                <a:lnTo>
                  <a:pt x="20" y="12"/>
                </a:lnTo>
                <a:lnTo>
                  <a:pt x="19" y="12"/>
                </a:lnTo>
                <a:close/>
                <a:moveTo>
                  <a:pt x="21" y="11"/>
                </a:moveTo>
                <a:lnTo>
                  <a:pt x="22" y="11"/>
                </a:lnTo>
                <a:lnTo>
                  <a:pt x="22" y="12"/>
                </a:lnTo>
                <a:lnTo>
                  <a:pt x="21" y="12"/>
                </a:lnTo>
                <a:close/>
                <a:moveTo>
                  <a:pt x="22" y="11"/>
                </a:moveTo>
                <a:lnTo>
                  <a:pt x="23" y="11"/>
                </a:lnTo>
                <a:lnTo>
                  <a:pt x="23" y="12"/>
                </a:lnTo>
                <a:lnTo>
                  <a:pt x="22" y="12"/>
                </a:lnTo>
                <a:close/>
                <a:moveTo>
                  <a:pt x="24" y="11"/>
                </a:moveTo>
                <a:lnTo>
                  <a:pt x="25" y="11"/>
                </a:lnTo>
                <a:lnTo>
                  <a:pt x="25" y="12"/>
                </a:lnTo>
                <a:lnTo>
                  <a:pt x="24" y="12"/>
                </a:lnTo>
                <a:close/>
                <a:moveTo>
                  <a:pt x="26" y="11"/>
                </a:moveTo>
                <a:lnTo>
                  <a:pt x="27" y="11"/>
                </a:lnTo>
                <a:lnTo>
                  <a:pt x="27" y="12"/>
                </a:lnTo>
                <a:lnTo>
                  <a:pt x="26" y="12"/>
                </a:lnTo>
                <a:close/>
                <a:moveTo>
                  <a:pt x="28" y="11"/>
                </a:moveTo>
                <a:lnTo>
                  <a:pt x="29" y="11"/>
                </a:lnTo>
                <a:lnTo>
                  <a:pt x="29" y="12"/>
                </a:lnTo>
                <a:lnTo>
                  <a:pt x="28" y="12"/>
                </a:lnTo>
                <a:close/>
                <a:moveTo>
                  <a:pt x="29" y="11"/>
                </a:moveTo>
                <a:lnTo>
                  <a:pt x="30" y="11"/>
                </a:lnTo>
                <a:lnTo>
                  <a:pt x="30" y="12"/>
                </a:lnTo>
                <a:lnTo>
                  <a:pt x="29" y="12"/>
                </a:lnTo>
                <a:close/>
                <a:moveTo>
                  <a:pt x="30" y="11"/>
                </a:moveTo>
                <a:lnTo>
                  <a:pt x="31" y="11"/>
                </a:lnTo>
                <a:lnTo>
                  <a:pt x="31" y="12"/>
                </a:lnTo>
                <a:lnTo>
                  <a:pt x="30" y="12"/>
                </a:lnTo>
                <a:close/>
                <a:moveTo>
                  <a:pt x="31" y="11"/>
                </a:moveTo>
                <a:lnTo>
                  <a:pt x="32" y="11"/>
                </a:lnTo>
                <a:lnTo>
                  <a:pt x="32" y="12"/>
                </a:lnTo>
                <a:lnTo>
                  <a:pt x="31" y="12"/>
                </a:lnTo>
                <a:close/>
                <a:moveTo>
                  <a:pt x="1" y="12"/>
                </a:moveTo>
                <a:lnTo>
                  <a:pt x="2" y="12"/>
                </a:lnTo>
                <a:lnTo>
                  <a:pt x="2" y="13"/>
                </a:lnTo>
                <a:lnTo>
                  <a:pt x="1" y="13"/>
                </a:lnTo>
                <a:close/>
                <a:moveTo>
                  <a:pt x="2" y="12"/>
                </a:moveTo>
                <a:lnTo>
                  <a:pt x="3" y="12"/>
                </a:lnTo>
                <a:lnTo>
                  <a:pt x="3" y="13"/>
                </a:lnTo>
                <a:lnTo>
                  <a:pt x="2" y="13"/>
                </a:lnTo>
                <a:close/>
                <a:moveTo>
                  <a:pt x="4" y="12"/>
                </a:moveTo>
                <a:lnTo>
                  <a:pt x="5" y="12"/>
                </a:lnTo>
                <a:lnTo>
                  <a:pt x="5" y="13"/>
                </a:lnTo>
                <a:lnTo>
                  <a:pt x="4" y="13"/>
                </a:lnTo>
                <a:close/>
                <a:moveTo>
                  <a:pt x="6" y="12"/>
                </a:moveTo>
                <a:lnTo>
                  <a:pt x="7" y="12"/>
                </a:lnTo>
                <a:lnTo>
                  <a:pt x="7" y="13"/>
                </a:lnTo>
                <a:lnTo>
                  <a:pt x="6" y="13"/>
                </a:lnTo>
                <a:close/>
                <a:moveTo>
                  <a:pt x="8" y="12"/>
                </a:moveTo>
                <a:lnTo>
                  <a:pt x="9" y="12"/>
                </a:lnTo>
                <a:lnTo>
                  <a:pt x="9" y="13"/>
                </a:lnTo>
                <a:lnTo>
                  <a:pt x="8" y="13"/>
                </a:lnTo>
                <a:close/>
                <a:moveTo>
                  <a:pt x="10" y="12"/>
                </a:moveTo>
                <a:lnTo>
                  <a:pt x="11" y="12"/>
                </a:lnTo>
                <a:lnTo>
                  <a:pt x="11" y="13"/>
                </a:lnTo>
                <a:lnTo>
                  <a:pt x="10" y="13"/>
                </a:lnTo>
                <a:close/>
                <a:moveTo>
                  <a:pt x="18" y="12"/>
                </a:moveTo>
                <a:lnTo>
                  <a:pt x="19" y="12"/>
                </a:lnTo>
                <a:lnTo>
                  <a:pt x="19" y="13"/>
                </a:lnTo>
                <a:lnTo>
                  <a:pt x="18" y="13"/>
                </a:lnTo>
                <a:close/>
                <a:moveTo>
                  <a:pt x="21" y="12"/>
                </a:moveTo>
                <a:lnTo>
                  <a:pt x="22" y="12"/>
                </a:lnTo>
                <a:lnTo>
                  <a:pt x="22" y="13"/>
                </a:lnTo>
                <a:lnTo>
                  <a:pt x="21" y="13"/>
                </a:lnTo>
                <a:close/>
                <a:moveTo>
                  <a:pt x="23" y="12"/>
                </a:moveTo>
                <a:lnTo>
                  <a:pt x="24" y="12"/>
                </a:lnTo>
                <a:lnTo>
                  <a:pt x="24" y="13"/>
                </a:lnTo>
                <a:lnTo>
                  <a:pt x="23" y="13"/>
                </a:lnTo>
                <a:close/>
                <a:moveTo>
                  <a:pt x="25" y="12"/>
                </a:moveTo>
                <a:lnTo>
                  <a:pt x="26" y="12"/>
                </a:lnTo>
                <a:lnTo>
                  <a:pt x="26" y="13"/>
                </a:lnTo>
                <a:lnTo>
                  <a:pt x="25" y="13"/>
                </a:lnTo>
                <a:close/>
                <a:moveTo>
                  <a:pt x="28" y="12"/>
                </a:moveTo>
                <a:lnTo>
                  <a:pt x="29" y="12"/>
                </a:lnTo>
                <a:lnTo>
                  <a:pt x="29" y="13"/>
                </a:lnTo>
                <a:lnTo>
                  <a:pt x="28" y="13"/>
                </a:lnTo>
                <a:close/>
                <a:moveTo>
                  <a:pt x="29" y="12"/>
                </a:moveTo>
                <a:lnTo>
                  <a:pt x="30" y="12"/>
                </a:lnTo>
                <a:lnTo>
                  <a:pt x="30" y="13"/>
                </a:lnTo>
                <a:lnTo>
                  <a:pt x="29" y="13"/>
                </a:lnTo>
                <a:close/>
                <a:moveTo>
                  <a:pt x="31" y="12"/>
                </a:moveTo>
                <a:lnTo>
                  <a:pt x="32" y="12"/>
                </a:lnTo>
                <a:lnTo>
                  <a:pt x="32" y="13"/>
                </a:lnTo>
                <a:lnTo>
                  <a:pt x="31" y="13"/>
                </a:lnTo>
                <a:close/>
                <a:moveTo>
                  <a:pt x="32" y="12"/>
                </a:moveTo>
                <a:lnTo>
                  <a:pt x="33" y="12"/>
                </a:lnTo>
                <a:lnTo>
                  <a:pt x="33" y="13"/>
                </a:lnTo>
                <a:lnTo>
                  <a:pt x="32" y="13"/>
                </a:lnTo>
                <a:close/>
                <a:moveTo>
                  <a:pt x="0" y="13"/>
                </a:moveTo>
                <a:lnTo>
                  <a:pt x="1" y="13"/>
                </a:lnTo>
                <a:lnTo>
                  <a:pt x="1" y="14"/>
                </a:lnTo>
                <a:lnTo>
                  <a:pt x="0" y="14"/>
                </a:lnTo>
                <a:close/>
                <a:moveTo>
                  <a:pt x="2" y="13"/>
                </a:moveTo>
                <a:lnTo>
                  <a:pt x="3" y="13"/>
                </a:lnTo>
                <a:lnTo>
                  <a:pt x="3" y="14"/>
                </a:lnTo>
                <a:lnTo>
                  <a:pt x="2" y="14"/>
                </a:lnTo>
                <a:close/>
                <a:moveTo>
                  <a:pt x="5" y="13"/>
                </a:moveTo>
                <a:lnTo>
                  <a:pt x="6" y="13"/>
                </a:lnTo>
                <a:lnTo>
                  <a:pt x="6" y="14"/>
                </a:lnTo>
                <a:lnTo>
                  <a:pt x="5" y="14"/>
                </a:lnTo>
                <a:close/>
                <a:moveTo>
                  <a:pt x="7" y="13"/>
                </a:moveTo>
                <a:lnTo>
                  <a:pt x="8" y="13"/>
                </a:lnTo>
                <a:lnTo>
                  <a:pt x="8" y="14"/>
                </a:lnTo>
                <a:lnTo>
                  <a:pt x="7" y="14"/>
                </a:lnTo>
                <a:close/>
                <a:moveTo>
                  <a:pt x="8" y="13"/>
                </a:moveTo>
                <a:lnTo>
                  <a:pt x="9" y="13"/>
                </a:lnTo>
                <a:lnTo>
                  <a:pt x="9" y="14"/>
                </a:lnTo>
                <a:lnTo>
                  <a:pt x="8" y="14"/>
                </a:lnTo>
                <a:close/>
                <a:moveTo>
                  <a:pt x="13" y="13"/>
                </a:moveTo>
                <a:lnTo>
                  <a:pt x="14" y="13"/>
                </a:lnTo>
                <a:lnTo>
                  <a:pt x="14" y="14"/>
                </a:lnTo>
                <a:lnTo>
                  <a:pt x="13" y="14"/>
                </a:lnTo>
                <a:close/>
                <a:moveTo>
                  <a:pt x="14" y="13"/>
                </a:moveTo>
                <a:lnTo>
                  <a:pt x="15" y="13"/>
                </a:lnTo>
                <a:lnTo>
                  <a:pt x="15" y="14"/>
                </a:lnTo>
                <a:lnTo>
                  <a:pt x="14" y="14"/>
                </a:lnTo>
                <a:close/>
                <a:moveTo>
                  <a:pt x="15" y="13"/>
                </a:moveTo>
                <a:lnTo>
                  <a:pt x="16" y="13"/>
                </a:lnTo>
                <a:lnTo>
                  <a:pt x="16" y="14"/>
                </a:lnTo>
                <a:lnTo>
                  <a:pt x="15" y="14"/>
                </a:lnTo>
                <a:close/>
                <a:moveTo>
                  <a:pt x="16" y="13"/>
                </a:moveTo>
                <a:lnTo>
                  <a:pt x="17" y="13"/>
                </a:lnTo>
                <a:lnTo>
                  <a:pt x="17" y="14"/>
                </a:lnTo>
                <a:lnTo>
                  <a:pt x="16" y="14"/>
                </a:lnTo>
                <a:close/>
                <a:moveTo>
                  <a:pt x="17" y="13"/>
                </a:moveTo>
                <a:lnTo>
                  <a:pt x="18" y="13"/>
                </a:lnTo>
                <a:lnTo>
                  <a:pt x="18" y="14"/>
                </a:lnTo>
                <a:lnTo>
                  <a:pt x="17" y="14"/>
                </a:lnTo>
                <a:close/>
                <a:moveTo>
                  <a:pt x="20" y="13"/>
                </a:moveTo>
                <a:lnTo>
                  <a:pt x="21" y="13"/>
                </a:lnTo>
                <a:lnTo>
                  <a:pt x="21" y="14"/>
                </a:lnTo>
                <a:lnTo>
                  <a:pt x="20" y="14"/>
                </a:lnTo>
                <a:close/>
                <a:moveTo>
                  <a:pt x="22" y="13"/>
                </a:moveTo>
                <a:lnTo>
                  <a:pt x="23" y="13"/>
                </a:lnTo>
                <a:lnTo>
                  <a:pt x="23" y="14"/>
                </a:lnTo>
                <a:lnTo>
                  <a:pt x="22" y="14"/>
                </a:lnTo>
                <a:close/>
                <a:moveTo>
                  <a:pt x="23" y="13"/>
                </a:moveTo>
                <a:lnTo>
                  <a:pt x="24" y="13"/>
                </a:lnTo>
                <a:lnTo>
                  <a:pt x="24" y="14"/>
                </a:lnTo>
                <a:lnTo>
                  <a:pt x="23" y="14"/>
                </a:lnTo>
                <a:close/>
                <a:moveTo>
                  <a:pt x="26" y="13"/>
                </a:moveTo>
                <a:lnTo>
                  <a:pt x="27" y="13"/>
                </a:lnTo>
                <a:lnTo>
                  <a:pt x="27" y="14"/>
                </a:lnTo>
                <a:lnTo>
                  <a:pt x="26" y="14"/>
                </a:lnTo>
                <a:close/>
                <a:moveTo>
                  <a:pt x="29" y="13"/>
                </a:moveTo>
                <a:lnTo>
                  <a:pt x="30" y="13"/>
                </a:lnTo>
                <a:lnTo>
                  <a:pt x="30" y="14"/>
                </a:lnTo>
                <a:lnTo>
                  <a:pt x="29" y="14"/>
                </a:lnTo>
                <a:close/>
                <a:moveTo>
                  <a:pt x="31" y="13"/>
                </a:moveTo>
                <a:lnTo>
                  <a:pt x="32" y="13"/>
                </a:lnTo>
                <a:lnTo>
                  <a:pt x="32" y="14"/>
                </a:lnTo>
                <a:lnTo>
                  <a:pt x="31" y="14"/>
                </a:lnTo>
                <a:close/>
                <a:moveTo>
                  <a:pt x="32" y="13"/>
                </a:moveTo>
                <a:lnTo>
                  <a:pt x="33" y="13"/>
                </a:lnTo>
                <a:lnTo>
                  <a:pt x="33" y="14"/>
                </a:lnTo>
                <a:lnTo>
                  <a:pt x="32" y="14"/>
                </a:lnTo>
                <a:close/>
                <a:moveTo>
                  <a:pt x="0" y="14"/>
                </a:moveTo>
                <a:lnTo>
                  <a:pt x="1" y="14"/>
                </a:lnTo>
                <a:lnTo>
                  <a:pt x="1" y="15"/>
                </a:lnTo>
                <a:lnTo>
                  <a:pt x="0" y="15"/>
                </a:lnTo>
                <a:close/>
                <a:moveTo>
                  <a:pt x="2" y="14"/>
                </a:moveTo>
                <a:lnTo>
                  <a:pt x="3" y="14"/>
                </a:lnTo>
                <a:lnTo>
                  <a:pt x="3" y="15"/>
                </a:lnTo>
                <a:lnTo>
                  <a:pt x="2" y="15"/>
                </a:lnTo>
                <a:close/>
                <a:moveTo>
                  <a:pt x="3" y="14"/>
                </a:moveTo>
                <a:lnTo>
                  <a:pt x="4" y="14"/>
                </a:lnTo>
                <a:lnTo>
                  <a:pt x="4" y="15"/>
                </a:lnTo>
                <a:lnTo>
                  <a:pt x="3" y="15"/>
                </a:lnTo>
                <a:close/>
                <a:moveTo>
                  <a:pt x="6" y="14"/>
                </a:moveTo>
                <a:lnTo>
                  <a:pt x="7" y="14"/>
                </a:lnTo>
                <a:lnTo>
                  <a:pt x="7" y="15"/>
                </a:lnTo>
                <a:lnTo>
                  <a:pt x="6" y="15"/>
                </a:lnTo>
                <a:close/>
                <a:moveTo>
                  <a:pt x="7" y="14"/>
                </a:moveTo>
                <a:lnTo>
                  <a:pt x="8" y="14"/>
                </a:lnTo>
                <a:lnTo>
                  <a:pt x="8" y="15"/>
                </a:lnTo>
                <a:lnTo>
                  <a:pt x="7" y="15"/>
                </a:lnTo>
                <a:close/>
                <a:moveTo>
                  <a:pt x="12" y="14"/>
                </a:moveTo>
                <a:lnTo>
                  <a:pt x="13" y="14"/>
                </a:lnTo>
                <a:lnTo>
                  <a:pt x="13" y="15"/>
                </a:lnTo>
                <a:lnTo>
                  <a:pt x="12" y="15"/>
                </a:lnTo>
                <a:close/>
                <a:moveTo>
                  <a:pt x="13" y="14"/>
                </a:moveTo>
                <a:lnTo>
                  <a:pt x="14" y="14"/>
                </a:lnTo>
                <a:lnTo>
                  <a:pt x="14" y="15"/>
                </a:lnTo>
                <a:lnTo>
                  <a:pt x="13" y="15"/>
                </a:lnTo>
                <a:close/>
                <a:moveTo>
                  <a:pt x="19" y="14"/>
                </a:moveTo>
                <a:lnTo>
                  <a:pt x="20" y="14"/>
                </a:lnTo>
                <a:lnTo>
                  <a:pt x="20" y="15"/>
                </a:lnTo>
                <a:lnTo>
                  <a:pt x="19" y="15"/>
                </a:lnTo>
                <a:close/>
                <a:moveTo>
                  <a:pt x="22" y="14"/>
                </a:moveTo>
                <a:lnTo>
                  <a:pt x="23" y="14"/>
                </a:lnTo>
                <a:lnTo>
                  <a:pt x="23" y="15"/>
                </a:lnTo>
                <a:lnTo>
                  <a:pt x="22" y="15"/>
                </a:lnTo>
                <a:close/>
                <a:moveTo>
                  <a:pt x="25" y="14"/>
                </a:moveTo>
                <a:lnTo>
                  <a:pt x="26" y="14"/>
                </a:lnTo>
                <a:lnTo>
                  <a:pt x="26" y="15"/>
                </a:lnTo>
                <a:lnTo>
                  <a:pt x="25" y="15"/>
                </a:lnTo>
                <a:close/>
                <a:moveTo>
                  <a:pt x="26" y="14"/>
                </a:moveTo>
                <a:lnTo>
                  <a:pt x="27" y="14"/>
                </a:lnTo>
                <a:lnTo>
                  <a:pt x="27" y="15"/>
                </a:lnTo>
                <a:lnTo>
                  <a:pt x="26" y="15"/>
                </a:lnTo>
                <a:close/>
                <a:moveTo>
                  <a:pt x="28" y="14"/>
                </a:moveTo>
                <a:lnTo>
                  <a:pt x="29" y="14"/>
                </a:lnTo>
                <a:lnTo>
                  <a:pt x="29" y="15"/>
                </a:lnTo>
                <a:lnTo>
                  <a:pt x="28" y="15"/>
                </a:lnTo>
                <a:close/>
                <a:moveTo>
                  <a:pt x="29" y="14"/>
                </a:moveTo>
                <a:lnTo>
                  <a:pt x="30" y="14"/>
                </a:lnTo>
                <a:lnTo>
                  <a:pt x="30" y="15"/>
                </a:lnTo>
                <a:lnTo>
                  <a:pt x="29" y="15"/>
                </a:lnTo>
                <a:close/>
                <a:moveTo>
                  <a:pt x="30" y="14"/>
                </a:moveTo>
                <a:lnTo>
                  <a:pt x="31" y="14"/>
                </a:lnTo>
                <a:lnTo>
                  <a:pt x="31" y="15"/>
                </a:lnTo>
                <a:lnTo>
                  <a:pt x="30" y="15"/>
                </a:lnTo>
                <a:close/>
                <a:moveTo>
                  <a:pt x="31" y="14"/>
                </a:moveTo>
                <a:lnTo>
                  <a:pt x="32" y="14"/>
                </a:lnTo>
                <a:lnTo>
                  <a:pt x="32" y="15"/>
                </a:lnTo>
                <a:lnTo>
                  <a:pt x="31" y="15"/>
                </a:lnTo>
                <a:close/>
                <a:moveTo>
                  <a:pt x="0" y="15"/>
                </a:move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close/>
                <a:moveTo>
                  <a:pt x="2" y="15"/>
                </a:moveTo>
                <a:lnTo>
                  <a:pt x="3" y="15"/>
                </a:lnTo>
                <a:lnTo>
                  <a:pt x="3" y="16"/>
                </a:lnTo>
                <a:lnTo>
                  <a:pt x="2" y="16"/>
                </a:lnTo>
                <a:close/>
                <a:moveTo>
                  <a:pt x="5" y="15"/>
                </a:moveTo>
                <a:lnTo>
                  <a:pt x="6" y="15"/>
                </a:lnTo>
                <a:lnTo>
                  <a:pt x="6" y="16"/>
                </a:lnTo>
                <a:lnTo>
                  <a:pt x="5" y="16"/>
                </a:lnTo>
                <a:close/>
                <a:moveTo>
                  <a:pt x="9" y="15"/>
                </a:moveTo>
                <a:lnTo>
                  <a:pt x="10" y="15"/>
                </a:lnTo>
                <a:lnTo>
                  <a:pt x="10" y="16"/>
                </a:lnTo>
                <a:lnTo>
                  <a:pt x="9" y="16"/>
                </a:lnTo>
                <a:close/>
                <a:moveTo>
                  <a:pt x="10" y="15"/>
                </a:moveTo>
                <a:lnTo>
                  <a:pt x="11" y="15"/>
                </a:lnTo>
                <a:lnTo>
                  <a:pt x="11" y="16"/>
                </a:lnTo>
                <a:lnTo>
                  <a:pt x="10" y="16"/>
                </a:lnTo>
                <a:close/>
                <a:moveTo>
                  <a:pt x="12" y="15"/>
                </a:moveTo>
                <a:lnTo>
                  <a:pt x="13" y="15"/>
                </a:lnTo>
                <a:lnTo>
                  <a:pt x="13" y="16"/>
                </a:lnTo>
                <a:lnTo>
                  <a:pt x="12" y="16"/>
                </a:lnTo>
                <a:close/>
                <a:moveTo>
                  <a:pt x="13" y="15"/>
                </a:moveTo>
                <a:lnTo>
                  <a:pt x="14" y="15"/>
                </a:lnTo>
                <a:lnTo>
                  <a:pt x="14" y="16"/>
                </a:lnTo>
                <a:lnTo>
                  <a:pt x="13" y="16"/>
                </a:lnTo>
                <a:close/>
                <a:moveTo>
                  <a:pt x="14" y="15"/>
                </a:moveTo>
                <a:lnTo>
                  <a:pt x="15" y="15"/>
                </a:lnTo>
                <a:lnTo>
                  <a:pt x="15" y="16"/>
                </a:lnTo>
                <a:lnTo>
                  <a:pt x="14" y="16"/>
                </a:lnTo>
                <a:close/>
                <a:moveTo>
                  <a:pt x="16" y="15"/>
                </a:moveTo>
                <a:lnTo>
                  <a:pt x="17" y="15"/>
                </a:lnTo>
                <a:lnTo>
                  <a:pt x="17" y="16"/>
                </a:lnTo>
                <a:lnTo>
                  <a:pt x="16" y="16"/>
                </a:lnTo>
                <a:close/>
                <a:moveTo>
                  <a:pt x="18" y="15"/>
                </a:moveTo>
                <a:lnTo>
                  <a:pt x="19" y="15"/>
                </a:lnTo>
                <a:lnTo>
                  <a:pt x="19" y="16"/>
                </a:lnTo>
                <a:lnTo>
                  <a:pt x="18" y="16"/>
                </a:lnTo>
                <a:close/>
                <a:moveTo>
                  <a:pt x="19" y="15"/>
                </a:moveTo>
                <a:lnTo>
                  <a:pt x="20" y="15"/>
                </a:lnTo>
                <a:lnTo>
                  <a:pt x="20" y="16"/>
                </a:lnTo>
                <a:lnTo>
                  <a:pt x="19" y="16"/>
                </a:lnTo>
                <a:close/>
                <a:moveTo>
                  <a:pt x="20" y="15"/>
                </a:moveTo>
                <a:lnTo>
                  <a:pt x="21" y="15"/>
                </a:lnTo>
                <a:lnTo>
                  <a:pt x="21" y="16"/>
                </a:lnTo>
                <a:lnTo>
                  <a:pt x="20" y="16"/>
                </a:lnTo>
                <a:close/>
                <a:moveTo>
                  <a:pt x="21" y="15"/>
                </a:moveTo>
                <a:lnTo>
                  <a:pt x="22" y="15"/>
                </a:lnTo>
                <a:lnTo>
                  <a:pt x="22" y="16"/>
                </a:lnTo>
                <a:lnTo>
                  <a:pt x="21" y="16"/>
                </a:lnTo>
                <a:close/>
                <a:moveTo>
                  <a:pt x="23" y="15"/>
                </a:moveTo>
                <a:lnTo>
                  <a:pt x="24" y="15"/>
                </a:lnTo>
                <a:lnTo>
                  <a:pt x="24" y="16"/>
                </a:lnTo>
                <a:lnTo>
                  <a:pt x="23" y="16"/>
                </a:lnTo>
                <a:close/>
                <a:moveTo>
                  <a:pt x="25" y="15"/>
                </a:moveTo>
                <a:lnTo>
                  <a:pt x="26" y="15"/>
                </a:lnTo>
                <a:lnTo>
                  <a:pt x="26" y="16"/>
                </a:lnTo>
                <a:lnTo>
                  <a:pt x="25" y="16"/>
                </a:lnTo>
                <a:close/>
                <a:moveTo>
                  <a:pt x="26" y="15"/>
                </a:moveTo>
                <a:lnTo>
                  <a:pt x="27" y="15"/>
                </a:lnTo>
                <a:lnTo>
                  <a:pt x="27" y="16"/>
                </a:lnTo>
                <a:lnTo>
                  <a:pt x="26" y="16"/>
                </a:lnTo>
                <a:close/>
                <a:moveTo>
                  <a:pt x="28" y="15"/>
                </a:moveTo>
                <a:lnTo>
                  <a:pt x="29" y="15"/>
                </a:lnTo>
                <a:lnTo>
                  <a:pt x="29" y="16"/>
                </a:lnTo>
                <a:lnTo>
                  <a:pt x="28" y="16"/>
                </a:lnTo>
                <a:close/>
                <a:moveTo>
                  <a:pt x="29" y="15"/>
                </a:moveTo>
                <a:lnTo>
                  <a:pt x="30" y="15"/>
                </a:lnTo>
                <a:lnTo>
                  <a:pt x="30" y="16"/>
                </a:lnTo>
                <a:lnTo>
                  <a:pt x="29" y="16"/>
                </a:lnTo>
                <a:close/>
                <a:moveTo>
                  <a:pt x="30" y="15"/>
                </a:moveTo>
                <a:lnTo>
                  <a:pt x="31" y="15"/>
                </a:lnTo>
                <a:lnTo>
                  <a:pt x="31" y="16"/>
                </a:lnTo>
                <a:lnTo>
                  <a:pt x="30" y="16"/>
                </a:lnTo>
                <a:close/>
                <a:moveTo>
                  <a:pt x="0" y="16"/>
                </a:moveTo>
                <a:lnTo>
                  <a:pt x="1" y="16"/>
                </a:lnTo>
                <a:lnTo>
                  <a:pt x="1" y="17"/>
                </a:lnTo>
                <a:lnTo>
                  <a:pt x="0" y="17"/>
                </a:lnTo>
                <a:close/>
                <a:moveTo>
                  <a:pt x="1" y="16"/>
                </a:moveTo>
                <a:lnTo>
                  <a:pt x="2" y="16"/>
                </a:lnTo>
                <a:lnTo>
                  <a:pt x="2" y="17"/>
                </a:lnTo>
                <a:lnTo>
                  <a:pt x="1" y="17"/>
                </a:lnTo>
                <a:close/>
                <a:moveTo>
                  <a:pt x="3" y="16"/>
                </a:moveTo>
                <a:lnTo>
                  <a:pt x="4" y="16"/>
                </a:lnTo>
                <a:lnTo>
                  <a:pt x="4" y="17"/>
                </a:lnTo>
                <a:lnTo>
                  <a:pt x="3" y="17"/>
                </a:lnTo>
                <a:close/>
                <a:moveTo>
                  <a:pt x="5" y="16"/>
                </a:moveTo>
                <a:lnTo>
                  <a:pt x="6" y="16"/>
                </a:lnTo>
                <a:lnTo>
                  <a:pt x="6" y="17"/>
                </a:lnTo>
                <a:lnTo>
                  <a:pt x="5" y="17"/>
                </a:lnTo>
                <a:close/>
                <a:moveTo>
                  <a:pt x="6" y="16"/>
                </a:moveTo>
                <a:lnTo>
                  <a:pt x="7" y="16"/>
                </a:lnTo>
                <a:lnTo>
                  <a:pt x="7" y="17"/>
                </a:lnTo>
                <a:lnTo>
                  <a:pt x="6" y="17"/>
                </a:lnTo>
                <a:close/>
                <a:moveTo>
                  <a:pt x="10" y="16"/>
                </a:moveTo>
                <a:lnTo>
                  <a:pt x="11" y="16"/>
                </a:lnTo>
                <a:lnTo>
                  <a:pt x="11" y="17"/>
                </a:lnTo>
                <a:lnTo>
                  <a:pt x="10" y="17"/>
                </a:lnTo>
                <a:close/>
                <a:moveTo>
                  <a:pt x="12" y="16"/>
                </a:moveTo>
                <a:lnTo>
                  <a:pt x="13" y="16"/>
                </a:lnTo>
                <a:lnTo>
                  <a:pt x="13" y="17"/>
                </a:lnTo>
                <a:lnTo>
                  <a:pt x="12" y="17"/>
                </a:lnTo>
                <a:close/>
                <a:moveTo>
                  <a:pt x="13" y="16"/>
                </a:moveTo>
                <a:lnTo>
                  <a:pt x="14" y="16"/>
                </a:lnTo>
                <a:lnTo>
                  <a:pt x="14" y="17"/>
                </a:lnTo>
                <a:lnTo>
                  <a:pt x="13" y="17"/>
                </a:lnTo>
                <a:close/>
                <a:moveTo>
                  <a:pt x="17" y="16"/>
                </a:moveTo>
                <a:lnTo>
                  <a:pt x="18" y="16"/>
                </a:lnTo>
                <a:lnTo>
                  <a:pt x="18" y="17"/>
                </a:lnTo>
                <a:lnTo>
                  <a:pt x="17" y="17"/>
                </a:lnTo>
                <a:close/>
                <a:moveTo>
                  <a:pt x="19" y="16"/>
                </a:moveTo>
                <a:lnTo>
                  <a:pt x="20" y="16"/>
                </a:lnTo>
                <a:lnTo>
                  <a:pt x="20" y="17"/>
                </a:lnTo>
                <a:lnTo>
                  <a:pt x="19" y="17"/>
                </a:lnTo>
                <a:close/>
                <a:moveTo>
                  <a:pt x="22" y="16"/>
                </a:moveTo>
                <a:lnTo>
                  <a:pt x="23" y="16"/>
                </a:lnTo>
                <a:lnTo>
                  <a:pt x="23" y="17"/>
                </a:lnTo>
                <a:lnTo>
                  <a:pt x="22" y="17"/>
                </a:lnTo>
                <a:close/>
                <a:moveTo>
                  <a:pt x="23" y="16"/>
                </a:moveTo>
                <a:lnTo>
                  <a:pt x="24" y="16"/>
                </a:lnTo>
                <a:lnTo>
                  <a:pt x="24" y="17"/>
                </a:lnTo>
                <a:lnTo>
                  <a:pt x="23" y="17"/>
                </a:lnTo>
                <a:close/>
                <a:moveTo>
                  <a:pt x="24" y="16"/>
                </a:moveTo>
                <a:lnTo>
                  <a:pt x="25" y="16"/>
                </a:lnTo>
                <a:lnTo>
                  <a:pt x="25" y="17"/>
                </a:lnTo>
                <a:lnTo>
                  <a:pt x="24" y="17"/>
                </a:lnTo>
                <a:close/>
                <a:moveTo>
                  <a:pt x="25" y="16"/>
                </a:moveTo>
                <a:lnTo>
                  <a:pt x="26" y="16"/>
                </a:lnTo>
                <a:lnTo>
                  <a:pt x="26" y="17"/>
                </a:lnTo>
                <a:lnTo>
                  <a:pt x="25" y="17"/>
                </a:lnTo>
                <a:close/>
                <a:moveTo>
                  <a:pt x="27" y="16"/>
                </a:moveTo>
                <a:lnTo>
                  <a:pt x="28" y="16"/>
                </a:lnTo>
                <a:lnTo>
                  <a:pt x="28" y="17"/>
                </a:lnTo>
                <a:lnTo>
                  <a:pt x="27" y="17"/>
                </a:lnTo>
                <a:close/>
                <a:moveTo>
                  <a:pt x="28" y="16"/>
                </a:moveTo>
                <a:lnTo>
                  <a:pt x="29" y="16"/>
                </a:lnTo>
                <a:lnTo>
                  <a:pt x="29" y="17"/>
                </a:lnTo>
                <a:lnTo>
                  <a:pt x="28" y="17"/>
                </a:lnTo>
                <a:close/>
                <a:moveTo>
                  <a:pt x="32" y="16"/>
                </a:moveTo>
                <a:lnTo>
                  <a:pt x="33" y="16"/>
                </a:lnTo>
                <a:lnTo>
                  <a:pt x="33" y="17"/>
                </a:lnTo>
                <a:lnTo>
                  <a:pt x="32" y="17"/>
                </a:lnTo>
                <a:close/>
                <a:moveTo>
                  <a:pt x="1" y="17"/>
                </a:moveTo>
                <a:lnTo>
                  <a:pt x="2" y="17"/>
                </a:lnTo>
                <a:lnTo>
                  <a:pt x="2" y="18"/>
                </a:lnTo>
                <a:lnTo>
                  <a:pt x="1" y="18"/>
                </a:lnTo>
                <a:close/>
                <a:moveTo>
                  <a:pt x="7" y="17"/>
                </a:moveTo>
                <a:lnTo>
                  <a:pt x="8" y="17"/>
                </a:lnTo>
                <a:lnTo>
                  <a:pt x="8" y="18"/>
                </a:lnTo>
                <a:lnTo>
                  <a:pt x="7" y="18"/>
                </a:lnTo>
                <a:close/>
                <a:moveTo>
                  <a:pt x="8" y="17"/>
                </a:moveTo>
                <a:lnTo>
                  <a:pt x="9" y="17"/>
                </a:lnTo>
                <a:lnTo>
                  <a:pt x="9" y="18"/>
                </a:lnTo>
                <a:lnTo>
                  <a:pt x="8" y="18"/>
                </a:lnTo>
                <a:close/>
                <a:moveTo>
                  <a:pt x="9" y="17"/>
                </a:moveTo>
                <a:lnTo>
                  <a:pt x="10" y="17"/>
                </a:lnTo>
                <a:lnTo>
                  <a:pt x="10" y="18"/>
                </a:lnTo>
                <a:lnTo>
                  <a:pt x="9" y="18"/>
                </a:lnTo>
                <a:close/>
                <a:moveTo>
                  <a:pt x="11" y="17"/>
                </a:moveTo>
                <a:lnTo>
                  <a:pt x="12" y="17"/>
                </a:lnTo>
                <a:lnTo>
                  <a:pt x="12" y="18"/>
                </a:lnTo>
                <a:lnTo>
                  <a:pt x="11" y="18"/>
                </a:lnTo>
                <a:close/>
                <a:moveTo>
                  <a:pt x="12" y="17"/>
                </a:moveTo>
                <a:lnTo>
                  <a:pt x="13" y="17"/>
                </a:lnTo>
                <a:lnTo>
                  <a:pt x="13" y="18"/>
                </a:lnTo>
                <a:lnTo>
                  <a:pt x="12" y="18"/>
                </a:lnTo>
                <a:close/>
                <a:moveTo>
                  <a:pt x="14" y="17"/>
                </a:moveTo>
                <a:lnTo>
                  <a:pt x="15" y="17"/>
                </a:lnTo>
                <a:lnTo>
                  <a:pt x="15" y="18"/>
                </a:lnTo>
                <a:lnTo>
                  <a:pt x="14" y="18"/>
                </a:lnTo>
                <a:close/>
                <a:moveTo>
                  <a:pt x="16" y="17"/>
                </a:moveTo>
                <a:lnTo>
                  <a:pt x="17" y="17"/>
                </a:lnTo>
                <a:lnTo>
                  <a:pt x="17" y="18"/>
                </a:lnTo>
                <a:lnTo>
                  <a:pt x="16" y="18"/>
                </a:lnTo>
                <a:close/>
                <a:moveTo>
                  <a:pt x="17" y="17"/>
                </a:moveTo>
                <a:lnTo>
                  <a:pt x="18" y="17"/>
                </a:lnTo>
                <a:lnTo>
                  <a:pt x="18" y="18"/>
                </a:lnTo>
                <a:lnTo>
                  <a:pt x="17" y="18"/>
                </a:lnTo>
                <a:close/>
                <a:moveTo>
                  <a:pt x="18" y="17"/>
                </a:moveTo>
                <a:lnTo>
                  <a:pt x="19" y="17"/>
                </a:lnTo>
                <a:lnTo>
                  <a:pt x="19" y="18"/>
                </a:lnTo>
                <a:lnTo>
                  <a:pt x="18" y="18"/>
                </a:lnTo>
                <a:close/>
                <a:moveTo>
                  <a:pt x="19" y="17"/>
                </a:moveTo>
                <a:lnTo>
                  <a:pt x="20" y="17"/>
                </a:lnTo>
                <a:lnTo>
                  <a:pt x="20" y="18"/>
                </a:lnTo>
                <a:lnTo>
                  <a:pt x="19" y="18"/>
                </a:lnTo>
                <a:close/>
                <a:moveTo>
                  <a:pt x="20" y="17"/>
                </a:moveTo>
                <a:lnTo>
                  <a:pt x="21" y="17"/>
                </a:lnTo>
                <a:lnTo>
                  <a:pt x="21" y="18"/>
                </a:lnTo>
                <a:lnTo>
                  <a:pt x="20" y="18"/>
                </a:lnTo>
                <a:close/>
                <a:moveTo>
                  <a:pt x="23" y="17"/>
                </a:moveTo>
                <a:lnTo>
                  <a:pt x="24" y="17"/>
                </a:lnTo>
                <a:lnTo>
                  <a:pt x="24" y="18"/>
                </a:lnTo>
                <a:lnTo>
                  <a:pt x="23" y="18"/>
                </a:lnTo>
                <a:close/>
                <a:moveTo>
                  <a:pt x="26" y="17"/>
                </a:moveTo>
                <a:lnTo>
                  <a:pt x="27" y="17"/>
                </a:lnTo>
                <a:lnTo>
                  <a:pt x="27" y="18"/>
                </a:lnTo>
                <a:lnTo>
                  <a:pt x="26" y="18"/>
                </a:lnTo>
                <a:close/>
                <a:moveTo>
                  <a:pt x="27" y="17"/>
                </a:moveTo>
                <a:lnTo>
                  <a:pt x="28" y="17"/>
                </a:lnTo>
                <a:lnTo>
                  <a:pt x="28" y="18"/>
                </a:lnTo>
                <a:lnTo>
                  <a:pt x="27" y="18"/>
                </a:lnTo>
                <a:close/>
                <a:moveTo>
                  <a:pt x="29" y="17"/>
                </a:moveTo>
                <a:lnTo>
                  <a:pt x="30" y="17"/>
                </a:lnTo>
                <a:lnTo>
                  <a:pt x="30" y="18"/>
                </a:lnTo>
                <a:lnTo>
                  <a:pt x="29" y="18"/>
                </a:lnTo>
                <a:close/>
                <a:moveTo>
                  <a:pt x="30" y="17"/>
                </a:moveTo>
                <a:lnTo>
                  <a:pt x="31" y="17"/>
                </a:lnTo>
                <a:lnTo>
                  <a:pt x="31" y="18"/>
                </a:lnTo>
                <a:lnTo>
                  <a:pt x="30" y="18"/>
                </a:lnTo>
                <a:close/>
                <a:moveTo>
                  <a:pt x="32" y="17"/>
                </a:moveTo>
                <a:lnTo>
                  <a:pt x="33" y="17"/>
                </a:lnTo>
                <a:lnTo>
                  <a:pt x="33" y="18"/>
                </a:lnTo>
                <a:lnTo>
                  <a:pt x="32" y="18"/>
                </a:lnTo>
                <a:close/>
                <a:moveTo>
                  <a:pt x="1" y="18"/>
                </a:moveTo>
                <a:lnTo>
                  <a:pt x="2" y="18"/>
                </a:lnTo>
                <a:lnTo>
                  <a:pt x="2" y="19"/>
                </a:lnTo>
                <a:lnTo>
                  <a:pt x="1" y="19"/>
                </a:lnTo>
                <a:close/>
                <a:moveTo>
                  <a:pt x="3" y="18"/>
                </a:moveTo>
                <a:lnTo>
                  <a:pt x="4" y="18"/>
                </a:lnTo>
                <a:lnTo>
                  <a:pt x="4" y="19"/>
                </a:lnTo>
                <a:lnTo>
                  <a:pt x="3" y="19"/>
                </a:lnTo>
                <a:close/>
                <a:moveTo>
                  <a:pt x="4" y="18"/>
                </a:moveTo>
                <a:lnTo>
                  <a:pt x="5" y="18"/>
                </a:lnTo>
                <a:lnTo>
                  <a:pt x="5" y="19"/>
                </a:lnTo>
                <a:lnTo>
                  <a:pt x="4" y="19"/>
                </a:lnTo>
                <a:close/>
                <a:moveTo>
                  <a:pt x="6" y="18"/>
                </a:moveTo>
                <a:lnTo>
                  <a:pt x="7" y="18"/>
                </a:lnTo>
                <a:lnTo>
                  <a:pt x="7" y="19"/>
                </a:lnTo>
                <a:lnTo>
                  <a:pt x="6" y="19"/>
                </a:lnTo>
                <a:close/>
                <a:moveTo>
                  <a:pt x="7" y="18"/>
                </a:moveTo>
                <a:lnTo>
                  <a:pt x="8" y="18"/>
                </a:lnTo>
                <a:lnTo>
                  <a:pt x="8" y="19"/>
                </a:lnTo>
                <a:lnTo>
                  <a:pt x="7" y="19"/>
                </a:lnTo>
                <a:close/>
                <a:moveTo>
                  <a:pt x="8" y="18"/>
                </a:moveTo>
                <a:lnTo>
                  <a:pt x="9" y="18"/>
                </a:lnTo>
                <a:lnTo>
                  <a:pt x="9" y="19"/>
                </a:lnTo>
                <a:lnTo>
                  <a:pt x="8" y="19"/>
                </a:lnTo>
                <a:close/>
                <a:moveTo>
                  <a:pt x="9" y="18"/>
                </a:moveTo>
                <a:lnTo>
                  <a:pt x="10" y="18"/>
                </a:lnTo>
                <a:lnTo>
                  <a:pt x="10" y="19"/>
                </a:lnTo>
                <a:lnTo>
                  <a:pt x="9" y="19"/>
                </a:lnTo>
                <a:close/>
                <a:moveTo>
                  <a:pt x="10" y="18"/>
                </a:moveTo>
                <a:lnTo>
                  <a:pt x="11" y="18"/>
                </a:lnTo>
                <a:lnTo>
                  <a:pt x="11" y="19"/>
                </a:lnTo>
                <a:lnTo>
                  <a:pt x="10" y="19"/>
                </a:lnTo>
                <a:close/>
                <a:moveTo>
                  <a:pt x="12" y="18"/>
                </a:moveTo>
                <a:lnTo>
                  <a:pt x="13" y="18"/>
                </a:lnTo>
                <a:lnTo>
                  <a:pt x="13" y="19"/>
                </a:lnTo>
                <a:lnTo>
                  <a:pt x="12" y="19"/>
                </a:lnTo>
                <a:close/>
                <a:moveTo>
                  <a:pt x="15" y="18"/>
                </a:moveTo>
                <a:lnTo>
                  <a:pt x="16" y="18"/>
                </a:lnTo>
                <a:lnTo>
                  <a:pt x="16" y="19"/>
                </a:lnTo>
                <a:lnTo>
                  <a:pt x="15" y="19"/>
                </a:lnTo>
                <a:close/>
                <a:moveTo>
                  <a:pt x="17" y="18"/>
                </a:moveTo>
                <a:lnTo>
                  <a:pt x="18" y="18"/>
                </a:lnTo>
                <a:lnTo>
                  <a:pt x="18" y="19"/>
                </a:lnTo>
                <a:lnTo>
                  <a:pt x="17" y="19"/>
                </a:lnTo>
                <a:close/>
                <a:moveTo>
                  <a:pt x="20" y="18"/>
                </a:moveTo>
                <a:lnTo>
                  <a:pt x="21" y="18"/>
                </a:lnTo>
                <a:lnTo>
                  <a:pt x="21" y="19"/>
                </a:lnTo>
                <a:lnTo>
                  <a:pt x="20" y="19"/>
                </a:lnTo>
                <a:close/>
                <a:moveTo>
                  <a:pt x="22" y="18"/>
                </a:moveTo>
                <a:lnTo>
                  <a:pt x="23" y="18"/>
                </a:lnTo>
                <a:lnTo>
                  <a:pt x="23" y="19"/>
                </a:lnTo>
                <a:lnTo>
                  <a:pt x="22" y="19"/>
                </a:lnTo>
                <a:close/>
                <a:moveTo>
                  <a:pt x="24" y="18"/>
                </a:moveTo>
                <a:lnTo>
                  <a:pt x="25" y="18"/>
                </a:lnTo>
                <a:lnTo>
                  <a:pt x="25" y="19"/>
                </a:lnTo>
                <a:lnTo>
                  <a:pt x="24" y="19"/>
                </a:lnTo>
                <a:close/>
                <a:moveTo>
                  <a:pt x="26" y="18"/>
                </a:moveTo>
                <a:lnTo>
                  <a:pt x="27" y="18"/>
                </a:lnTo>
                <a:lnTo>
                  <a:pt x="27" y="19"/>
                </a:lnTo>
                <a:lnTo>
                  <a:pt x="26" y="19"/>
                </a:lnTo>
                <a:close/>
                <a:moveTo>
                  <a:pt x="27" y="18"/>
                </a:moveTo>
                <a:lnTo>
                  <a:pt x="28" y="18"/>
                </a:lnTo>
                <a:lnTo>
                  <a:pt x="28" y="19"/>
                </a:lnTo>
                <a:lnTo>
                  <a:pt x="27" y="19"/>
                </a:lnTo>
                <a:close/>
                <a:moveTo>
                  <a:pt x="28" y="18"/>
                </a:moveTo>
                <a:lnTo>
                  <a:pt x="29" y="18"/>
                </a:lnTo>
                <a:lnTo>
                  <a:pt x="29" y="19"/>
                </a:lnTo>
                <a:lnTo>
                  <a:pt x="28" y="19"/>
                </a:lnTo>
                <a:close/>
                <a:moveTo>
                  <a:pt x="30" y="18"/>
                </a:moveTo>
                <a:lnTo>
                  <a:pt x="31" y="18"/>
                </a:lnTo>
                <a:lnTo>
                  <a:pt x="31" y="19"/>
                </a:lnTo>
                <a:lnTo>
                  <a:pt x="30" y="19"/>
                </a:lnTo>
                <a:close/>
                <a:moveTo>
                  <a:pt x="31" y="18"/>
                </a:moveTo>
                <a:lnTo>
                  <a:pt x="32" y="18"/>
                </a:lnTo>
                <a:lnTo>
                  <a:pt x="32" y="19"/>
                </a:lnTo>
                <a:lnTo>
                  <a:pt x="31" y="19"/>
                </a:lnTo>
                <a:close/>
                <a:moveTo>
                  <a:pt x="2" y="19"/>
                </a:moveTo>
                <a:lnTo>
                  <a:pt x="3" y="19"/>
                </a:lnTo>
                <a:lnTo>
                  <a:pt x="3" y="20"/>
                </a:lnTo>
                <a:lnTo>
                  <a:pt x="2" y="20"/>
                </a:lnTo>
                <a:close/>
                <a:moveTo>
                  <a:pt x="3" y="19"/>
                </a:moveTo>
                <a:lnTo>
                  <a:pt x="4" y="19"/>
                </a:lnTo>
                <a:lnTo>
                  <a:pt x="4" y="20"/>
                </a:lnTo>
                <a:lnTo>
                  <a:pt x="3" y="20"/>
                </a:lnTo>
                <a:close/>
                <a:moveTo>
                  <a:pt x="4" y="19"/>
                </a:moveTo>
                <a:lnTo>
                  <a:pt x="5" y="19"/>
                </a:lnTo>
                <a:lnTo>
                  <a:pt x="5" y="20"/>
                </a:lnTo>
                <a:lnTo>
                  <a:pt x="4" y="20"/>
                </a:lnTo>
                <a:close/>
                <a:moveTo>
                  <a:pt x="5" y="19"/>
                </a:moveTo>
                <a:lnTo>
                  <a:pt x="6" y="19"/>
                </a:lnTo>
                <a:lnTo>
                  <a:pt x="6" y="20"/>
                </a:lnTo>
                <a:lnTo>
                  <a:pt x="5" y="20"/>
                </a:lnTo>
                <a:close/>
                <a:moveTo>
                  <a:pt x="7" y="19"/>
                </a:moveTo>
                <a:lnTo>
                  <a:pt x="8" y="19"/>
                </a:lnTo>
                <a:lnTo>
                  <a:pt x="8" y="20"/>
                </a:lnTo>
                <a:lnTo>
                  <a:pt x="7" y="20"/>
                </a:lnTo>
                <a:close/>
                <a:moveTo>
                  <a:pt x="10" y="19"/>
                </a:moveTo>
                <a:lnTo>
                  <a:pt x="11" y="19"/>
                </a:lnTo>
                <a:lnTo>
                  <a:pt x="11" y="20"/>
                </a:lnTo>
                <a:lnTo>
                  <a:pt x="10" y="20"/>
                </a:lnTo>
                <a:close/>
                <a:moveTo>
                  <a:pt x="12" y="19"/>
                </a:moveTo>
                <a:lnTo>
                  <a:pt x="13" y="19"/>
                </a:lnTo>
                <a:lnTo>
                  <a:pt x="13" y="20"/>
                </a:lnTo>
                <a:lnTo>
                  <a:pt x="12" y="20"/>
                </a:lnTo>
                <a:close/>
                <a:moveTo>
                  <a:pt x="14" y="19"/>
                </a:moveTo>
                <a:lnTo>
                  <a:pt x="15" y="19"/>
                </a:lnTo>
                <a:lnTo>
                  <a:pt x="15" y="20"/>
                </a:lnTo>
                <a:lnTo>
                  <a:pt x="14" y="20"/>
                </a:lnTo>
                <a:close/>
                <a:moveTo>
                  <a:pt x="16" y="19"/>
                </a:moveTo>
                <a:lnTo>
                  <a:pt x="17" y="19"/>
                </a:lnTo>
                <a:lnTo>
                  <a:pt x="17" y="20"/>
                </a:lnTo>
                <a:lnTo>
                  <a:pt x="16" y="20"/>
                </a:lnTo>
                <a:close/>
                <a:moveTo>
                  <a:pt x="17" y="19"/>
                </a:moveTo>
                <a:lnTo>
                  <a:pt x="18" y="19"/>
                </a:lnTo>
                <a:lnTo>
                  <a:pt x="18" y="20"/>
                </a:lnTo>
                <a:lnTo>
                  <a:pt x="17" y="20"/>
                </a:lnTo>
                <a:close/>
                <a:moveTo>
                  <a:pt x="18" y="19"/>
                </a:moveTo>
                <a:lnTo>
                  <a:pt x="19" y="19"/>
                </a:lnTo>
                <a:lnTo>
                  <a:pt x="19" y="20"/>
                </a:lnTo>
                <a:lnTo>
                  <a:pt x="18" y="20"/>
                </a:lnTo>
                <a:close/>
                <a:moveTo>
                  <a:pt x="19" y="19"/>
                </a:moveTo>
                <a:lnTo>
                  <a:pt x="20" y="19"/>
                </a:lnTo>
                <a:lnTo>
                  <a:pt x="20" y="20"/>
                </a:lnTo>
                <a:lnTo>
                  <a:pt x="19" y="20"/>
                </a:lnTo>
                <a:close/>
                <a:moveTo>
                  <a:pt x="20" y="19"/>
                </a:moveTo>
                <a:lnTo>
                  <a:pt x="21" y="19"/>
                </a:lnTo>
                <a:lnTo>
                  <a:pt x="21" y="20"/>
                </a:lnTo>
                <a:lnTo>
                  <a:pt x="20" y="20"/>
                </a:lnTo>
                <a:close/>
                <a:moveTo>
                  <a:pt x="25" y="19"/>
                </a:moveTo>
                <a:lnTo>
                  <a:pt x="26" y="19"/>
                </a:lnTo>
                <a:lnTo>
                  <a:pt x="26" y="20"/>
                </a:lnTo>
                <a:lnTo>
                  <a:pt x="25" y="20"/>
                </a:lnTo>
                <a:close/>
                <a:moveTo>
                  <a:pt x="26" y="19"/>
                </a:moveTo>
                <a:lnTo>
                  <a:pt x="27" y="19"/>
                </a:lnTo>
                <a:lnTo>
                  <a:pt x="27" y="20"/>
                </a:lnTo>
                <a:lnTo>
                  <a:pt x="26" y="20"/>
                </a:lnTo>
                <a:close/>
                <a:moveTo>
                  <a:pt x="27" y="19"/>
                </a:moveTo>
                <a:lnTo>
                  <a:pt x="28" y="19"/>
                </a:lnTo>
                <a:lnTo>
                  <a:pt x="28" y="20"/>
                </a:lnTo>
                <a:lnTo>
                  <a:pt x="27" y="20"/>
                </a:lnTo>
                <a:close/>
                <a:moveTo>
                  <a:pt x="28" y="19"/>
                </a:moveTo>
                <a:lnTo>
                  <a:pt x="29" y="19"/>
                </a:lnTo>
                <a:lnTo>
                  <a:pt x="29" y="20"/>
                </a:lnTo>
                <a:lnTo>
                  <a:pt x="28" y="20"/>
                </a:lnTo>
                <a:close/>
                <a:moveTo>
                  <a:pt x="29" y="19"/>
                </a:moveTo>
                <a:lnTo>
                  <a:pt x="30" y="19"/>
                </a:lnTo>
                <a:lnTo>
                  <a:pt x="30" y="20"/>
                </a:lnTo>
                <a:lnTo>
                  <a:pt x="29" y="20"/>
                </a:lnTo>
                <a:close/>
                <a:moveTo>
                  <a:pt x="30" y="19"/>
                </a:moveTo>
                <a:lnTo>
                  <a:pt x="31" y="19"/>
                </a:lnTo>
                <a:lnTo>
                  <a:pt x="31" y="20"/>
                </a:lnTo>
                <a:lnTo>
                  <a:pt x="30" y="20"/>
                </a:lnTo>
                <a:close/>
                <a:moveTo>
                  <a:pt x="31" y="19"/>
                </a:moveTo>
                <a:lnTo>
                  <a:pt x="32" y="19"/>
                </a:lnTo>
                <a:lnTo>
                  <a:pt x="32" y="20"/>
                </a:lnTo>
                <a:lnTo>
                  <a:pt x="31" y="20"/>
                </a:lnTo>
                <a:close/>
                <a:moveTo>
                  <a:pt x="0" y="20"/>
                </a:moveTo>
                <a:lnTo>
                  <a:pt x="1" y="20"/>
                </a:lnTo>
                <a:lnTo>
                  <a:pt x="1" y="21"/>
                </a:lnTo>
                <a:lnTo>
                  <a:pt x="0" y="21"/>
                </a:lnTo>
                <a:close/>
                <a:moveTo>
                  <a:pt x="2" y="20"/>
                </a:moveTo>
                <a:lnTo>
                  <a:pt x="3" y="20"/>
                </a:lnTo>
                <a:lnTo>
                  <a:pt x="3" y="21"/>
                </a:lnTo>
                <a:lnTo>
                  <a:pt x="2" y="21"/>
                </a:lnTo>
                <a:close/>
                <a:moveTo>
                  <a:pt x="4" y="20"/>
                </a:moveTo>
                <a:lnTo>
                  <a:pt x="5" y="20"/>
                </a:lnTo>
                <a:lnTo>
                  <a:pt x="5" y="21"/>
                </a:lnTo>
                <a:lnTo>
                  <a:pt x="4" y="21"/>
                </a:lnTo>
                <a:close/>
                <a:moveTo>
                  <a:pt x="6" y="20"/>
                </a:moveTo>
                <a:lnTo>
                  <a:pt x="7" y="20"/>
                </a:lnTo>
                <a:lnTo>
                  <a:pt x="7" y="21"/>
                </a:lnTo>
                <a:lnTo>
                  <a:pt x="6" y="21"/>
                </a:lnTo>
                <a:close/>
                <a:moveTo>
                  <a:pt x="8" y="20"/>
                </a:moveTo>
                <a:lnTo>
                  <a:pt x="9" y="20"/>
                </a:lnTo>
                <a:lnTo>
                  <a:pt x="9" y="21"/>
                </a:lnTo>
                <a:lnTo>
                  <a:pt x="8" y="21"/>
                </a:lnTo>
                <a:close/>
                <a:moveTo>
                  <a:pt x="9" y="20"/>
                </a:moveTo>
                <a:lnTo>
                  <a:pt x="10" y="20"/>
                </a:lnTo>
                <a:lnTo>
                  <a:pt x="10" y="21"/>
                </a:lnTo>
                <a:lnTo>
                  <a:pt x="9" y="21"/>
                </a:lnTo>
                <a:close/>
                <a:moveTo>
                  <a:pt x="10" y="20"/>
                </a:moveTo>
                <a:lnTo>
                  <a:pt x="11" y="20"/>
                </a:lnTo>
                <a:lnTo>
                  <a:pt x="11" y="21"/>
                </a:lnTo>
                <a:lnTo>
                  <a:pt x="10" y="21"/>
                </a:lnTo>
                <a:close/>
                <a:moveTo>
                  <a:pt x="11" y="20"/>
                </a:moveTo>
                <a:lnTo>
                  <a:pt x="12" y="20"/>
                </a:lnTo>
                <a:lnTo>
                  <a:pt x="12" y="21"/>
                </a:lnTo>
                <a:lnTo>
                  <a:pt x="11" y="21"/>
                </a:lnTo>
                <a:close/>
                <a:moveTo>
                  <a:pt x="12" y="20"/>
                </a:moveTo>
                <a:lnTo>
                  <a:pt x="13" y="20"/>
                </a:lnTo>
                <a:lnTo>
                  <a:pt x="13" y="21"/>
                </a:lnTo>
                <a:lnTo>
                  <a:pt x="12" y="21"/>
                </a:lnTo>
                <a:close/>
                <a:moveTo>
                  <a:pt x="14" y="20"/>
                </a:moveTo>
                <a:lnTo>
                  <a:pt x="15" y="20"/>
                </a:lnTo>
                <a:lnTo>
                  <a:pt x="15" y="21"/>
                </a:lnTo>
                <a:lnTo>
                  <a:pt x="14" y="21"/>
                </a:lnTo>
                <a:close/>
                <a:moveTo>
                  <a:pt x="16" y="20"/>
                </a:moveTo>
                <a:lnTo>
                  <a:pt x="17" y="20"/>
                </a:lnTo>
                <a:lnTo>
                  <a:pt x="17" y="21"/>
                </a:lnTo>
                <a:lnTo>
                  <a:pt x="16" y="21"/>
                </a:lnTo>
                <a:close/>
                <a:moveTo>
                  <a:pt x="19" y="20"/>
                </a:moveTo>
                <a:lnTo>
                  <a:pt x="20" y="20"/>
                </a:lnTo>
                <a:lnTo>
                  <a:pt x="20" y="21"/>
                </a:lnTo>
                <a:lnTo>
                  <a:pt x="19" y="21"/>
                </a:lnTo>
                <a:close/>
                <a:moveTo>
                  <a:pt x="20" y="20"/>
                </a:moveTo>
                <a:lnTo>
                  <a:pt x="21" y="20"/>
                </a:lnTo>
                <a:lnTo>
                  <a:pt x="21" y="21"/>
                </a:lnTo>
                <a:lnTo>
                  <a:pt x="20" y="21"/>
                </a:lnTo>
                <a:close/>
                <a:moveTo>
                  <a:pt x="21" y="20"/>
                </a:moveTo>
                <a:lnTo>
                  <a:pt x="22" y="20"/>
                </a:lnTo>
                <a:lnTo>
                  <a:pt x="22" y="21"/>
                </a:lnTo>
                <a:lnTo>
                  <a:pt x="21" y="21"/>
                </a:lnTo>
                <a:close/>
                <a:moveTo>
                  <a:pt x="22" y="20"/>
                </a:moveTo>
                <a:lnTo>
                  <a:pt x="23" y="20"/>
                </a:lnTo>
                <a:lnTo>
                  <a:pt x="23" y="21"/>
                </a:lnTo>
                <a:lnTo>
                  <a:pt x="22" y="21"/>
                </a:lnTo>
                <a:close/>
                <a:moveTo>
                  <a:pt x="24" y="20"/>
                </a:moveTo>
                <a:lnTo>
                  <a:pt x="25" y="20"/>
                </a:lnTo>
                <a:lnTo>
                  <a:pt x="25" y="21"/>
                </a:lnTo>
                <a:lnTo>
                  <a:pt x="24" y="21"/>
                </a:lnTo>
                <a:close/>
                <a:moveTo>
                  <a:pt x="25" y="20"/>
                </a:moveTo>
                <a:lnTo>
                  <a:pt x="26" y="20"/>
                </a:lnTo>
                <a:lnTo>
                  <a:pt x="26" y="21"/>
                </a:lnTo>
                <a:lnTo>
                  <a:pt x="25" y="21"/>
                </a:lnTo>
                <a:close/>
                <a:moveTo>
                  <a:pt x="27" y="20"/>
                </a:moveTo>
                <a:lnTo>
                  <a:pt x="28" y="20"/>
                </a:lnTo>
                <a:lnTo>
                  <a:pt x="28" y="21"/>
                </a:lnTo>
                <a:lnTo>
                  <a:pt x="27" y="21"/>
                </a:lnTo>
                <a:close/>
                <a:moveTo>
                  <a:pt x="28" y="20"/>
                </a:moveTo>
                <a:lnTo>
                  <a:pt x="29" y="20"/>
                </a:lnTo>
                <a:lnTo>
                  <a:pt x="29" y="21"/>
                </a:lnTo>
                <a:lnTo>
                  <a:pt x="28" y="21"/>
                </a:lnTo>
                <a:close/>
                <a:moveTo>
                  <a:pt x="29" y="20"/>
                </a:moveTo>
                <a:lnTo>
                  <a:pt x="30" y="20"/>
                </a:lnTo>
                <a:lnTo>
                  <a:pt x="30" y="21"/>
                </a:lnTo>
                <a:lnTo>
                  <a:pt x="29" y="21"/>
                </a:lnTo>
                <a:close/>
                <a:moveTo>
                  <a:pt x="31" y="20"/>
                </a:moveTo>
                <a:lnTo>
                  <a:pt x="32" y="20"/>
                </a:lnTo>
                <a:lnTo>
                  <a:pt x="32" y="21"/>
                </a:lnTo>
                <a:lnTo>
                  <a:pt x="31" y="21"/>
                </a:lnTo>
                <a:close/>
                <a:moveTo>
                  <a:pt x="0" y="21"/>
                </a:moveTo>
                <a:lnTo>
                  <a:pt x="1" y="21"/>
                </a:lnTo>
                <a:lnTo>
                  <a:pt x="1" y="22"/>
                </a:lnTo>
                <a:lnTo>
                  <a:pt x="0" y="22"/>
                </a:lnTo>
                <a:close/>
                <a:moveTo>
                  <a:pt x="1" y="21"/>
                </a:moveTo>
                <a:lnTo>
                  <a:pt x="2" y="21"/>
                </a:lnTo>
                <a:lnTo>
                  <a:pt x="2" y="22"/>
                </a:lnTo>
                <a:lnTo>
                  <a:pt x="1" y="22"/>
                </a:lnTo>
                <a:close/>
                <a:moveTo>
                  <a:pt x="2" y="21"/>
                </a:moveTo>
                <a:lnTo>
                  <a:pt x="3" y="21"/>
                </a:lnTo>
                <a:lnTo>
                  <a:pt x="3" y="22"/>
                </a:lnTo>
                <a:lnTo>
                  <a:pt x="2" y="22"/>
                </a:lnTo>
                <a:close/>
                <a:moveTo>
                  <a:pt x="3" y="21"/>
                </a:moveTo>
                <a:lnTo>
                  <a:pt x="4" y="21"/>
                </a:lnTo>
                <a:lnTo>
                  <a:pt x="4" y="22"/>
                </a:lnTo>
                <a:lnTo>
                  <a:pt x="3" y="22"/>
                </a:lnTo>
                <a:close/>
                <a:moveTo>
                  <a:pt x="7" y="21"/>
                </a:moveTo>
                <a:lnTo>
                  <a:pt x="8" y="21"/>
                </a:lnTo>
                <a:lnTo>
                  <a:pt x="8" y="22"/>
                </a:lnTo>
                <a:lnTo>
                  <a:pt x="7" y="22"/>
                </a:lnTo>
                <a:close/>
                <a:moveTo>
                  <a:pt x="8" y="21"/>
                </a:moveTo>
                <a:lnTo>
                  <a:pt x="9" y="21"/>
                </a:lnTo>
                <a:lnTo>
                  <a:pt x="9" y="22"/>
                </a:lnTo>
                <a:lnTo>
                  <a:pt x="8" y="22"/>
                </a:lnTo>
                <a:close/>
                <a:moveTo>
                  <a:pt x="9" y="21"/>
                </a:moveTo>
                <a:lnTo>
                  <a:pt x="10" y="21"/>
                </a:lnTo>
                <a:lnTo>
                  <a:pt x="10" y="22"/>
                </a:lnTo>
                <a:lnTo>
                  <a:pt x="9" y="22"/>
                </a:lnTo>
                <a:close/>
                <a:moveTo>
                  <a:pt x="10" y="21"/>
                </a:moveTo>
                <a:lnTo>
                  <a:pt x="11" y="21"/>
                </a:lnTo>
                <a:lnTo>
                  <a:pt x="11" y="22"/>
                </a:lnTo>
                <a:lnTo>
                  <a:pt x="10" y="22"/>
                </a:lnTo>
                <a:close/>
                <a:moveTo>
                  <a:pt x="13" y="21"/>
                </a:moveTo>
                <a:lnTo>
                  <a:pt x="14" y="21"/>
                </a:lnTo>
                <a:lnTo>
                  <a:pt x="14" y="22"/>
                </a:lnTo>
                <a:lnTo>
                  <a:pt x="13" y="22"/>
                </a:lnTo>
                <a:close/>
                <a:moveTo>
                  <a:pt x="14" y="21"/>
                </a:moveTo>
                <a:lnTo>
                  <a:pt x="15" y="21"/>
                </a:lnTo>
                <a:lnTo>
                  <a:pt x="15" y="22"/>
                </a:lnTo>
                <a:lnTo>
                  <a:pt x="14" y="22"/>
                </a:lnTo>
                <a:close/>
                <a:moveTo>
                  <a:pt x="15" y="21"/>
                </a:moveTo>
                <a:lnTo>
                  <a:pt x="16" y="21"/>
                </a:lnTo>
                <a:lnTo>
                  <a:pt x="16" y="22"/>
                </a:lnTo>
                <a:lnTo>
                  <a:pt x="15" y="22"/>
                </a:lnTo>
                <a:close/>
                <a:moveTo>
                  <a:pt x="18" y="21"/>
                </a:moveTo>
                <a:lnTo>
                  <a:pt x="19" y="21"/>
                </a:lnTo>
                <a:lnTo>
                  <a:pt x="19" y="22"/>
                </a:lnTo>
                <a:lnTo>
                  <a:pt x="18" y="22"/>
                </a:lnTo>
                <a:close/>
                <a:moveTo>
                  <a:pt x="21" y="21"/>
                </a:moveTo>
                <a:lnTo>
                  <a:pt x="22" y="21"/>
                </a:lnTo>
                <a:lnTo>
                  <a:pt x="22" y="22"/>
                </a:lnTo>
                <a:lnTo>
                  <a:pt x="21" y="22"/>
                </a:lnTo>
                <a:close/>
                <a:moveTo>
                  <a:pt x="23" y="21"/>
                </a:moveTo>
                <a:lnTo>
                  <a:pt x="24" y="21"/>
                </a:lnTo>
                <a:lnTo>
                  <a:pt x="24" y="22"/>
                </a:lnTo>
                <a:lnTo>
                  <a:pt x="23" y="22"/>
                </a:lnTo>
                <a:close/>
                <a:moveTo>
                  <a:pt x="25" y="21"/>
                </a:moveTo>
                <a:lnTo>
                  <a:pt x="26" y="21"/>
                </a:lnTo>
                <a:lnTo>
                  <a:pt x="26" y="22"/>
                </a:lnTo>
                <a:lnTo>
                  <a:pt x="25" y="22"/>
                </a:lnTo>
                <a:close/>
                <a:moveTo>
                  <a:pt x="26" y="21"/>
                </a:moveTo>
                <a:lnTo>
                  <a:pt x="27" y="21"/>
                </a:lnTo>
                <a:lnTo>
                  <a:pt x="27" y="22"/>
                </a:lnTo>
                <a:lnTo>
                  <a:pt x="26" y="22"/>
                </a:lnTo>
                <a:close/>
                <a:moveTo>
                  <a:pt x="30" y="21"/>
                </a:moveTo>
                <a:lnTo>
                  <a:pt x="31" y="21"/>
                </a:lnTo>
                <a:lnTo>
                  <a:pt x="31" y="22"/>
                </a:lnTo>
                <a:lnTo>
                  <a:pt x="30" y="22"/>
                </a:lnTo>
                <a:close/>
                <a:moveTo>
                  <a:pt x="32" y="21"/>
                </a:moveTo>
                <a:lnTo>
                  <a:pt x="33" y="21"/>
                </a:lnTo>
                <a:lnTo>
                  <a:pt x="33" y="22"/>
                </a:lnTo>
                <a:lnTo>
                  <a:pt x="32" y="22"/>
                </a:lnTo>
                <a:close/>
                <a:moveTo>
                  <a:pt x="0" y="22"/>
                </a:moveTo>
                <a:lnTo>
                  <a:pt x="1" y="22"/>
                </a:lnTo>
                <a:lnTo>
                  <a:pt x="1" y="23"/>
                </a:lnTo>
                <a:lnTo>
                  <a:pt x="0" y="23"/>
                </a:lnTo>
                <a:close/>
                <a:moveTo>
                  <a:pt x="2" y="22"/>
                </a:moveTo>
                <a:lnTo>
                  <a:pt x="3" y="22"/>
                </a:lnTo>
                <a:lnTo>
                  <a:pt x="3" y="23"/>
                </a:lnTo>
                <a:lnTo>
                  <a:pt x="2" y="23"/>
                </a:lnTo>
                <a:close/>
                <a:moveTo>
                  <a:pt x="4" y="22"/>
                </a:moveTo>
                <a:lnTo>
                  <a:pt x="5" y="22"/>
                </a:lnTo>
                <a:lnTo>
                  <a:pt x="5" y="23"/>
                </a:lnTo>
                <a:lnTo>
                  <a:pt x="4" y="23"/>
                </a:lnTo>
                <a:close/>
                <a:moveTo>
                  <a:pt x="6" y="22"/>
                </a:moveTo>
                <a:lnTo>
                  <a:pt x="7" y="22"/>
                </a:lnTo>
                <a:lnTo>
                  <a:pt x="7" y="23"/>
                </a:lnTo>
                <a:lnTo>
                  <a:pt x="6" y="23"/>
                </a:lnTo>
                <a:close/>
                <a:moveTo>
                  <a:pt x="11" y="22"/>
                </a:moveTo>
                <a:lnTo>
                  <a:pt x="12" y="22"/>
                </a:lnTo>
                <a:lnTo>
                  <a:pt x="12" y="23"/>
                </a:lnTo>
                <a:lnTo>
                  <a:pt x="11" y="23"/>
                </a:lnTo>
                <a:close/>
                <a:moveTo>
                  <a:pt x="12" y="22"/>
                </a:moveTo>
                <a:lnTo>
                  <a:pt x="13" y="22"/>
                </a:lnTo>
                <a:lnTo>
                  <a:pt x="13" y="23"/>
                </a:lnTo>
                <a:lnTo>
                  <a:pt x="12" y="23"/>
                </a:lnTo>
                <a:close/>
                <a:moveTo>
                  <a:pt x="13" y="22"/>
                </a:moveTo>
                <a:lnTo>
                  <a:pt x="14" y="22"/>
                </a:lnTo>
                <a:lnTo>
                  <a:pt x="14" y="23"/>
                </a:lnTo>
                <a:lnTo>
                  <a:pt x="13" y="23"/>
                </a:lnTo>
                <a:close/>
                <a:moveTo>
                  <a:pt x="15" y="22"/>
                </a:moveTo>
                <a:lnTo>
                  <a:pt x="16" y="22"/>
                </a:lnTo>
                <a:lnTo>
                  <a:pt x="16" y="23"/>
                </a:lnTo>
                <a:lnTo>
                  <a:pt x="15" y="23"/>
                </a:lnTo>
                <a:close/>
                <a:moveTo>
                  <a:pt x="16" y="22"/>
                </a:moveTo>
                <a:lnTo>
                  <a:pt x="17" y="22"/>
                </a:lnTo>
                <a:lnTo>
                  <a:pt x="17" y="23"/>
                </a:lnTo>
                <a:lnTo>
                  <a:pt x="16" y="23"/>
                </a:lnTo>
                <a:close/>
                <a:moveTo>
                  <a:pt x="17" y="22"/>
                </a:moveTo>
                <a:lnTo>
                  <a:pt x="18" y="22"/>
                </a:lnTo>
                <a:lnTo>
                  <a:pt x="18" y="23"/>
                </a:lnTo>
                <a:lnTo>
                  <a:pt x="17" y="23"/>
                </a:lnTo>
                <a:close/>
                <a:moveTo>
                  <a:pt x="18" y="22"/>
                </a:moveTo>
                <a:lnTo>
                  <a:pt x="19" y="22"/>
                </a:lnTo>
                <a:lnTo>
                  <a:pt x="19" y="23"/>
                </a:lnTo>
                <a:lnTo>
                  <a:pt x="18" y="23"/>
                </a:lnTo>
                <a:close/>
                <a:moveTo>
                  <a:pt x="20" y="22"/>
                </a:moveTo>
                <a:lnTo>
                  <a:pt x="21" y="22"/>
                </a:lnTo>
                <a:lnTo>
                  <a:pt x="21" y="23"/>
                </a:lnTo>
                <a:lnTo>
                  <a:pt x="20" y="23"/>
                </a:lnTo>
                <a:close/>
                <a:moveTo>
                  <a:pt x="24" y="22"/>
                </a:moveTo>
                <a:lnTo>
                  <a:pt x="25" y="22"/>
                </a:lnTo>
                <a:lnTo>
                  <a:pt x="25" y="23"/>
                </a:lnTo>
                <a:lnTo>
                  <a:pt x="24" y="23"/>
                </a:lnTo>
                <a:close/>
                <a:moveTo>
                  <a:pt x="25" y="22"/>
                </a:moveTo>
                <a:lnTo>
                  <a:pt x="26" y="22"/>
                </a:lnTo>
                <a:lnTo>
                  <a:pt x="26" y="23"/>
                </a:lnTo>
                <a:lnTo>
                  <a:pt x="25" y="23"/>
                </a:lnTo>
                <a:close/>
                <a:moveTo>
                  <a:pt x="28" y="22"/>
                </a:moveTo>
                <a:lnTo>
                  <a:pt x="29" y="22"/>
                </a:lnTo>
                <a:lnTo>
                  <a:pt x="29" y="23"/>
                </a:lnTo>
                <a:lnTo>
                  <a:pt x="28" y="23"/>
                </a:lnTo>
                <a:close/>
                <a:moveTo>
                  <a:pt x="29" y="22"/>
                </a:moveTo>
                <a:lnTo>
                  <a:pt x="30" y="22"/>
                </a:lnTo>
                <a:lnTo>
                  <a:pt x="30" y="23"/>
                </a:lnTo>
                <a:lnTo>
                  <a:pt x="29" y="23"/>
                </a:lnTo>
                <a:close/>
                <a:moveTo>
                  <a:pt x="30" y="22"/>
                </a:moveTo>
                <a:lnTo>
                  <a:pt x="31" y="22"/>
                </a:lnTo>
                <a:lnTo>
                  <a:pt x="31" y="23"/>
                </a:lnTo>
                <a:lnTo>
                  <a:pt x="30" y="23"/>
                </a:lnTo>
                <a:close/>
                <a:moveTo>
                  <a:pt x="31" y="22"/>
                </a:moveTo>
                <a:lnTo>
                  <a:pt x="32" y="22"/>
                </a:lnTo>
                <a:lnTo>
                  <a:pt x="32" y="23"/>
                </a:lnTo>
                <a:lnTo>
                  <a:pt x="31" y="23"/>
                </a:lnTo>
                <a:close/>
                <a:moveTo>
                  <a:pt x="0" y="23"/>
                </a:moveTo>
                <a:lnTo>
                  <a:pt x="1" y="23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4" y="23"/>
                </a:moveTo>
                <a:lnTo>
                  <a:pt x="5" y="23"/>
                </a:lnTo>
                <a:lnTo>
                  <a:pt x="5" y="24"/>
                </a:lnTo>
                <a:lnTo>
                  <a:pt x="4" y="24"/>
                </a:lnTo>
                <a:close/>
                <a:moveTo>
                  <a:pt x="5" y="23"/>
                </a:moveTo>
                <a:lnTo>
                  <a:pt x="6" y="23"/>
                </a:lnTo>
                <a:lnTo>
                  <a:pt x="6" y="24"/>
                </a:lnTo>
                <a:lnTo>
                  <a:pt x="5" y="24"/>
                </a:lnTo>
                <a:close/>
                <a:moveTo>
                  <a:pt x="7" y="23"/>
                </a:moveTo>
                <a:lnTo>
                  <a:pt x="8" y="23"/>
                </a:lnTo>
                <a:lnTo>
                  <a:pt x="8" y="24"/>
                </a:lnTo>
                <a:lnTo>
                  <a:pt x="7" y="24"/>
                </a:lnTo>
                <a:close/>
                <a:moveTo>
                  <a:pt x="9" y="23"/>
                </a:moveTo>
                <a:lnTo>
                  <a:pt x="10" y="23"/>
                </a:lnTo>
                <a:lnTo>
                  <a:pt x="10" y="24"/>
                </a:lnTo>
                <a:lnTo>
                  <a:pt x="9" y="24"/>
                </a:lnTo>
                <a:close/>
                <a:moveTo>
                  <a:pt x="11" y="23"/>
                </a:moveTo>
                <a:lnTo>
                  <a:pt x="12" y="23"/>
                </a:lnTo>
                <a:lnTo>
                  <a:pt x="12" y="24"/>
                </a:lnTo>
                <a:lnTo>
                  <a:pt x="11" y="24"/>
                </a:lnTo>
                <a:close/>
                <a:moveTo>
                  <a:pt x="12" y="23"/>
                </a:moveTo>
                <a:lnTo>
                  <a:pt x="13" y="23"/>
                </a:lnTo>
                <a:lnTo>
                  <a:pt x="13" y="24"/>
                </a:lnTo>
                <a:lnTo>
                  <a:pt x="12" y="24"/>
                </a:lnTo>
                <a:close/>
                <a:moveTo>
                  <a:pt x="14" y="23"/>
                </a:moveTo>
                <a:lnTo>
                  <a:pt x="15" y="23"/>
                </a:lnTo>
                <a:lnTo>
                  <a:pt x="15" y="24"/>
                </a:lnTo>
                <a:lnTo>
                  <a:pt x="14" y="24"/>
                </a:lnTo>
                <a:close/>
                <a:moveTo>
                  <a:pt x="15" y="23"/>
                </a:moveTo>
                <a:lnTo>
                  <a:pt x="16" y="23"/>
                </a:lnTo>
                <a:lnTo>
                  <a:pt x="16" y="24"/>
                </a:lnTo>
                <a:lnTo>
                  <a:pt x="15" y="24"/>
                </a:lnTo>
                <a:close/>
                <a:moveTo>
                  <a:pt x="21" y="23"/>
                </a:moveTo>
                <a:lnTo>
                  <a:pt x="22" y="23"/>
                </a:lnTo>
                <a:lnTo>
                  <a:pt x="22" y="24"/>
                </a:lnTo>
                <a:lnTo>
                  <a:pt x="21" y="24"/>
                </a:lnTo>
                <a:close/>
                <a:moveTo>
                  <a:pt x="22" y="23"/>
                </a:moveTo>
                <a:lnTo>
                  <a:pt x="23" y="23"/>
                </a:lnTo>
                <a:lnTo>
                  <a:pt x="23" y="24"/>
                </a:lnTo>
                <a:lnTo>
                  <a:pt x="22" y="24"/>
                </a:lnTo>
                <a:close/>
                <a:moveTo>
                  <a:pt x="24" y="23"/>
                </a:moveTo>
                <a:lnTo>
                  <a:pt x="25" y="23"/>
                </a:lnTo>
                <a:lnTo>
                  <a:pt x="25" y="24"/>
                </a:lnTo>
                <a:lnTo>
                  <a:pt x="24" y="24"/>
                </a:lnTo>
                <a:close/>
                <a:moveTo>
                  <a:pt x="25" y="23"/>
                </a:moveTo>
                <a:lnTo>
                  <a:pt x="26" y="23"/>
                </a:lnTo>
                <a:lnTo>
                  <a:pt x="26" y="24"/>
                </a:lnTo>
                <a:lnTo>
                  <a:pt x="25" y="24"/>
                </a:lnTo>
                <a:close/>
                <a:moveTo>
                  <a:pt x="26" y="23"/>
                </a:moveTo>
                <a:lnTo>
                  <a:pt x="27" y="23"/>
                </a:lnTo>
                <a:lnTo>
                  <a:pt x="27" y="24"/>
                </a:lnTo>
                <a:lnTo>
                  <a:pt x="26" y="24"/>
                </a:lnTo>
                <a:close/>
                <a:moveTo>
                  <a:pt x="30" y="23"/>
                </a:moveTo>
                <a:lnTo>
                  <a:pt x="31" y="23"/>
                </a:lnTo>
                <a:lnTo>
                  <a:pt x="31" y="24"/>
                </a:lnTo>
                <a:lnTo>
                  <a:pt x="30" y="24"/>
                </a:lnTo>
                <a:close/>
                <a:moveTo>
                  <a:pt x="0" y="24"/>
                </a:moveTo>
                <a:lnTo>
                  <a:pt x="1" y="24"/>
                </a:lnTo>
                <a:lnTo>
                  <a:pt x="1" y="25"/>
                </a:lnTo>
                <a:lnTo>
                  <a:pt x="0" y="25"/>
                </a:lnTo>
                <a:close/>
                <a:moveTo>
                  <a:pt x="4" y="24"/>
                </a:moveTo>
                <a:lnTo>
                  <a:pt x="5" y="24"/>
                </a:lnTo>
                <a:lnTo>
                  <a:pt x="5" y="25"/>
                </a:lnTo>
                <a:lnTo>
                  <a:pt x="4" y="25"/>
                </a:lnTo>
                <a:close/>
                <a:moveTo>
                  <a:pt x="6" y="24"/>
                </a:moveTo>
                <a:lnTo>
                  <a:pt x="7" y="24"/>
                </a:lnTo>
                <a:lnTo>
                  <a:pt x="7" y="25"/>
                </a:lnTo>
                <a:lnTo>
                  <a:pt x="6" y="25"/>
                </a:lnTo>
                <a:close/>
                <a:moveTo>
                  <a:pt x="10" y="24"/>
                </a:moveTo>
                <a:lnTo>
                  <a:pt x="11" y="24"/>
                </a:lnTo>
                <a:lnTo>
                  <a:pt x="11" y="25"/>
                </a:lnTo>
                <a:lnTo>
                  <a:pt x="10" y="25"/>
                </a:lnTo>
                <a:close/>
                <a:moveTo>
                  <a:pt x="12" y="24"/>
                </a:moveTo>
                <a:lnTo>
                  <a:pt x="13" y="24"/>
                </a:lnTo>
                <a:lnTo>
                  <a:pt x="13" y="25"/>
                </a:lnTo>
                <a:lnTo>
                  <a:pt x="12" y="25"/>
                </a:lnTo>
                <a:close/>
                <a:moveTo>
                  <a:pt x="13" y="24"/>
                </a:moveTo>
                <a:lnTo>
                  <a:pt x="14" y="24"/>
                </a:lnTo>
                <a:lnTo>
                  <a:pt x="14" y="25"/>
                </a:lnTo>
                <a:lnTo>
                  <a:pt x="13" y="25"/>
                </a:lnTo>
                <a:close/>
                <a:moveTo>
                  <a:pt x="14" y="24"/>
                </a:moveTo>
                <a:lnTo>
                  <a:pt x="15" y="24"/>
                </a:lnTo>
                <a:lnTo>
                  <a:pt x="15" y="25"/>
                </a:lnTo>
                <a:lnTo>
                  <a:pt x="14" y="25"/>
                </a:lnTo>
                <a:close/>
                <a:moveTo>
                  <a:pt x="15" y="24"/>
                </a:moveTo>
                <a:lnTo>
                  <a:pt x="16" y="24"/>
                </a:lnTo>
                <a:lnTo>
                  <a:pt x="16" y="25"/>
                </a:lnTo>
                <a:lnTo>
                  <a:pt x="15" y="25"/>
                </a:lnTo>
                <a:close/>
                <a:moveTo>
                  <a:pt x="17" y="24"/>
                </a:moveTo>
                <a:lnTo>
                  <a:pt x="18" y="24"/>
                </a:lnTo>
                <a:lnTo>
                  <a:pt x="18" y="25"/>
                </a:lnTo>
                <a:lnTo>
                  <a:pt x="17" y="25"/>
                </a:lnTo>
                <a:close/>
                <a:moveTo>
                  <a:pt x="22" y="24"/>
                </a:moveTo>
                <a:lnTo>
                  <a:pt x="23" y="24"/>
                </a:lnTo>
                <a:lnTo>
                  <a:pt x="23" y="25"/>
                </a:lnTo>
                <a:lnTo>
                  <a:pt x="22" y="25"/>
                </a:lnTo>
                <a:close/>
                <a:moveTo>
                  <a:pt x="23" y="24"/>
                </a:moveTo>
                <a:lnTo>
                  <a:pt x="24" y="24"/>
                </a:lnTo>
                <a:lnTo>
                  <a:pt x="24" y="25"/>
                </a:lnTo>
                <a:lnTo>
                  <a:pt x="23" y="25"/>
                </a:lnTo>
                <a:close/>
                <a:moveTo>
                  <a:pt x="24" y="24"/>
                </a:moveTo>
                <a:lnTo>
                  <a:pt x="25" y="24"/>
                </a:lnTo>
                <a:lnTo>
                  <a:pt x="25" y="25"/>
                </a:lnTo>
                <a:lnTo>
                  <a:pt x="24" y="25"/>
                </a:lnTo>
                <a:close/>
                <a:moveTo>
                  <a:pt x="25" y="24"/>
                </a:moveTo>
                <a:lnTo>
                  <a:pt x="26" y="24"/>
                </a:lnTo>
                <a:lnTo>
                  <a:pt x="26" y="25"/>
                </a:lnTo>
                <a:lnTo>
                  <a:pt x="25" y="25"/>
                </a:lnTo>
                <a:close/>
                <a:moveTo>
                  <a:pt x="26" y="24"/>
                </a:moveTo>
                <a:lnTo>
                  <a:pt x="27" y="24"/>
                </a:lnTo>
                <a:lnTo>
                  <a:pt x="27" y="25"/>
                </a:lnTo>
                <a:lnTo>
                  <a:pt x="26" y="25"/>
                </a:lnTo>
                <a:close/>
                <a:moveTo>
                  <a:pt x="27" y="24"/>
                </a:moveTo>
                <a:lnTo>
                  <a:pt x="28" y="24"/>
                </a:lnTo>
                <a:lnTo>
                  <a:pt x="28" y="25"/>
                </a:lnTo>
                <a:lnTo>
                  <a:pt x="27" y="25"/>
                </a:lnTo>
                <a:close/>
                <a:moveTo>
                  <a:pt x="28" y="24"/>
                </a:moveTo>
                <a:lnTo>
                  <a:pt x="29" y="24"/>
                </a:lnTo>
                <a:lnTo>
                  <a:pt x="29" y="25"/>
                </a:lnTo>
                <a:lnTo>
                  <a:pt x="28" y="25"/>
                </a:lnTo>
                <a:close/>
                <a:moveTo>
                  <a:pt x="31" y="24"/>
                </a:moveTo>
                <a:lnTo>
                  <a:pt x="32" y="24"/>
                </a:lnTo>
                <a:lnTo>
                  <a:pt x="32" y="25"/>
                </a:lnTo>
                <a:lnTo>
                  <a:pt x="31" y="25"/>
                </a:lnTo>
                <a:close/>
                <a:moveTo>
                  <a:pt x="32" y="24"/>
                </a:moveTo>
                <a:lnTo>
                  <a:pt x="33" y="24"/>
                </a:lnTo>
                <a:lnTo>
                  <a:pt x="33" y="25"/>
                </a:lnTo>
                <a:lnTo>
                  <a:pt x="32" y="25"/>
                </a:lnTo>
                <a:close/>
                <a:moveTo>
                  <a:pt x="8" y="25"/>
                </a:moveTo>
                <a:lnTo>
                  <a:pt x="9" y="25"/>
                </a:lnTo>
                <a:lnTo>
                  <a:pt x="9" y="26"/>
                </a:lnTo>
                <a:lnTo>
                  <a:pt x="8" y="26"/>
                </a:lnTo>
                <a:close/>
                <a:moveTo>
                  <a:pt x="9" y="25"/>
                </a:moveTo>
                <a:lnTo>
                  <a:pt x="10" y="25"/>
                </a:lnTo>
                <a:lnTo>
                  <a:pt x="10" y="26"/>
                </a:lnTo>
                <a:lnTo>
                  <a:pt x="9" y="26"/>
                </a:lnTo>
                <a:close/>
                <a:moveTo>
                  <a:pt x="12" y="25"/>
                </a:moveTo>
                <a:lnTo>
                  <a:pt x="13" y="25"/>
                </a:lnTo>
                <a:lnTo>
                  <a:pt x="13" y="26"/>
                </a:lnTo>
                <a:lnTo>
                  <a:pt x="12" y="26"/>
                </a:lnTo>
                <a:close/>
                <a:moveTo>
                  <a:pt x="16" y="25"/>
                </a:moveTo>
                <a:lnTo>
                  <a:pt x="17" y="25"/>
                </a:lnTo>
                <a:lnTo>
                  <a:pt x="17" y="26"/>
                </a:lnTo>
                <a:lnTo>
                  <a:pt x="16" y="26"/>
                </a:lnTo>
                <a:close/>
                <a:moveTo>
                  <a:pt x="18" y="25"/>
                </a:moveTo>
                <a:lnTo>
                  <a:pt x="19" y="25"/>
                </a:lnTo>
                <a:lnTo>
                  <a:pt x="19" y="26"/>
                </a:lnTo>
                <a:lnTo>
                  <a:pt x="18" y="26"/>
                </a:lnTo>
                <a:close/>
                <a:moveTo>
                  <a:pt x="19" y="25"/>
                </a:moveTo>
                <a:lnTo>
                  <a:pt x="20" y="25"/>
                </a:lnTo>
                <a:lnTo>
                  <a:pt x="20" y="26"/>
                </a:lnTo>
                <a:lnTo>
                  <a:pt x="19" y="26"/>
                </a:lnTo>
                <a:close/>
                <a:moveTo>
                  <a:pt x="21" y="25"/>
                </a:moveTo>
                <a:lnTo>
                  <a:pt x="22" y="25"/>
                </a:lnTo>
                <a:lnTo>
                  <a:pt x="22" y="26"/>
                </a:lnTo>
                <a:lnTo>
                  <a:pt x="21" y="26"/>
                </a:lnTo>
                <a:close/>
                <a:moveTo>
                  <a:pt x="23" y="25"/>
                </a:moveTo>
                <a:lnTo>
                  <a:pt x="24" y="25"/>
                </a:lnTo>
                <a:lnTo>
                  <a:pt x="24" y="26"/>
                </a:lnTo>
                <a:lnTo>
                  <a:pt x="23" y="26"/>
                </a:lnTo>
                <a:close/>
                <a:moveTo>
                  <a:pt x="24" y="25"/>
                </a:moveTo>
                <a:lnTo>
                  <a:pt x="25" y="25"/>
                </a:lnTo>
                <a:lnTo>
                  <a:pt x="25" y="26"/>
                </a:lnTo>
                <a:lnTo>
                  <a:pt x="24" y="26"/>
                </a:lnTo>
                <a:close/>
                <a:moveTo>
                  <a:pt x="28" y="25"/>
                </a:moveTo>
                <a:lnTo>
                  <a:pt x="29" y="25"/>
                </a:lnTo>
                <a:lnTo>
                  <a:pt x="29" y="26"/>
                </a:lnTo>
                <a:lnTo>
                  <a:pt x="28" y="26"/>
                </a:lnTo>
                <a:close/>
                <a:moveTo>
                  <a:pt x="30" y="25"/>
                </a:moveTo>
                <a:lnTo>
                  <a:pt x="31" y="25"/>
                </a:lnTo>
                <a:lnTo>
                  <a:pt x="31" y="26"/>
                </a:lnTo>
                <a:lnTo>
                  <a:pt x="30" y="26"/>
                </a:lnTo>
                <a:close/>
                <a:moveTo>
                  <a:pt x="32" y="25"/>
                </a:moveTo>
                <a:lnTo>
                  <a:pt x="33" y="25"/>
                </a:lnTo>
                <a:lnTo>
                  <a:pt x="33" y="26"/>
                </a:lnTo>
                <a:lnTo>
                  <a:pt x="32" y="26"/>
                </a:lnTo>
                <a:close/>
                <a:moveTo>
                  <a:pt x="0" y="26"/>
                </a:moveTo>
                <a:lnTo>
                  <a:pt x="1" y="26"/>
                </a:lnTo>
                <a:lnTo>
                  <a:pt x="1" y="27"/>
                </a:lnTo>
                <a:lnTo>
                  <a:pt x="0" y="27"/>
                </a:lnTo>
                <a:close/>
                <a:moveTo>
                  <a:pt x="1" y="26"/>
                </a:moveTo>
                <a:lnTo>
                  <a:pt x="2" y="26"/>
                </a:lnTo>
                <a:lnTo>
                  <a:pt x="2" y="27"/>
                </a:lnTo>
                <a:lnTo>
                  <a:pt x="1" y="27"/>
                </a:lnTo>
                <a:close/>
                <a:moveTo>
                  <a:pt x="2" y="26"/>
                </a:moveTo>
                <a:lnTo>
                  <a:pt x="3" y="26"/>
                </a:lnTo>
                <a:lnTo>
                  <a:pt x="3" y="27"/>
                </a:lnTo>
                <a:lnTo>
                  <a:pt x="2" y="27"/>
                </a:lnTo>
                <a:close/>
                <a:moveTo>
                  <a:pt x="3" y="26"/>
                </a:moveTo>
                <a:lnTo>
                  <a:pt x="4" y="26"/>
                </a:lnTo>
                <a:lnTo>
                  <a:pt x="4" y="27"/>
                </a:lnTo>
                <a:lnTo>
                  <a:pt x="3" y="27"/>
                </a:lnTo>
                <a:close/>
                <a:moveTo>
                  <a:pt x="4" y="26"/>
                </a:moveTo>
                <a:lnTo>
                  <a:pt x="5" y="26"/>
                </a:lnTo>
                <a:lnTo>
                  <a:pt x="5" y="27"/>
                </a:lnTo>
                <a:lnTo>
                  <a:pt x="4" y="27"/>
                </a:lnTo>
                <a:close/>
                <a:moveTo>
                  <a:pt x="5" y="26"/>
                </a:moveTo>
                <a:lnTo>
                  <a:pt x="6" y="26"/>
                </a:lnTo>
                <a:lnTo>
                  <a:pt x="6" y="27"/>
                </a:lnTo>
                <a:lnTo>
                  <a:pt x="5" y="27"/>
                </a:lnTo>
                <a:close/>
                <a:moveTo>
                  <a:pt x="6" y="26"/>
                </a:moveTo>
                <a:lnTo>
                  <a:pt x="7" y="26"/>
                </a:lnTo>
                <a:lnTo>
                  <a:pt x="7" y="27"/>
                </a:lnTo>
                <a:lnTo>
                  <a:pt x="6" y="27"/>
                </a:lnTo>
                <a:close/>
                <a:moveTo>
                  <a:pt x="10" y="26"/>
                </a:moveTo>
                <a:lnTo>
                  <a:pt x="11" y="26"/>
                </a:lnTo>
                <a:lnTo>
                  <a:pt x="11" y="27"/>
                </a:lnTo>
                <a:lnTo>
                  <a:pt x="10" y="27"/>
                </a:lnTo>
                <a:close/>
                <a:moveTo>
                  <a:pt x="12" y="26"/>
                </a:moveTo>
                <a:lnTo>
                  <a:pt x="13" y="26"/>
                </a:lnTo>
                <a:lnTo>
                  <a:pt x="13" y="27"/>
                </a:lnTo>
                <a:lnTo>
                  <a:pt x="12" y="27"/>
                </a:lnTo>
                <a:close/>
                <a:moveTo>
                  <a:pt x="14" y="26"/>
                </a:moveTo>
                <a:lnTo>
                  <a:pt x="15" y="26"/>
                </a:lnTo>
                <a:lnTo>
                  <a:pt x="15" y="27"/>
                </a:lnTo>
                <a:lnTo>
                  <a:pt x="14" y="27"/>
                </a:lnTo>
                <a:close/>
                <a:moveTo>
                  <a:pt x="15" y="26"/>
                </a:moveTo>
                <a:lnTo>
                  <a:pt x="16" y="26"/>
                </a:lnTo>
                <a:lnTo>
                  <a:pt x="16" y="27"/>
                </a:lnTo>
                <a:lnTo>
                  <a:pt x="15" y="27"/>
                </a:lnTo>
                <a:close/>
                <a:moveTo>
                  <a:pt x="16" y="26"/>
                </a:moveTo>
                <a:lnTo>
                  <a:pt x="17" y="26"/>
                </a:lnTo>
                <a:lnTo>
                  <a:pt x="17" y="27"/>
                </a:lnTo>
                <a:lnTo>
                  <a:pt x="16" y="27"/>
                </a:lnTo>
                <a:close/>
                <a:moveTo>
                  <a:pt x="18" y="26"/>
                </a:moveTo>
                <a:lnTo>
                  <a:pt x="19" y="26"/>
                </a:lnTo>
                <a:lnTo>
                  <a:pt x="19" y="27"/>
                </a:lnTo>
                <a:lnTo>
                  <a:pt x="18" y="27"/>
                </a:lnTo>
                <a:close/>
                <a:moveTo>
                  <a:pt x="20" y="26"/>
                </a:moveTo>
                <a:lnTo>
                  <a:pt x="21" y="26"/>
                </a:lnTo>
                <a:lnTo>
                  <a:pt x="21" y="27"/>
                </a:lnTo>
                <a:lnTo>
                  <a:pt x="20" y="27"/>
                </a:lnTo>
                <a:close/>
                <a:moveTo>
                  <a:pt x="21" y="26"/>
                </a:moveTo>
                <a:lnTo>
                  <a:pt x="22" y="26"/>
                </a:lnTo>
                <a:lnTo>
                  <a:pt x="22" y="27"/>
                </a:lnTo>
                <a:lnTo>
                  <a:pt x="21" y="27"/>
                </a:lnTo>
                <a:close/>
                <a:moveTo>
                  <a:pt x="23" y="26"/>
                </a:moveTo>
                <a:lnTo>
                  <a:pt x="24" y="26"/>
                </a:lnTo>
                <a:lnTo>
                  <a:pt x="24" y="27"/>
                </a:lnTo>
                <a:lnTo>
                  <a:pt x="23" y="27"/>
                </a:lnTo>
                <a:close/>
                <a:moveTo>
                  <a:pt x="24" y="26"/>
                </a:moveTo>
                <a:lnTo>
                  <a:pt x="25" y="26"/>
                </a:lnTo>
                <a:lnTo>
                  <a:pt x="25" y="27"/>
                </a:lnTo>
                <a:lnTo>
                  <a:pt x="24" y="27"/>
                </a:lnTo>
                <a:close/>
                <a:moveTo>
                  <a:pt x="26" y="26"/>
                </a:moveTo>
                <a:lnTo>
                  <a:pt x="27" y="26"/>
                </a:lnTo>
                <a:lnTo>
                  <a:pt x="27" y="27"/>
                </a:lnTo>
                <a:lnTo>
                  <a:pt x="26" y="27"/>
                </a:lnTo>
                <a:close/>
                <a:moveTo>
                  <a:pt x="28" y="26"/>
                </a:moveTo>
                <a:lnTo>
                  <a:pt x="29" y="26"/>
                </a:lnTo>
                <a:lnTo>
                  <a:pt x="29" y="27"/>
                </a:lnTo>
                <a:lnTo>
                  <a:pt x="28" y="27"/>
                </a:lnTo>
                <a:close/>
                <a:moveTo>
                  <a:pt x="30" y="26"/>
                </a:moveTo>
                <a:lnTo>
                  <a:pt x="31" y="26"/>
                </a:lnTo>
                <a:lnTo>
                  <a:pt x="31" y="27"/>
                </a:lnTo>
                <a:lnTo>
                  <a:pt x="30" y="27"/>
                </a:lnTo>
                <a:close/>
                <a:moveTo>
                  <a:pt x="31" y="26"/>
                </a:moveTo>
                <a:lnTo>
                  <a:pt x="32" y="26"/>
                </a:lnTo>
                <a:lnTo>
                  <a:pt x="32" y="27"/>
                </a:lnTo>
                <a:lnTo>
                  <a:pt x="31" y="27"/>
                </a:lnTo>
                <a:close/>
                <a:moveTo>
                  <a:pt x="0" y="27"/>
                </a:moveTo>
                <a:lnTo>
                  <a:pt x="1" y="27"/>
                </a:lnTo>
                <a:lnTo>
                  <a:pt x="1" y="28"/>
                </a:lnTo>
                <a:lnTo>
                  <a:pt x="0" y="28"/>
                </a:lnTo>
                <a:close/>
                <a:moveTo>
                  <a:pt x="6" y="27"/>
                </a:moveTo>
                <a:lnTo>
                  <a:pt x="7" y="27"/>
                </a:lnTo>
                <a:lnTo>
                  <a:pt x="7" y="28"/>
                </a:lnTo>
                <a:lnTo>
                  <a:pt x="6" y="28"/>
                </a:lnTo>
                <a:close/>
                <a:moveTo>
                  <a:pt x="8" y="27"/>
                </a:moveTo>
                <a:lnTo>
                  <a:pt x="9" y="27"/>
                </a:lnTo>
                <a:lnTo>
                  <a:pt x="9" y="28"/>
                </a:lnTo>
                <a:lnTo>
                  <a:pt x="8" y="28"/>
                </a:lnTo>
                <a:close/>
                <a:moveTo>
                  <a:pt x="9" y="27"/>
                </a:moveTo>
                <a:lnTo>
                  <a:pt x="10" y="27"/>
                </a:lnTo>
                <a:lnTo>
                  <a:pt x="10" y="28"/>
                </a:lnTo>
                <a:lnTo>
                  <a:pt x="9" y="28"/>
                </a:lnTo>
                <a:close/>
                <a:moveTo>
                  <a:pt x="11" y="27"/>
                </a:moveTo>
                <a:lnTo>
                  <a:pt x="12" y="27"/>
                </a:lnTo>
                <a:lnTo>
                  <a:pt x="12" y="28"/>
                </a:lnTo>
                <a:lnTo>
                  <a:pt x="11" y="28"/>
                </a:lnTo>
                <a:close/>
                <a:moveTo>
                  <a:pt x="12" y="27"/>
                </a:moveTo>
                <a:lnTo>
                  <a:pt x="13" y="27"/>
                </a:lnTo>
                <a:lnTo>
                  <a:pt x="13" y="28"/>
                </a:lnTo>
                <a:lnTo>
                  <a:pt x="12" y="28"/>
                </a:lnTo>
                <a:close/>
                <a:moveTo>
                  <a:pt x="15" y="27"/>
                </a:moveTo>
                <a:lnTo>
                  <a:pt x="16" y="27"/>
                </a:lnTo>
                <a:lnTo>
                  <a:pt x="16" y="28"/>
                </a:lnTo>
                <a:lnTo>
                  <a:pt x="15" y="28"/>
                </a:lnTo>
                <a:close/>
                <a:moveTo>
                  <a:pt x="20" y="27"/>
                </a:moveTo>
                <a:lnTo>
                  <a:pt x="21" y="27"/>
                </a:lnTo>
                <a:lnTo>
                  <a:pt x="21" y="28"/>
                </a:lnTo>
                <a:lnTo>
                  <a:pt x="20" y="28"/>
                </a:lnTo>
                <a:close/>
                <a:moveTo>
                  <a:pt x="21" y="27"/>
                </a:moveTo>
                <a:lnTo>
                  <a:pt x="22" y="27"/>
                </a:lnTo>
                <a:lnTo>
                  <a:pt x="22" y="28"/>
                </a:lnTo>
                <a:lnTo>
                  <a:pt x="21" y="28"/>
                </a:lnTo>
                <a:close/>
                <a:moveTo>
                  <a:pt x="22" y="27"/>
                </a:moveTo>
                <a:lnTo>
                  <a:pt x="23" y="27"/>
                </a:lnTo>
                <a:lnTo>
                  <a:pt x="23" y="28"/>
                </a:lnTo>
                <a:lnTo>
                  <a:pt x="22" y="28"/>
                </a:lnTo>
                <a:close/>
                <a:moveTo>
                  <a:pt x="23" y="27"/>
                </a:moveTo>
                <a:lnTo>
                  <a:pt x="24" y="27"/>
                </a:lnTo>
                <a:lnTo>
                  <a:pt x="24" y="28"/>
                </a:lnTo>
                <a:lnTo>
                  <a:pt x="23" y="28"/>
                </a:lnTo>
                <a:close/>
                <a:moveTo>
                  <a:pt x="24" y="27"/>
                </a:moveTo>
                <a:lnTo>
                  <a:pt x="25" y="27"/>
                </a:lnTo>
                <a:lnTo>
                  <a:pt x="25" y="28"/>
                </a:lnTo>
                <a:lnTo>
                  <a:pt x="24" y="28"/>
                </a:lnTo>
                <a:close/>
                <a:moveTo>
                  <a:pt x="28" y="27"/>
                </a:moveTo>
                <a:lnTo>
                  <a:pt x="29" y="27"/>
                </a:lnTo>
                <a:lnTo>
                  <a:pt x="29" y="28"/>
                </a:lnTo>
                <a:lnTo>
                  <a:pt x="28" y="28"/>
                </a:lnTo>
                <a:close/>
                <a:moveTo>
                  <a:pt x="29" y="27"/>
                </a:moveTo>
                <a:lnTo>
                  <a:pt x="30" y="27"/>
                </a:lnTo>
                <a:lnTo>
                  <a:pt x="30" y="28"/>
                </a:lnTo>
                <a:lnTo>
                  <a:pt x="29" y="28"/>
                </a:lnTo>
                <a:close/>
                <a:moveTo>
                  <a:pt x="30" y="27"/>
                </a:moveTo>
                <a:lnTo>
                  <a:pt x="31" y="27"/>
                </a:lnTo>
                <a:lnTo>
                  <a:pt x="31" y="28"/>
                </a:lnTo>
                <a:lnTo>
                  <a:pt x="30" y="28"/>
                </a:lnTo>
                <a:close/>
                <a:moveTo>
                  <a:pt x="31" y="27"/>
                </a:moveTo>
                <a:lnTo>
                  <a:pt x="32" y="27"/>
                </a:lnTo>
                <a:lnTo>
                  <a:pt x="32" y="28"/>
                </a:lnTo>
                <a:lnTo>
                  <a:pt x="31" y="28"/>
                </a:lnTo>
                <a:close/>
                <a:moveTo>
                  <a:pt x="32" y="27"/>
                </a:moveTo>
                <a:lnTo>
                  <a:pt x="33" y="27"/>
                </a:lnTo>
                <a:lnTo>
                  <a:pt x="33" y="28"/>
                </a:lnTo>
                <a:lnTo>
                  <a:pt x="32" y="28"/>
                </a:lnTo>
                <a:close/>
                <a:moveTo>
                  <a:pt x="0" y="28"/>
                </a:moveTo>
                <a:lnTo>
                  <a:pt x="1" y="28"/>
                </a:lnTo>
                <a:lnTo>
                  <a:pt x="1" y="29"/>
                </a:lnTo>
                <a:lnTo>
                  <a:pt x="0" y="29"/>
                </a:lnTo>
                <a:close/>
                <a:moveTo>
                  <a:pt x="2" y="28"/>
                </a:moveTo>
                <a:lnTo>
                  <a:pt x="3" y="28"/>
                </a:lnTo>
                <a:lnTo>
                  <a:pt x="3" y="29"/>
                </a:lnTo>
                <a:lnTo>
                  <a:pt x="2" y="29"/>
                </a:lnTo>
                <a:close/>
                <a:moveTo>
                  <a:pt x="3" y="28"/>
                </a:moveTo>
                <a:lnTo>
                  <a:pt x="4" y="28"/>
                </a:lnTo>
                <a:lnTo>
                  <a:pt x="4" y="29"/>
                </a:lnTo>
                <a:lnTo>
                  <a:pt x="3" y="29"/>
                </a:lnTo>
                <a:close/>
                <a:moveTo>
                  <a:pt x="4" y="28"/>
                </a:moveTo>
                <a:lnTo>
                  <a:pt x="5" y="28"/>
                </a:lnTo>
                <a:lnTo>
                  <a:pt x="5" y="29"/>
                </a:lnTo>
                <a:lnTo>
                  <a:pt x="4" y="29"/>
                </a:lnTo>
                <a:close/>
                <a:moveTo>
                  <a:pt x="6" y="28"/>
                </a:moveTo>
                <a:lnTo>
                  <a:pt x="7" y="28"/>
                </a:lnTo>
                <a:lnTo>
                  <a:pt x="7" y="29"/>
                </a:lnTo>
                <a:lnTo>
                  <a:pt x="6" y="29"/>
                </a:lnTo>
                <a:close/>
                <a:moveTo>
                  <a:pt x="8" y="28"/>
                </a:moveTo>
                <a:lnTo>
                  <a:pt x="9" y="28"/>
                </a:lnTo>
                <a:lnTo>
                  <a:pt x="9" y="29"/>
                </a:lnTo>
                <a:lnTo>
                  <a:pt x="8" y="29"/>
                </a:lnTo>
                <a:close/>
                <a:moveTo>
                  <a:pt x="9" y="28"/>
                </a:moveTo>
                <a:lnTo>
                  <a:pt x="10" y="28"/>
                </a:lnTo>
                <a:lnTo>
                  <a:pt x="10" y="29"/>
                </a:lnTo>
                <a:lnTo>
                  <a:pt x="9" y="29"/>
                </a:lnTo>
                <a:close/>
                <a:moveTo>
                  <a:pt x="11" y="28"/>
                </a:moveTo>
                <a:lnTo>
                  <a:pt x="12" y="28"/>
                </a:lnTo>
                <a:lnTo>
                  <a:pt x="12" y="29"/>
                </a:lnTo>
                <a:lnTo>
                  <a:pt x="11" y="29"/>
                </a:lnTo>
                <a:close/>
                <a:moveTo>
                  <a:pt x="12" y="28"/>
                </a:moveTo>
                <a:lnTo>
                  <a:pt x="13" y="28"/>
                </a:lnTo>
                <a:lnTo>
                  <a:pt x="13" y="29"/>
                </a:lnTo>
                <a:lnTo>
                  <a:pt x="12" y="29"/>
                </a:lnTo>
                <a:close/>
                <a:moveTo>
                  <a:pt x="13" y="28"/>
                </a:moveTo>
                <a:lnTo>
                  <a:pt x="14" y="28"/>
                </a:lnTo>
                <a:lnTo>
                  <a:pt x="14" y="29"/>
                </a:lnTo>
                <a:lnTo>
                  <a:pt x="13" y="29"/>
                </a:lnTo>
                <a:close/>
                <a:moveTo>
                  <a:pt x="14" y="28"/>
                </a:move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close/>
                <a:moveTo>
                  <a:pt x="15" y="28"/>
                </a:moveTo>
                <a:lnTo>
                  <a:pt x="16" y="28"/>
                </a:lnTo>
                <a:lnTo>
                  <a:pt x="16" y="29"/>
                </a:lnTo>
                <a:lnTo>
                  <a:pt x="15" y="29"/>
                </a:lnTo>
                <a:close/>
                <a:moveTo>
                  <a:pt x="18" y="28"/>
                </a:moveTo>
                <a:lnTo>
                  <a:pt x="19" y="28"/>
                </a:lnTo>
                <a:lnTo>
                  <a:pt x="19" y="29"/>
                </a:lnTo>
                <a:lnTo>
                  <a:pt x="18" y="29"/>
                </a:lnTo>
                <a:close/>
                <a:moveTo>
                  <a:pt x="19" y="28"/>
                </a:moveTo>
                <a:lnTo>
                  <a:pt x="20" y="28"/>
                </a:lnTo>
                <a:lnTo>
                  <a:pt x="20" y="29"/>
                </a:lnTo>
                <a:lnTo>
                  <a:pt x="19" y="29"/>
                </a:lnTo>
                <a:close/>
                <a:moveTo>
                  <a:pt x="21" y="28"/>
                </a:moveTo>
                <a:lnTo>
                  <a:pt x="22" y="28"/>
                </a:lnTo>
                <a:lnTo>
                  <a:pt x="22" y="29"/>
                </a:lnTo>
                <a:lnTo>
                  <a:pt x="21" y="29"/>
                </a:lnTo>
                <a:close/>
                <a:moveTo>
                  <a:pt x="24" y="28"/>
                </a:moveTo>
                <a:lnTo>
                  <a:pt x="25" y="28"/>
                </a:lnTo>
                <a:lnTo>
                  <a:pt x="25" y="29"/>
                </a:lnTo>
                <a:lnTo>
                  <a:pt x="24" y="29"/>
                </a:lnTo>
                <a:close/>
                <a:moveTo>
                  <a:pt x="25" y="28"/>
                </a:moveTo>
                <a:lnTo>
                  <a:pt x="26" y="28"/>
                </a:lnTo>
                <a:lnTo>
                  <a:pt x="26" y="29"/>
                </a:lnTo>
                <a:lnTo>
                  <a:pt x="25" y="29"/>
                </a:lnTo>
                <a:close/>
                <a:moveTo>
                  <a:pt x="26" y="28"/>
                </a:moveTo>
                <a:lnTo>
                  <a:pt x="27" y="28"/>
                </a:lnTo>
                <a:lnTo>
                  <a:pt x="27" y="29"/>
                </a:lnTo>
                <a:lnTo>
                  <a:pt x="26" y="29"/>
                </a:lnTo>
                <a:close/>
                <a:moveTo>
                  <a:pt x="27" y="28"/>
                </a:moveTo>
                <a:lnTo>
                  <a:pt x="28" y="28"/>
                </a:lnTo>
                <a:lnTo>
                  <a:pt x="28" y="29"/>
                </a:lnTo>
                <a:lnTo>
                  <a:pt x="27" y="29"/>
                </a:lnTo>
                <a:close/>
                <a:moveTo>
                  <a:pt x="28" y="28"/>
                </a:moveTo>
                <a:lnTo>
                  <a:pt x="29" y="28"/>
                </a:lnTo>
                <a:lnTo>
                  <a:pt x="29" y="29"/>
                </a:lnTo>
                <a:lnTo>
                  <a:pt x="28" y="29"/>
                </a:lnTo>
                <a:close/>
                <a:moveTo>
                  <a:pt x="29" y="28"/>
                </a:moveTo>
                <a:lnTo>
                  <a:pt x="30" y="28"/>
                </a:lnTo>
                <a:lnTo>
                  <a:pt x="30" y="29"/>
                </a:lnTo>
                <a:lnTo>
                  <a:pt x="29" y="29"/>
                </a:lnTo>
                <a:close/>
                <a:moveTo>
                  <a:pt x="31" y="28"/>
                </a:moveTo>
                <a:lnTo>
                  <a:pt x="32" y="28"/>
                </a:lnTo>
                <a:lnTo>
                  <a:pt x="32" y="29"/>
                </a:lnTo>
                <a:lnTo>
                  <a:pt x="31" y="29"/>
                </a:lnTo>
                <a:close/>
                <a:moveTo>
                  <a:pt x="0" y="29"/>
                </a:moveTo>
                <a:lnTo>
                  <a:pt x="1" y="29"/>
                </a:lnTo>
                <a:lnTo>
                  <a:pt x="1" y="30"/>
                </a:lnTo>
                <a:lnTo>
                  <a:pt x="0" y="30"/>
                </a:lnTo>
                <a:close/>
                <a:moveTo>
                  <a:pt x="2" y="29"/>
                </a:moveTo>
                <a:lnTo>
                  <a:pt x="3" y="29"/>
                </a:lnTo>
                <a:lnTo>
                  <a:pt x="3" y="30"/>
                </a:lnTo>
                <a:lnTo>
                  <a:pt x="2" y="30"/>
                </a:lnTo>
                <a:close/>
                <a:moveTo>
                  <a:pt x="3" y="29"/>
                </a:moveTo>
                <a:lnTo>
                  <a:pt x="4" y="29"/>
                </a:lnTo>
                <a:lnTo>
                  <a:pt x="4" y="30"/>
                </a:lnTo>
                <a:lnTo>
                  <a:pt x="3" y="30"/>
                </a:lnTo>
                <a:close/>
                <a:moveTo>
                  <a:pt x="4" y="29"/>
                </a:moveTo>
                <a:lnTo>
                  <a:pt x="5" y="29"/>
                </a:lnTo>
                <a:lnTo>
                  <a:pt x="5" y="30"/>
                </a:lnTo>
                <a:lnTo>
                  <a:pt x="4" y="30"/>
                </a:lnTo>
                <a:close/>
                <a:moveTo>
                  <a:pt x="6" y="29"/>
                </a:moveTo>
                <a:lnTo>
                  <a:pt x="7" y="29"/>
                </a:lnTo>
                <a:lnTo>
                  <a:pt x="7" y="30"/>
                </a:lnTo>
                <a:lnTo>
                  <a:pt x="6" y="30"/>
                </a:lnTo>
                <a:close/>
                <a:moveTo>
                  <a:pt x="8" y="29"/>
                </a:moveTo>
                <a:lnTo>
                  <a:pt x="9" y="29"/>
                </a:lnTo>
                <a:lnTo>
                  <a:pt x="9" y="30"/>
                </a:lnTo>
                <a:lnTo>
                  <a:pt x="8" y="30"/>
                </a:lnTo>
                <a:close/>
                <a:moveTo>
                  <a:pt x="9" y="29"/>
                </a:moveTo>
                <a:lnTo>
                  <a:pt x="10" y="29"/>
                </a:lnTo>
                <a:lnTo>
                  <a:pt x="10" y="30"/>
                </a:lnTo>
                <a:lnTo>
                  <a:pt x="9" y="30"/>
                </a:lnTo>
                <a:close/>
                <a:moveTo>
                  <a:pt x="12" y="29"/>
                </a:moveTo>
                <a:lnTo>
                  <a:pt x="13" y="29"/>
                </a:lnTo>
                <a:lnTo>
                  <a:pt x="13" y="30"/>
                </a:lnTo>
                <a:lnTo>
                  <a:pt x="12" y="30"/>
                </a:lnTo>
                <a:close/>
                <a:moveTo>
                  <a:pt x="13" y="29"/>
                </a:moveTo>
                <a:lnTo>
                  <a:pt x="14" y="29"/>
                </a:lnTo>
                <a:lnTo>
                  <a:pt x="14" y="30"/>
                </a:lnTo>
                <a:lnTo>
                  <a:pt x="13" y="30"/>
                </a:lnTo>
                <a:close/>
                <a:moveTo>
                  <a:pt x="14" y="29"/>
                </a:moveTo>
                <a:lnTo>
                  <a:pt x="15" y="29"/>
                </a:lnTo>
                <a:lnTo>
                  <a:pt x="15" y="30"/>
                </a:lnTo>
                <a:lnTo>
                  <a:pt x="14" y="30"/>
                </a:lnTo>
                <a:close/>
                <a:moveTo>
                  <a:pt x="15" y="29"/>
                </a:moveTo>
                <a:lnTo>
                  <a:pt x="16" y="29"/>
                </a:lnTo>
                <a:lnTo>
                  <a:pt x="16" y="30"/>
                </a:lnTo>
                <a:lnTo>
                  <a:pt x="15" y="30"/>
                </a:lnTo>
                <a:close/>
                <a:moveTo>
                  <a:pt x="16" y="29"/>
                </a:moveTo>
                <a:lnTo>
                  <a:pt x="17" y="29"/>
                </a:lnTo>
                <a:lnTo>
                  <a:pt x="17" y="30"/>
                </a:lnTo>
                <a:lnTo>
                  <a:pt x="16" y="30"/>
                </a:lnTo>
                <a:close/>
                <a:moveTo>
                  <a:pt x="17" y="29"/>
                </a:moveTo>
                <a:lnTo>
                  <a:pt x="18" y="29"/>
                </a:lnTo>
                <a:lnTo>
                  <a:pt x="18" y="30"/>
                </a:lnTo>
                <a:lnTo>
                  <a:pt x="17" y="30"/>
                </a:lnTo>
                <a:close/>
                <a:moveTo>
                  <a:pt x="20" y="29"/>
                </a:moveTo>
                <a:lnTo>
                  <a:pt x="21" y="29"/>
                </a:lnTo>
                <a:lnTo>
                  <a:pt x="21" y="30"/>
                </a:lnTo>
                <a:lnTo>
                  <a:pt x="20" y="30"/>
                </a:lnTo>
                <a:close/>
                <a:moveTo>
                  <a:pt x="22" y="29"/>
                </a:moveTo>
                <a:lnTo>
                  <a:pt x="23" y="29"/>
                </a:lnTo>
                <a:lnTo>
                  <a:pt x="23" y="30"/>
                </a:lnTo>
                <a:lnTo>
                  <a:pt x="22" y="30"/>
                </a:lnTo>
                <a:close/>
                <a:moveTo>
                  <a:pt x="23" y="29"/>
                </a:moveTo>
                <a:lnTo>
                  <a:pt x="24" y="29"/>
                </a:lnTo>
                <a:lnTo>
                  <a:pt x="24" y="30"/>
                </a:lnTo>
                <a:lnTo>
                  <a:pt x="23" y="30"/>
                </a:lnTo>
                <a:close/>
                <a:moveTo>
                  <a:pt x="24" y="29"/>
                </a:moveTo>
                <a:lnTo>
                  <a:pt x="25" y="29"/>
                </a:lnTo>
                <a:lnTo>
                  <a:pt x="25" y="30"/>
                </a:lnTo>
                <a:lnTo>
                  <a:pt x="24" y="30"/>
                </a:lnTo>
                <a:close/>
                <a:moveTo>
                  <a:pt x="25" y="29"/>
                </a:moveTo>
                <a:lnTo>
                  <a:pt x="26" y="29"/>
                </a:lnTo>
                <a:lnTo>
                  <a:pt x="26" y="30"/>
                </a:lnTo>
                <a:lnTo>
                  <a:pt x="25" y="30"/>
                </a:lnTo>
                <a:close/>
                <a:moveTo>
                  <a:pt x="28" y="29"/>
                </a:moveTo>
                <a:lnTo>
                  <a:pt x="29" y="29"/>
                </a:lnTo>
                <a:lnTo>
                  <a:pt x="29" y="30"/>
                </a:lnTo>
                <a:lnTo>
                  <a:pt x="28" y="30"/>
                </a:lnTo>
                <a:close/>
                <a:moveTo>
                  <a:pt x="29" y="29"/>
                </a:moveTo>
                <a:lnTo>
                  <a:pt x="30" y="29"/>
                </a:lnTo>
                <a:lnTo>
                  <a:pt x="30" y="30"/>
                </a:lnTo>
                <a:lnTo>
                  <a:pt x="29" y="30"/>
                </a:lnTo>
                <a:close/>
                <a:moveTo>
                  <a:pt x="32" y="29"/>
                </a:moveTo>
                <a:lnTo>
                  <a:pt x="33" y="29"/>
                </a:lnTo>
                <a:lnTo>
                  <a:pt x="33" y="30"/>
                </a:lnTo>
                <a:lnTo>
                  <a:pt x="32" y="30"/>
                </a:lnTo>
                <a:close/>
                <a:moveTo>
                  <a:pt x="0" y="30"/>
                </a:moveTo>
                <a:lnTo>
                  <a:pt x="1" y="30"/>
                </a:lnTo>
                <a:lnTo>
                  <a:pt x="1" y="31"/>
                </a:lnTo>
                <a:lnTo>
                  <a:pt x="0" y="31"/>
                </a:lnTo>
                <a:close/>
                <a:moveTo>
                  <a:pt x="2" y="30"/>
                </a:moveTo>
                <a:lnTo>
                  <a:pt x="3" y="30"/>
                </a:lnTo>
                <a:lnTo>
                  <a:pt x="3" y="31"/>
                </a:lnTo>
                <a:lnTo>
                  <a:pt x="2" y="31"/>
                </a:lnTo>
                <a:close/>
                <a:moveTo>
                  <a:pt x="3" y="30"/>
                </a:moveTo>
                <a:lnTo>
                  <a:pt x="4" y="30"/>
                </a:lnTo>
                <a:lnTo>
                  <a:pt x="4" y="31"/>
                </a:lnTo>
                <a:lnTo>
                  <a:pt x="3" y="31"/>
                </a:lnTo>
                <a:close/>
                <a:moveTo>
                  <a:pt x="4" y="30"/>
                </a:moveTo>
                <a:lnTo>
                  <a:pt x="5" y="30"/>
                </a:lnTo>
                <a:lnTo>
                  <a:pt x="5" y="31"/>
                </a:lnTo>
                <a:lnTo>
                  <a:pt x="4" y="31"/>
                </a:lnTo>
                <a:close/>
                <a:moveTo>
                  <a:pt x="6" y="30"/>
                </a:moveTo>
                <a:lnTo>
                  <a:pt x="7" y="30"/>
                </a:lnTo>
                <a:lnTo>
                  <a:pt x="7" y="31"/>
                </a:lnTo>
                <a:lnTo>
                  <a:pt x="6" y="31"/>
                </a:lnTo>
                <a:close/>
                <a:moveTo>
                  <a:pt x="8" y="30"/>
                </a:moveTo>
                <a:lnTo>
                  <a:pt x="9" y="30"/>
                </a:lnTo>
                <a:lnTo>
                  <a:pt x="9" y="31"/>
                </a:lnTo>
                <a:lnTo>
                  <a:pt x="8" y="31"/>
                </a:lnTo>
                <a:close/>
                <a:moveTo>
                  <a:pt x="10" y="30"/>
                </a:moveTo>
                <a:lnTo>
                  <a:pt x="11" y="30"/>
                </a:lnTo>
                <a:lnTo>
                  <a:pt x="11" y="31"/>
                </a:lnTo>
                <a:lnTo>
                  <a:pt x="10" y="31"/>
                </a:lnTo>
                <a:close/>
                <a:moveTo>
                  <a:pt x="11" y="30"/>
                </a:move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close/>
                <a:moveTo>
                  <a:pt x="14" y="30"/>
                </a:moveTo>
                <a:lnTo>
                  <a:pt x="15" y="30"/>
                </a:lnTo>
                <a:lnTo>
                  <a:pt x="15" y="31"/>
                </a:lnTo>
                <a:lnTo>
                  <a:pt x="14" y="31"/>
                </a:lnTo>
                <a:close/>
                <a:moveTo>
                  <a:pt x="17" y="30"/>
                </a:moveTo>
                <a:lnTo>
                  <a:pt x="18" y="30"/>
                </a:lnTo>
                <a:lnTo>
                  <a:pt x="18" y="31"/>
                </a:lnTo>
                <a:lnTo>
                  <a:pt x="17" y="31"/>
                </a:lnTo>
                <a:close/>
                <a:moveTo>
                  <a:pt x="19" y="30"/>
                </a:moveTo>
                <a:lnTo>
                  <a:pt x="20" y="30"/>
                </a:lnTo>
                <a:lnTo>
                  <a:pt x="20" y="31"/>
                </a:lnTo>
                <a:lnTo>
                  <a:pt x="19" y="31"/>
                </a:lnTo>
                <a:close/>
                <a:moveTo>
                  <a:pt x="22" y="30"/>
                </a:moveTo>
                <a:lnTo>
                  <a:pt x="23" y="30"/>
                </a:lnTo>
                <a:lnTo>
                  <a:pt x="23" y="31"/>
                </a:lnTo>
                <a:lnTo>
                  <a:pt x="22" y="31"/>
                </a:lnTo>
                <a:close/>
                <a:moveTo>
                  <a:pt x="26" y="30"/>
                </a:moveTo>
                <a:lnTo>
                  <a:pt x="27" y="30"/>
                </a:lnTo>
                <a:lnTo>
                  <a:pt x="27" y="31"/>
                </a:lnTo>
                <a:lnTo>
                  <a:pt x="26" y="31"/>
                </a:lnTo>
                <a:close/>
                <a:moveTo>
                  <a:pt x="27" y="30"/>
                </a:moveTo>
                <a:lnTo>
                  <a:pt x="28" y="30"/>
                </a:lnTo>
                <a:lnTo>
                  <a:pt x="28" y="31"/>
                </a:lnTo>
                <a:lnTo>
                  <a:pt x="27" y="31"/>
                </a:lnTo>
                <a:close/>
                <a:moveTo>
                  <a:pt x="29" y="30"/>
                </a:moveTo>
                <a:lnTo>
                  <a:pt x="30" y="30"/>
                </a:lnTo>
                <a:lnTo>
                  <a:pt x="30" y="31"/>
                </a:lnTo>
                <a:lnTo>
                  <a:pt x="29" y="31"/>
                </a:lnTo>
                <a:close/>
                <a:moveTo>
                  <a:pt x="30" y="30"/>
                </a:moveTo>
                <a:lnTo>
                  <a:pt x="31" y="30"/>
                </a:lnTo>
                <a:lnTo>
                  <a:pt x="31" y="31"/>
                </a:lnTo>
                <a:lnTo>
                  <a:pt x="30" y="31"/>
                </a:lnTo>
                <a:close/>
                <a:moveTo>
                  <a:pt x="0" y="31"/>
                </a:moveTo>
                <a:lnTo>
                  <a:pt x="1" y="31"/>
                </a:lnTo>
                <a:lnTo>
                  <a:pt x="1" y="32"/>
                </a:lnTo>
                <a:lnTo>
                  <a:pt x="0" y="32"/>
                </a:lnTo>
                <a:close/>
                <a:moveTo>
                  <a:pt x="6" y="31"/>
                </a:moveTo>
                <a:lnTo>
                  <a:pt x="7" y="31"/>
                </a:lnTo>
                <a:lnTo>
                  <a:pt x="7" y="32"/>
                </a:lnTo>
                <a:lnTo>
                  <a:pt x="6" y="32"/>
                </a:lnTo>
                <a:close/>
                <a:moveTo>
                  <a:pt x="10" y="31"/>
                </a:moveTo>
                <a:lnTo>
                  <a:pt x="11" y="31"/>
                </a:lnTo>
                <a:lnTo>
                  <a:pt x="11" y="32"/>
                </a:lnTo>
                <a:lnTo>
                  <a:pt x="10" y="32"/>
                </a:lnTo>
                <a:close/>
                <a:moveTo>
                  <a:pt x="12" y="31"/>
                </a:moveTo>
                <a:lnTo>
                  <a:pt x="13" y="31"/>
                </a:lnTo>
                <a:lnTo>
                  <a:pt x="13" y="32"/>
                </a:lnTo>
                <a:lnTo>
                  <a:pt x="12" y="32"/>
                </a:lnTo>
                <a:close/>
                <a:moveTo>
                  <a:pt x="13" y="31"/>
                </a:moveTo>
                <a:lnTo>
                  <a:pt x="14" y="31"/>
                </a:lnTo>
                <a:lnTo>
                  <a:pt x="14" y="32"/>
                </a:lnTo>
                <a:lnTo>
                  <a:pt x="13" y="32"/>
                </a:lnTo>
                <a:close/>
                <a:moveTo>
                  <a:pt x="14" y="31"/>
                </a:moveTo>
                <a:lnTo>
                  <a:pt x="15" y="31"/>
                </a:lnTo>
                <a:lnTo>
                  <a:pt x="15" y="32"/>
                </a:lnTo>
                <a:lnTo>
                  <a:pt x="14" y="32"/>
                </a:lnTo>
                <a:close/>
                <a:moveTo>
                  <a:pt x="16" y="31"/>
                </a:moveTo>
                <a:lnTo>
                  <a:pt x="17" y="31"/>
                </a:lnTo>
                <a:lnTo>
                  <a:pt x="17" y="32"/>
                </a:lnTo>
                <a:lnTo>
                  <a:pt x="16" y="32"/>
                </a:lnTo>
                <a:close/>
                <a:moveTo>
                  <a:pt x="18" y="31"/>
                </a:moveTo>
                <a:lnTo>
                  <a:pt x="19" y="31"/>
                </a:lnTo>
                <a:lnTo>
                  <a:pt x="19" y="32"/>
                </a:lnTo>
                <a:lnTo>
                  <a:pt x="18" y="32"/>
                </a:lnTo>
                <a:close/>
                <a:moveTo>
                  <a:pt x="19" y="31"/>
                </a:moveTo>
                <a:lnTo>
                  <a:pt x="20" y="31"/>
                </a:lnTo>
                <a:lnTo>
                  <a:pt x="20" y="32"/>
                </a:lnTo>
                <a:lnTo>
                  <a:pt x="19" y="32"/>
                </a:lnTo>
                <a:close/>
                <a:moveTo>
                  <a:pt x="20" y="31"/>
                </a:moveTo>
                <a:lnTo>
                  <a:pt x="21" y="31"/>
                </a:lnTo>
                <a:lnTo>
                  <a:pt x="21" y="32"/>
                </a:lnTo>
                <a:lnTo>
                  <a:pt x="20" y="32"/>
                </a:lnTo>
                <a:close/>
                <a:moveTo>
                  <a:pt x="21" y="31"/>
                </a:moveTo>
                <a:lnTo>
                  <a:pt x="22" y="31"/>
                </a:lnTo>
                <a:lnTo>
                  <a:pt x="22" y="32"/>
                </a:lnTo>
                <a:lnTo>
                  <a:pt x="21" y="32"/>
                </a:lnTo>
                <a:close/>
                <a:moveTo>
                  <a:pt x="22" y="31"/>
                </a:moveTo>
                <a:lnTo>
                  <a:pt x="23" y="31"/>
                </a:lnTo>
                <a:lnTo>
                  <a:pt x="23" y="32"/>
                </a:lnTo>
                <a:lnTo>
                  <a:pt x="22" y="32"/>
                </a:lnTo>
                <a:close/>
                <a:moveTo>
                  <a:pt x="28" y="31"/>
                </a:moveTo>
                <a:lnTo>
                  <a:pt x="29" y="31"/>
                </a:lnTo>
                <a:lnTo>
                  <a:pt x="29" y="32"/>
                </a:lnTo>
                <a:lnTo>
                  <a:pt x="28" y="32"/>
                </a:lnTo>
                <a:close/>
                <a:moveTo>
                  <a:pt x="29" y="31"/>
                </a:moveTo>
                <a:lnTo>
                  <a:pt x="30" y="31"/>
                </a:lnTo>
                <a:lnTo>
                  <a:pt x="30" y="32"/>
                </a:lnTo>
                <a:lnTo>
                  <a:pt x="29" y="32"/>
                </a:lnTo>
                <a:close/>
                <a:moveTo>
                  <a:pt x="30" y="31"/>
                </a:moveTo>
                <a:lnTo>
                  <a:pt x="31" y="31"/>
                </a:lnTo>
                <a:lnTo>
                  <a:pt x="31" y="32"/>
                </a:lnTo>
                <a:lnTo>
                  <a:pt x="30" y="32"/>
                </a:lnTo>
                <a:close/>
                <a:moveTo>
                  <a:pt x="0" y="32"/>
                </a:moveTo>
                <a:lnTo>
                  <a:pt x="1" y="32"/>
                </a:lnTo>
                <a:lnTo>
                  <a:pt x="1" y="33"/>
                </a:lnTo>
                <a:lnTo>
                  <a:pt x="0" y="33"/>
                </a:lnTo>
                <a:close/>
                <a:moveTo>
                  <a:pt x="1" y="32"/>
                </a:moveTo>
                <a:lnTo>
                  <a:pt x="2" y="32"/>
                </a:lnTo>
                <a:lnTo>
                  <a:pt x="2" y="33"/>
                </a:lnTo>
                <a:lnTo>
                  <a:pt x="1" y="33"/>
                </a:lnTo>
                <a:close/>
                <a:moveTo>
                  <a:pt x="2" y="32"/>
                </a:moveTo>
                <a:lnTo>
                  <a:pt x="3" y="32"/>
                </a:lnTo>
                <a:lnTo>
                  <a:pt x="3" y="33"/>
                </a:lnTo>
                <a:lnTo>
                  <a:pt x="2" y="33"/>
                </a:lnTo>
                <a:close/>
                <a:moveTo>
                  <a:pt x="3" y="32"/>
                </a:moveTo>
                <a:lnTo>
                  <a:pt x="4" y="32"/>
                </a:lnTo>
                <a:lnTo>
                  <a:pt x="4" y="33"/>
                </a:lnTo>
                <a:lnTo>
                  <a:pt x="3" y="33"/>
                </a:lnTo>
                <a:close/>
                <a:moveTo>
                  <a:pt x="4" y="32"/>
                </a:moveTo>
                <a:lnTo>
                  <a:pt x="5" y="32"/>
                </a:lnTo>
                <a:lnTo>
                  <a:pt x="5" y="33"/>
                </a:lnTo>
                <a:lnTo>
                  <a:pt x="4" y="33"/>
                </a:lnTo>
                <a:close/>
                <a:moveTo>
                  <a:pt x="5" y="32"/>
                </a:moveTo>
                <a:lnTo>
                  <a:pt x="6" y="32"/>
                </a:lnTo>
                <a:lnTo>
                  <a:pt x="6" y="33"/>
                </a:lnTo>
                <a:lnTo>
                  <a:pt x="5" y="33"/>
                </a:lnTo>
                <a:close/>
                <a:moveTo>
                  <a:pt x="6" y="32"/>
                </a:moveTo>
                <a:lnTo>
                  <a:pt x="7" y="32"/>
                </a:lnTo>
                <a:lnTo>
                  <a:pt x="7" y="33"/>
                </a:lnTo>
                <a:lnTo>
                  <a:pt x="6" y="33"/>
                </a:lnTo>
                <a:close/>
                <a:moveTo>
                  <a:pt x="8" y="32"/>
                </a:moveTo>
                <a:lnTo>
                  <a:pt x="9" y="32"/>
                </a:lnTo>
                <a:lnTo>
                  <a:pt x="9" y="33"/>
                </a:lnTo>
                <a:lnTo>
                  <a:pt x="8" y="33"/>
                </a:lnTo>
                <a:close/>
                <a:moveTo>
                  <a:pt x="9" y="32"/>
                </a:moveTo>
                <a:lnTo>
                  <a:pt x="10" y="32"/>
                </a:lnTo>
                <a:lnTo>
                  <a:pt x="10" y="33"/>
                </a:lnTo>
                <a:lnTo>
                  <a:pt x="9" y="33"/>
                </a:lnTo>
                <a:close/>
                <a:moveTo>
                  <a:pt x="10" y="32"/>
                </a:moveTo>
                <a:lnTo>
                  <a:pt x="11" y="32"/>
                </a:lnTo>
                <a:lnTo>
                  <a:pt x="11" y="33"/>
                </a:lnTo>
                <a:lnTo>
                  <a:pt x="10" y="33"/>
                </a:lnTo>
                <a:close/>
                <a:moveTo>
                  <a:pt x="12" y="32"/>
                </a:moveTo>
                <a:lnTo>
                  <a:pt x="13" y="32"/>
                </a:lnTo>
                <a:lnTo>
                  <a:pt x="13" y="33"/>
                </a:lnTo>
                <a:lnTo>
                  <a:pt x="12" y="33"/>
                </a:lnTo>
                <a:close/>
                <a:moveTo>
                  <a:pt x="16" y="32"/>
                </a:moveTo>
                <a:lnTo>
                  <a:pt x="17" y="32"/>
                </a:lnTo>
                <a:lnTo>
                  <a:pt x="17" y="33"/>
                </a:lnTo>
                <a:lnTo>
                  <a:pt x="16" y="33"/>
                </a:lnTo>
                <a:close/>
                <a:moveTo>
                  <a:pt x="17" y="32"/>
                </a:moveTo>
                <a:lnTo>
                  <a:pt x="18" y="32"/>
                </a:lnTo>
                <a:lnTo>
                  <a:pt x="18" y="33"/>
                </a:lnTo>
                <a:lnTo>
                  <a:pt x="17" y="33"/>
                </a:lnTo>
                <a:close/>
                <a:moveTo>
                  <a:pt x="18" y="32"/>
                </a:moveTo>
                <a:lnTo>
                  <a:pt x="19" y="32"/>
                </a:lnTo>
                <a:lnTo>
                  <a:pt x="19" y="33"/>
                </a:lnTo>
                <a:lnTo>
                  <a:pt x="18" y="33"/>
                </a:lnTo>
                <a:close/>
                <a:moveTo>
                  <a:pt x="19" y="32"/>
                </a:moveTo>
                <a:lnTo>
                  <a:pt x="20" y="32"/>
                </a:lnTo>
                <a:lnTo>
                  <a:pt x="20" y="33"/>
                </a:lnTo>
                <a:lnTo>
                  <a:pt x="19" y="33"/>
                </a:lnTo>
                <a:close/>
                <a:moveTo>
                  <a:pt x="22" y="32"/>
                </a:moveTo>
                <a:lnTo>
                  <a:pt x="23" y="32"/>
                </a:lnTo>
                <a:lnTo>
                  <a:pt x="23" y="33"/>
                </a:lnTo>
                <a:lnTo>
                  <a:pt x="22" y="33"/>
                </a:lnTo>
                <a:close/>
                <a:moveTo>
                  <a:pt x="23" y="32"/>
                </a:moveTo>
                <a:lnTo>
                  <a:pt x="24" y="32"/>
                </a:lnTo>
                <a:lnTo>
                  <a:pt x="24" y="33"/>
                </a:lnTo>
                <a:lnTo>
                  <a:pt x="23" y="33"/>
                </a:lnTo>
                <a:close/>
                <a:moveTo>
                  <a:pt x="24" y="32"/>
                </a:moveTo>
                <a:lnTo>
                  <a:pt x="25" y="32"/>
                </a:lnTo>
                <a:lnTo>
                  <a:pt x="25" y="33"/>
                </a:lnTo>
                <a:lnTo>
                  <a:pt x="24" y="33"/>
                </a:lnTo>
                <a:close/>
                <a:moveTo>
                  <a:pt x="25" y="32"/>
                </a:moveTo>
                <a:lnTo>
                  <a:pt x="26" y="32"/>
                </a:lnTo>
                <a:lnTo>
                  <a:pt x="26" y="33"/>
                </a:lnTo>
                <a:lnTo>
                  <a:pt x="25" y="33"/>
                </a:lnTo>
                <a:close/>
                <a:moveTo>
                  <a:pt x="26" y="32"/>
                </a:moveTo>
                <a:lnTo>
                  <a:pt x="27" y="32"/>
                </a:lnTo>
                <a:lnTo>
                  <a:pt x="27" y="33"/>
                </a:lnTo>
                <a:lnTo>
                  <a:pt x="26" y="33"/>
                </a:lnTo>
                <a:close/>
                <a:moveTo>
                  <a:pt x="27" y="32"/>
                </a:moveTo>
                <a:lnTo>
                  <a:pt x="28" y="32"/>
                </a:lnTo>
                <a:lnTo>
                  <a:pt x="28" y="33"/>
                </a:lnTo>
                <a:lnTo>
                  <a:pt x="27" y="33"/>
                </a:lnTo>
                <a:close/>
                <a:moveTo>
                  <a:pt x="29" y="32"/>
                </a:moveTo>
                <a:lnTo>
                  <a:pt x="30" y="32"/>
                </a:lnTo>
                <a:lnTo>
                  <a:pt x="30" y="33"/>
                </a:lnTo>
                <a:lnTo>
                  <a:pt x="29" y="33"/>
                </a:lnTo>
                <a:close/>
                <a:moveTo>
                  <a:pt x="31" y="32"/>
                </a:moveTo>
                <a:lnTo>
                  <a:pt x="32" y="32"/>
                </a:lnTo>
                <a:lnTo>
                  <a:pt x="32" y="33"/>
                </a:lnTo>
                <a:lnTo>
                  <a:pt x="31" y="33"/>
                </a:lnTo>
                <a:close/>
              </a:path>
            </a:pathLst>
          </a:custGeom>
          <a:solidFill>
            <a:srgbClr val="1C143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2" name="QR Caption"/>
          <p:cNvSpPr/>
          <p:nvPr/>
        </p:nvSpPr>
        <p:spPr>
          <a:xfrm>
            <a:off x="929640" y="52324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F5EEFF"/>
                </a:solidFill>
                <a:latin typeface="+mj-lt"/>
              </a:rPr>
              <a:t>Scan to open the repo</a:t>
            </a:r>
          </a:p>
        </p:txBody>
      </p:sp>
      <p:sp>
        <p:nvSpPr>
          <p:cNvPr id="103" name="QR Link"/>
          <p:cNvSpPr/>
          <p:nvPr/>
        </p:nvSpPr>
        <p:spPr>
          <a:xfrm>
            <a:off x="802640" y="55372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200" dirty="0">
                <a:solidFill>
                  <a:srgbClr val="FFC21A"/>
                </a:solidFill>
              </a:rPr>
              <a:t>github.com/ctrlcn1nja/gemma-workshop</a:t>
            </a:r>
          </a:p>
        </p:txBody>
      </p:sp>
      <p:sp>
        <p:nvSpPr>
          <p:cNvPr id="104" name="Prereq Kicker"/>
          <p:cNvSpPr/>
          <p:nvPr/>
        </p:nvSpPr>
        <p:spPr>
          <a:xfrm>
            <a:off x="4699000" y="1905000"/>
            <a:ext cx="6654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72FE0"/>
                </a:solidFill>
                <a:latin typeface="+mj-lt"/>
              </a:rPr>
              <a:t>BEFORE YOU START, INSTALL</a:t>
            </a:r>
          </a:p>
        </p:txBody>
      </p:sp>
      <p:sp>
        <p:nvSpPr>
          <p:cNvPr id="105" name="Check 1"/>
          <p:cNvSpPr/>
          <p:nvPr/>
        </p:nvSpPr>
        <p:spPr>
          <a:xfrm>
            <a:off x="4699000" y="2425700"/>
            <a:ext cx="254000" cy="254000"/>
          </a:xfrm>
          <a:prstGeom prst="roundRect">
            <a:avLst/>
          </a:prstGeom>
          <a:noFill/>
          <a:ln w="19050">
            <a:solidFill>
              <a:srgbClr val="F72FE0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6" name="Prereq 1"/>
          <p:cNvSpPr/>
          <p:nvPr/>
        </p:nvSpPr>
        <p:spPr>
          <a:xfrm>
            <a:off x="5130800" y="2311400"/>
            <a:ext cx="622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dirty="0">
                <a:solidFill>
                  <a:srgbClr val="F5EEFF"/>
                </a:solidFill>
                <a:latin typeface="+mj-lt"/>
              </a:rPr>
              <a:t>VS Code  </a:t>
            </a:r>
            <a:r>
              <a:rPr lang="en-US" sz="1400" dirty="0">
                <a:solidFill>
                  <a:srgbClr val="D9CCF2"/>
                </a:solidFill>
              </a:rPr>
              <a:t>the editor we work in</a:t>
            </a:r>
          </a:p>
        </p:txBody>
      </p:sp>
      <p:sp>
        <p:nvSpPr>
          <p:cNvPr id="107" name="Check 2"/>
          <p:cNvSpPr/>
          <p:nvPr/>
        </p:nvSpPr>
        <p:spPr>
          <a:xfrm>
            <a:off x="4699000" y="3060700"/>
            <a:ext cx="254000" cy="254000"/>
          </a:xfrm>
          <a:prstGeom prst="roundRect">
            <a:avLst/>
          </a:prstGeom>
          <a:noFill/>
          <a:ln w="19050">
            <a:solidFill>
              <a:srgbClr val="F72FE0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8" name="Prereq 2"/>
          <p:cNvSpPr/>
          <p:nvPr/>
        </p:nvSpPr>
        <p:spPr>
          <a:xfrm>
            <a:off x="5130800" y="2946400"/>
            <a:ext cx="622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dirty="0">
                <a:solidFill>
                  <a:srgbClr val="F5EEFF"/>
                </a:solidFill>
                <a:latin typeface="+mj-lt"/>
              </a:rPr>
              <a:t>Python 3.10+  </a:t>
            </a:r>
            <a:r>
              <a:rPr lang="en-US" sz="1400" dirty="0">
                <a:solidFill>
                  <a:srgbClr val="D9CCF2"/>
                </a:solidFill>
              </a:rPr>
              <a:t>runs the test files</a:t>
            </a:r>
          </a:p>
        </p:txBody>
      </p:sp>
      <p:sp>
        <p:nvSpPr>
          <p:cNvPr id="111" name="Check 4"/>
          <p:cNvSpPr/>
          <p:nvPr/>
        </p:nvSpPr>
        <p:spPr>
          <a:xfrm>
            <a:off x="4699000" y="3695700"/>
            <a:ext cx="254000" cy="254000"/>
          </a:xfrm>
          <a:prstGeom prst="roundRect">
            <a:avLst/>
          </a:prstGeom>
          <a:noFill/>
          <a:ln w="19050">
            <a:solidFill>
              <a:srgbClr val="F72FE0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2" name="Prereq 4"/>
          <p:cNvSpPr/>
          <p:nvPr/>
        </p:nvSpPr>
        <p:spPr>
          <a:xfrm>
            <a:off x="5130800" y="3581400"/>
            <a:ext cx="622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dirty="0">
                <a:solidFill>
                  <a:srgbClr val="F5EEFF"/>
                </a:solidFill>
                <a:latin typeface="+mj-lt"/>
              </a:rPr>
              <a:t>Git  </a:t>
            </a:r>
            <a:r>
              <a:rPr lang="en-US" sz="1400" dirty="0">
                <a:solidFill>
                  <a:srgbClr val="D9CCF2"/>
                </a:solidFill>
              </a:rPr>
              <a:t>or use Code → Download ZIP on GitHub</a:t>
            </a:r>
          </a:p>
        </p:txBody>
      </p:sp>
      <p:sp>
        <p:nvSpPr>
          <p:cNvPr id="113" name="Check 5"/>
          <p:cNvSpPr/>
          <p:nvPr/>
        </p:nvSpPr>
        <p:spPr>
          <a:xfrm>
            <a:off x="4699000" y="4330700"/>
            <a:ext cx="254000" cy="254000"/>
          </a:xfrm>
          <a:prstGeom prst="roundRect">
            <a:avLst/>
          </a:prstGeom>
          <a:noFill/>
          <a:ln w="19050">
            <a:solidFill>
              <a:srgbClr val="F72FE0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4" name="Prereq 5"/>
          <p:cNvSpPr/>
          <p:nvPr/>
        </p:nvSpPr>
        <p:spPr>
          <a:xfrm>
            <a:off x="5130800" y="4216400"/>
            <a:ext cx="622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dirty="0">
                <a:solidFill>
                  <a:srgbClr val="F5EEFF"/>
                </a:solidFill>
                <a:latin typeface="+mj-lt"/>
              </a:rPr>
              <a:t>GitHub account  </a:t>
            </a:r>
            <a:r>
              <a:rPr lang="en-US" sz="1400" dirty="0">
                <a:solidFill>
                  <a:srgbClr val="D9CCF2"/>
                </a:solidFill>
              </a:rPr>
              <a:t>for Copilot Chat; free for students via GitHub Education</a:t>
            </a:r>
          </a:p>
        </p:txBody>
      </p:sp>
      <p:sp>
        <p:nvSpPr>
          <p:cNvPr id="115" name="Download Note"/>
          <p:cNvSpPr/>
          <p:nvPr/>
        </p:nvSpPr>
        <p:spPr>
          <a:xfrm>
            <a:off x="4699000" y="5054600"/>
            <a:ext cx="665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FFC21A"/>
                </a:solidFill>
              </a:rPr>
              <a:t>You can directly type the command into your console :</a:t>
            </a:r>
            <a:endParaRPr lang="en-US" sz="1400" dirty="0">
              <a:solidFill>
                <a:srgbClr val="D9CCF2"/>
              </a:solidFill>
            </a:endParaRPr>
          </a:p>
        </p:txBody>
      </p:sp>
      <p:sp>
        <p:nvSpPr>
          <p:cNvPr id="116" name="Clone Command"/>
          <p:cNvSpPr/>
          <p:nvPr/>
        </p:nvSpPr>
        <p:spPr>
          <a:xfrm>
            <a:off x="4699000" y="5537200"/>
            <a:ext cx="6654800" cy="5080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17780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F72FE0"/>
                </a:solidFill>
                <a:latin typeface="Consolas"/>
              </a:rPr>
              <a:t>$ </a:t>
            </a:r>
            <a:r>
              <a:rPr lang="en-US" sz="1400" dirty="0">
                <a:solidFill>
                  <a:srgbClr val="F5EEFF"/>
                </a:solidFill>
                <a:latin typeface="Consolas"/>
              </a:rPr>
              <a:t>git clone https://github.com/ctrlcn1nja/gemma-workshop.git</a:t>
            </a:r>
          </a:p>
        </p:txBody>
      </p:sp>
    </p:spTree>
    <p:extLst>
      <p:ext uri="{BB962C8B-B14F-4D97-AF65-F5344CB8AC3E}">
        <p14:creationId xmlns:p14="http://schemas.microsoft.com/office/powerpoint/2010/main" val="3537491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4FC8C-B762-36C2-1EE6-E63AD445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Ollama / Gemma Setup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382B1-8935-AE4C-3642-0438D2A30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78400"/>
            <a:ext cx="10515600" cy="1500187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D9CCF2"/>
                </a:solidFill>
              </a:rPr>
              <a:t>Run the setup script</a:t>
            </a:r>
            <a:r>
              <a:rPr lang="en-US" sz="2000" b="1" dirty="0">
                <a:solidFill>
                  <a:srgbClr val="F72FE0"/>
                </a:solidFill>
              </a:rPr>
              <a:t>  →  </a:t>
            </a:r>
            <a:r>
              <a:rPr lang="en-US" sz="2000" dirty="0">
                <a:solidFill>
                  <a:srgbClr val="D9CCF2"/>
                </a:solidFill>
              </a:rPr>
              <a:t>Pull Gemma 4 E4B</a:t>
            </a:r>
            <a:r>
              <a:rPr lang="en-US" sz="2000" b="1" dirty="0">
                <a:solidFill>
                  <a:srgbClr val="F72FE0"/>
                </a:solidFill>
              </a:rPr>
              <a:t>  →  </a:t>
            </a:r>
            <a:r>
              <a:rPr lang="en-US" sz="2000" dirty="0">
                <a:solidFill>
                  <a:srgbClr val="D9CCF2"/>
                </a:solidFill>
              </a:rPr>
              <a:t>Connect it to VS Code</a:t>
            </a:r>
            <a:r>
              <a:rPr lang="en-US" sz="2000" b="1" dirty="0">
                <a:solidFill>
                  <a:srgbClr val="F72FE0"/>
                </a:solidFill>
              </a:rPr>
              <a:t>  →  </a:t>
            </a:r>
            <a:r>
              <a:rPr lang="en-US" sz="2000" dirty="0">
                <a:solidFill>
                  <a:srgbClr val="D9CCF2"/>
                </a:solidFill>
              </a:rPr>
              <a:t>Say hello</a:t>
            </a:r>
          </a:p>
        </p:txBody>
      </p:sp>
      <p:sp>
        <p:nvSpPr>
          <p:cNvPr id="50" name="Accent Rule"/>
          <p:cNvSpPr/>
          <p:nvPr/>
        </p:nvSpPr>
        <p:spPr>
          <a:xfrm>
            <a:off x="927100" y="4699000"/>
            <a:ext cx="1524000" cy="76200"/>
          </a:xfrm>
          <a:prstGeom prst="rect">
            <a:avLst/>
          </a:prstGeom>
          <a:gradFill>
            <a:gsLst>
              <a:gs pos="0">
                <a:srgbClr val="FFE600"/>
              </a:gs>
              <a:gs pos="50000">
                <a:srgbClr val="F43F8E"/>
              </a:gs>
              <a:gs pos="100000">
                <a:srgbClr val="B620E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37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55E8-9E57-82E7-A285-C25D3BCD1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It all starts with the Prompt</a:t>
            </a:r>
          </a:p>
        </p:txBody>
      </p:sp>
      <p:sp>
        <p:nvSpPr>
          <p:cNvPr id="100" name="Bad Card"/>
          <p:cNvSpPr/>
          <p:nvPr/>
        </p:nvSpPr>
        <p:spPr>
          <a:xfrm>
            <a:off x="927100" y="1905000"/>
            <a:ext cx="3683000" cy="3810000"/>
          </a:xfrm>
          <a:prstGeom prst="rect">
            <a:avLst/>
          </a:prstGeom>
          <a:solidFill>
            <a:srgbClr val="231A4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1" name="Bad Bar"/>
          <p:cNvSpPr/>
          <p:nvPr/>
        </p:nvSpPr>
        <p:spPr>
          <a:xfrm>
            <a:off x="927100" y="1905000"/>
            <a:ext cx="3683000" cy="76200"/>
          </a:xfrm>
          <a:prstGeom prst="rect">
            <a:avLst/>
          </a:prstGeom>
          <a:solidFill>
            <a:srgbClr val="9C8FB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2" name="Bad Text"/>
          <p:cNvSpPr/>
          <p:nvPr/>
        </p:nvSpPr>
        <p:spPr>
          <a:xfrm>
            <a:off x="1206500" y="2235200"/>
            <a:ext cx="3175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dirty="0">
                <a:solidFill>
                  <a:srgbClr val="9C8FBF"/>
                </a:solidFill>
                <a:latin typeface="+mj-lt"/>
              </a:rPr>
              <a:t>PROMPT 1</a:t>
            </a:r>
          </a:p>
          <a:p>
            <a:pPr algn="l">
              <a:spcBef>
                <a:spcPts val="1400"/>
              </a:spcBef>
            </a:pPr>
            <a:r>
              <a:rPr lang="en-US" sz="2800" b="1" dirty="0">
                <a:solidFill>
                  <a:srgbClr val="B3A8D4"/>
                </a:solidFill>
                <a:latin typeface="Consolas"/>
              </a:rPr>
              <a:t>“fix my code”</a:t>
            </a:r>
          </a:p>
        </p:txBody>
      </p:sp>
      <p:sp>
        <p:nvSpPr>
          <p:cNvPr id="103" name="Good Card"/>
          <p:cNvSpPr/>
          <p:nvPr/>
        </p:nvSpPr>
        <p:spPr>
          <a:xfrm>
            <a:off x="4864100" y="1905000"/>
            <a:ext cx="6489700" cy="3810000"/>
          </a:xfrm>
          <a:prstGeom prst="rect">
            <a:avLst/>
          </a:prstGeom>
          <a:solidFill>
            <a:srgbClr val="2A1D4D"/>
          </a:solidFill>
          <a:ln w="19050">
            <a:solidFill>
              <a:srgbClr val="F72FE0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4" name="Good Bar"/>
          <p:cNvSpPr/>
          <p:nvPr/>
        </p:nvSpPr>
        <p:spPr>
          <a:xfrm>
            <a:off x="4864100" y="1905000"/>
            <a:ext cx="6489700" cy="76200"/>
          </a:xfrm>
          <a:prstGeom prst="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5" name="Good Text"/>
          <p:cNvSpPr/>
          <p:nvPr/>
        </p:nvSpPr>
        <p:spPr>
          <a:xfrm>
            <a:off x="5143500" y="2235200"/>
            <a:ext cx="59309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72FE0"/>
                </a:solidFill>
                <a:latin typeface="+mj-lt"/>
              </a:rPr>
              <a:t>PROMPT 2</a:t>
            </a:r>
          </a:p>
          <a:p>
            <a:pPr algn="l">
              <a:spcBef>
                <a:spcPts val="1400"/>
              </a:spcBef>
            </a:pPr>
            <a:r>
              <a:rPr lang="en-US" sz="2400" dirty="0">
                <a:solidFill>
                  <a:srgbClr val="FFC21A"/>
                </a:solidFill>
              </a:rPr>
              <a:t>In utils.py, calculate_average() </a:t>
            </a:r>
            <a:r>
              <a:rPr lang="en-US" sz="2400" dirty="0">
                <a:solidFill>
                  <a:srgbClr val="FF8A2B"/>
                </a:solidFill>
              </a:rPr>
              <a:t>returns 80.0, but my test expects 85.0. </a:t>
            </a:r>
            <a:r>
              <a:rPr lang="en-US" sz="2400" dirty="0">
                <a:solidFill>
                  <a:srgbClr val="F43F8E"/>
                </a:solidFill>
              </a:rPr>
              <a:t>Here is the function: [paste code]. </a:t>
            </a:r>
            <a:endParaRPr lang="en-US" sz="2400" dirty="0">
              <a:solidFill>
                <a:srgbClr val="F72FE0"/>
              </a:solidFill>
            </a:endParaRPr>
          </a:p>
        </p:txBody>
      </p:sp>
      <p:sp>
        <p:nvSpPr>
          <p:cNvPr id="106" name="Tag Context"/>
          <p:cNvSpPr/>
          <p:nvPr/>
        </p:nvSpPr>
        <p:spPr>
          <a:xfrm>
            <a:off x="2571750" y="5969000"/>
            <a:ext cx="1409700" cy="431800"/>
          </a:xfrm>
          <a:prstGeom prst="roundRect">
            <a:avLst/>
          </a:prstGeom>
          <a:solidFill>
            <a:srgbClr val="FFC2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C1433"/>
                </a:solidFill>
                <a:latin typeface="+mj-lt"/>
              </a:rPr>
              <a:t>Context</a:t>
            </a:r>
          </a:p>
        </p:txBody>
      </p:sp>
      <p:sp>
        <p:nvSpPr>
          <p:cNvPr id="107" name="Tag Evidence"/>
          <p:cNvSpPr/>
          <p:nvPr/>
        </p:nvSpPr>
        <p:spPr>
          <a:xfrm>
            <a:off x="4248150" y="5969000"/>
            <a:ext cx="1549400" cy="431800"/>
          </a:xfrm>
          <a:prstGeom prst="roundRect">
            <a:avLst/>
          </a:prstGeom>
          <a:solidFill>
            <a:srgbClr val="FF8A2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C1433"/>
                </a:solidFill>
                <a:latin typeface="+mj-lt"/>
              </a:rPr>
              <a:t>Evidence</a:t>
            </a:r>
          </a:p>
        </p:txBody>
      </p:sp>
      <p:sp>
        <p:nvSpPr>
          <p:cNvPr id="108" name="Tag Code"/>
          <p:cNvSpPr/>
          <p:nvPr/>
        </p:nvSpPr>
        <p:spPr>
          <a:xfrm>
            <a:off x="6178550" y="5969000"/>
            <a:ext cx="990600" cy="431800"/>
          </a:xfrm>
          <a:prstGeom prst="roundRect">
            <a:avLst/>
          </a:prstGeom>
          <a:solidFill>
            <a:srgbClr val="F43F8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C1433"/>
                </a:solidFill>
                <a:latin typeface="+mj-lt"/>
              </a:rPr>
              <a:t>Code</a:t>
            </a:r>
          </a:p>
        </p:txBody>
      </p:sp>
      <p:sp>
        <p:nvSpPr>
          <p:cNvPr id="109" name="Tag Ask"/>
          <p:cNvSpPr/>
          <p:nvPr/>
        </p:nvSpPr>
        <p:spPr>
          <a:xfrm>
            <a:off x="7454900" y="5929312"/>
            <a:ext cx="850900" cy="431800"/>
          </a:xfrm>
          <a:prstGeom prst="round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C1433"/>
                </a:solidFill>
                <a:latin typeface="+mj-lt"/>
              </a:rPr>
              <a:t>Ask</a:t>
            </a:r>
          </a:p>
        </p:txBody>
      </p:sp>
      <p:sp>
        <p:nvSpPr>
          <p:cNvPr id="110" name="Tag Lead"/>
          <p:cNvSpPr/>
          <p:nvPr/>
        </p:nvSpPr>
        <p:spPr>
          <a:xfrm>
            <a:off x="5143500" y="4470400"/>
            <a:ext cx="593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 lang="en-US" sz="1600" dirty="0">
              <a:solidFill>
                <a:srgbClr val="D9CC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642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918E-7DA2-8407-12BE-9D6E03040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Managing Context</a:t>
            </a:r>
          </a:p>
        </p:txBody>
      </p:sp>
      <p:sp>
        <p:nvSpPr>
          <p:cNvPr id="100" name="Window Label"/>
          <p:cNvSpPr/>
          <p:nvPr/>
        </p:nvSpPr>
        <p:spPr>
          <a:xfrm>
            <a:off x="927100" y="1879600"/>
            <a:ext cx="104267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en-US" sz="1400" b="1" dirty="0">
                <a:solidFill>
                  <a:srgbClr val="F72FE0"/>
                </a:solidFill>
                <a:latin typeface="+mj-lt"/>
              </a:rPr>
              <a:t>THE CONTEXT WINDOW</a:t>
            </a:r>
            <a:r>
              <a:rPr lang="en-US" sz="1400" dirty="0">
                <a:solidFill>
                  <a:srgbClr val="D9CCF2"/>
                </a:solidFill>
              </a:rPr>
              <a:t>   everything the model can see at once, 16K tokens in today's setup</a:t>
            </a:r>
          </a:p>
        </p:txBody>
      </p:sp>
      <p:sp>
        <p:nvSpPr>
          <p:cNvPr id="101" name="Window Frame"/>
          <p:cNvSpPr/>
          <p:nvPr/>
        </p:nvSpPr>
        <p:spPr>
          <a:xfrm>
            <a:off x="927100" y="2286000"/>
            <a:ext cx="10426700" cy="1143000"/>
          </a:xfrm>
          <a:prstGeom prst="rect">
            <a:avLst/>
          </a:prstGeom>
          <a:noFill/>
          <a:ln w="28575">
            <a:solidFill>
              <a:srgbClr val="F72FE0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2" name="Seg System prompt"/>
          <p:cNvSpPr/>
          <p:nvPr/>
        </p:nvSpPr>
        <p:spPr>
          <a:xfrm>
            <a:off x="1003300" y="2362200"/>
            <a:ext cx="1397000" cy="990600"/>
          </a:xfrm>
          <a:prstGeom prst="rect">
            <a:avLst/>
          </a:prstGeom>
          <a:solidFill>
            <a:srgbClr val="B620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5EEFF"/>
                </a:solidFill>
                <a:latin typeface="+mj-lt"/>
              </a:rPr>
              <a:t>System prompt</a:t>
            </a:r>
          </a:p>
        </p:txBody>
      </p:sp>
      <p:sp>
        <p:nvSpPr>
          <p:cNvPr id="103" name="Seg Your code file"/>
          <p:cNvSpPr/>
          <p:nvPr/>
        </p:nvSpPr>
        <p:spPr>
          <a:xfrm>
            <a:off x="2451100" y="2362200"/>
            <a:ext cx="3429000" cy="990600"/>
          </a:xfrm>
          <a:prstGeom prst="rect">
            <a:avLst/>
          </a:prstGeom>
          <a:solidFill>
            <a:srgbClr val="F43F8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C1433"/>
                </a:solidFill>
                <a:latin typeface="+mj-lt"/>
              </a:rPr>
              <a:t>Your code file</a:t>
            </a:r>
          </a:p>
        </p:txBody>
      </p:sp>
      <p:sp>
        <p:nvSpPr>
          <p:cNvPr id="104" name="Seg Chat history"/>
          <p:cNvSpPr/>
          <p:nvPr/>
        </p:nvSpPr>
        <p:spPr>
          <a:xfrm>
            <a:off x="5930900" y="2362200"/>
            <a:ext cx="2540000" cy="990600"/>
          </a:xfrm>
          <a:prstGeom prst="rect">
            <a:avLst/>
          </a:prstGeom>
          <a:solidFill>
            <a:srgbClr val="FF8A2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C1433"/>
                </a:solidFill>
                <a:latin typeface="+mj-lt"/>
              </a:rPr>
              <a:t>Chat history</a:t>
            </a:r>
          </a:p>
        </p:txBody>
      </p:sp>
      <p:sp>
        <p:nvSpPr>
          <p:cNvPr id="105" name="Seg Your question"/>
          <p:cNvSpPr/>
          <p:nvPr/>
        </p:nvSpPr>
        <p:spPr>
          <a:xfrm>
            <a:off x="8521700" y="2362200"/>
            <a:ext cx="1524000" cy="990600"/>
          </a:xfrm>
          <a:prstGeom prst="rect">
            <a:avLst/>
          </a:prstGeom>
          <a:solidFill>
            <a:srgbClr val="FFC2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1C1433"/>
                </a:solidFill>
                <a:latin typeface="+mj-lt"/>
              </a:rPr>
              <a:t>Your question</a:t>
            </a:r>
          </a:p>
        </p:txBody>
      </p:sp>
      <p:sp>
        <p:nvSpPr>
          <p:cNvPr id="106" name="Seg Reply"/>
          <p:cNvSpPr/>
          <p:nvPr/>
        </p:nvSpPr>
        <p:spPr>
          <a:xfrm>
            <a:off x="10096500" y="2362200"/>
            <a:ext cx="1181100" cy="990600"/>
          </a:xfrm>
          <a:prstGeom prst="rect">
            <a:avLst/>
          </a:prstGeom>
          <a:noFill/>
          <a:ln w="12700">
            <a:solidFill>
              <a:srgbClr val="9C8FBF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B3A8D4"/>
                </a:solidFill>
                <a:latin typeface="+mj-lt"/>
              </a:rPr>
              <a:t>Room for the reply</a:t>
            </a:r>
          </a:p>
        </p:txBody>
      </p:sp>
      <p:sp>
        <p:nvSpPr>
          <p:cNvPr id="107" name="Drop Arrow"/>
          <p:cNvSpPr/>
          <p:nvPr/>
        </p:nvSpPr>
        <p:spPr>
          <a:xfrm>
            <a:off x="5930900" y="3835400"/>
            <a:ext cx="508000" cy="279400"/>
          </a:xfrm>
          <a:prstGeom prst="leftArrow">
            <a:avLst/>
          </a:prstGeom>
          <a:solidFill>
            <a:srgbClr val="FF8A2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8" name="Drop Note"/>
          <p:cNvSpPr/>
          <p:nvPr/>
        </p:nvSpPr>
        <p:spPr>
          <a:xfrm>
            <a:off x="6565900" y="378460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dirty="0">
                <a:solidFill>
                  <a:srgbClr val="D9CCF2"/>
                </a:solidFill>
              </a:rPr>
              <a:t>When the window fills up, the oldest messages fall out and the model forgets them</a:t>
            </a:r>
          </a:p>
        </p:txBody>
      </p:sp>
      <p:sp>
        <p:nvSpPr>
          <p:cNvPr id="109" name="Tip Card 1"/>
          <p:cNvSpPr/>
          <p:nvPr/>
        </p:nvSpPr>
        <p:spPr>
          <a:xfrm>
            <a:off x="927100" y="4724400"/>
            <a:ext cx="3306233" cy="13970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0" name="Tip Bar 1"/>
          <p:cNvSpPr/>
          <p:nvPr/>
        </p:nvSpPr>
        <p:spPr>
          <a:xfrm>
            <a:off x="927100" y="4724400"/>
            <a:ext cx="3306233" cy="63500"/>
          </a:xfrm>
          <a:prstGeom prst="rect">
            <a:avLst/>
          </a:prstGeom>
          <a:solidFill>
            <a:srgbClr val="FFC2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1" name="Tip Text 1"/>
          <p:cNvSpPr/>
          <p:nvPr/>
        </p:nvSpPr>
        <p:spPr>
          <a:xfrm>
            <a:off x="1155700" y="4978400"/>
            <a:ext cx="2849033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5EEFF"/>
                </a:solidFill>
                <a:latin typeface="+mj-lt"/>
              </a:rPr>
              <a:t>One chat per bug</a:t>
            </a:r>
          </a:p>
          <a:p>
            <a:pPr algn="l">
              <a:spcBef>
                <a:spcPts val="600"/>
              </a:spcBef>
            </a:pPr>
            <a:r>
              <a:rPr lang="en-US" sz="1400" dirty="0">
                <a:solidFill>
                  <a:srgbClr val="D9CCF2"/>
                </a:solidFill>
              </a:rPr>
              <a:t>A fresh chat clears old history so it can't mislead the tutor</a:t>
            </a:r>
          </a:p>
        </p:txBody>
      </p:sp>
      <p:sp>
        <p:nvSpPr>
          <p:cNvPr id="112" name="Tip Card 2"/>
          <p:cNvSpPr/>
          <p:nvPr/>
        </p:nvSpPr>
        <p:spPr>
          <a:xfrm>
            <a:off x="4487333" y="4724400"/>
            <a:ext cx="3306233" cy="13970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3" name="Tip Bar 2"/>
          <p:cNvSpPr/>
          <p:nvPr/>
        </p:nvSpPr>
        <p:spPr>
          <a:xfrm>
            <a:off x="4487333" y="4724400"/>
            <a:ext cx="3306233" cy="63500"/>
          </a:xfrm>
          <a:prstGeom prst="rect">
            <a:avLst/>
          </a:prstGeom>
          <a:solidFill>
            <a:srgbClr val="FF8A2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4" name="Tip Text 2"/>
          <p:cNvSpPr/>
          <p:nvPr/>
        </p:nvSpPr>
        <p:spPr>
          <a:xfrm>
            <a:off x="4715933" y="4978400"/>
            <a:ext cx="2849033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5EEFF"/>
                </a:solidFill>
                <a:latin typeface="+mj-lt"/>
              </a:rPr>
              <a:t>Share only what matters</a:t>
            </a:r>
          </a:p>
          <a:p>
            <a:pPr algn="l">
              <a:spcBef>
                <a:spcPts val="600"/>
              </a:spcBef>
            </a:pPr>
            <a:r>
              <a:rPr lang="en-US" sz="1400" dirty="0">
                <a:solidFill>
                  <a:srgbClr val="D9CCF2"/>
                </a:solidFill>
              </a:rPr>
              <a:t>Point it at the one file you're fixing, not the whole project</a:t>
            </a:r>
          </a:p>
        </p:txBody>
      </p:sp>
      <p:sp>
        <p:nvSpPr>
          <p:cNvPr id="115" name="Tip Card 3"/>
          <p:cNvSpPr/>
          <p:nvPr/>
        </p:nvSpPr>
        <p:spPr>
          <a:xfrm>
            <a:off x="8047567" y="4724400"/>
            <a:ext cx="3306233" cy="13970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6" name="Tip Bar 3"/>
          <p:cNvSpPr/>
          <p:nvPr/>
        </p:nvSpPr>
        <p:spPr>
          <a:xfrm>
            <a:off x="8047567" y="4724400"/>
            <a:ext cx="3306233" cy="63500"/>
          </a:xfrm>
          <a:prstGeom prst="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7" name="Tip Text 3"/>
          <p:cNvSpPr/>
          <p:nvPr/>
        </p:nvSpPr>
        <p:spPr>
          <a:xfrm>
            <a:off x="8276167" y="4978400"/>
            <a:ext cx="2849033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5EEFF"/>
                </a:solidFill>
                <a:latin typeface="+mj-lt"/>
              </a:rPr>
              <a:t>Know your budget</a:t>
            </a:r>
          </a:p>
          <a:p>
            <a:pPr algn="l">
              <a:spcBef>
                <a:spcPts val="600"/>
              </a:spcBef>
            </a:pPr>
            <a:r>
              <a:rPr lang="en-US" sz="1400" dirty="0">
                <a:solidFill>
                  <a:srgbClr val="D9CCF2"/>
                </a:solidFill>
              </a:rPr>
              <a:t>16K tokens fits a file plus a short chat; 8 GB laptops get 8K</a:t>
            </a:r>
          </a:p>
        </p:txBody>
      </p:sp>
    </p:spTree>
    <p:extLst>
      <p:ext uri="{BB962C8B-B14F-4D97-AF65-F5344CB8AC3E}">
        <p14:creationId xmlns:p14="http://schemas.microsoft.com/office/powerpoint/2010/main" val="980415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F76E-4796-DCBF-43DD-AADB99BAF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How do LLMs work?</a:t>
            </a:r>
          </a:p>
        </p:txBody>
      </p:sp>
      <p:sp>
        <p:nvSpPr>
          <p:cNvPr id="100" name="Step1 Label"/>
          <p:cNvSpPr/>
          <p:nvPr/>
        </p:nvSpPr>
        <p:spPr>
          <a:xfrm>
            <a:off x="927100" y="1905000"/>
            <a:ext cx="406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F72FE0"/>
                </a:solidFill>
                <a:latin typeface="+mj-lt"/>
              </a:rPr>
              <a:t>1  YOUR TEXT SO FAR</a:t>
            </a:r>
          </a:p>
        </p:txBody>
      </p:sp>
      <p:sp>
        <p:nvSpPr>
          <p:cNvPr id="101" name="Sentence"/>
          <p:cNvSpPr/>
          <p:nvPr/>
        </p:nvSpPr>
        <p:spPr>
          <a:xfrm>
            <a:off x="927100" y="2235200"/>
            <a:ext cx="4064000" cy="8128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228600" tIns="0" rIns="0" bIns="0" anchor="ctr">
            <a:noAutofit/>
          </a:bodyPr>
          <a:lstStyle/>
          <a:p>
            <a:pPr algn="l"/>
            <a:r>
              <a:rPr lang="en-US" sz="2400" b="1" dirty="0">
                <a:solidFill>
                  <a:srgbClr val="F5EEFF"/>
                </a:solidFill>
                <a:latin typeface="+mj-lt"/>
              </a:rPr>
              <a:t>The bug is in the </a:t>
            </a:r>
            <a:r>
              <a:rPr lang="en-US" sz="2400" b="1" dirty="0">
                <a:solidFill>
                  <a:srgbClr val="F72FE0"/>
                </a:solidFill>
                <a:latin typeface="+mj-lt"/>
              </a:rPr>
              <a:t>___</a:t>
            </a:r>
          </a:p>
        </p:txBody>
      </p:sp>
      <p:sp>
        <p:nvSpPr>
          <p:cNvPr id="102" name="Down 1"/>
          <p:cNvSpPr/>
          <p:nvPr/>
        </p:nvSpPr>
        <p:spPr>
          <a:xfrm>
            <a:off x="2819400" y="3175000"/>
            <a:ext cx="279400" cy="279400"/>
          </a:xfrm>
          <a:prstGeom prst="downArrow">
            <a:avLst/>
          </a:prstGeom>
          <a:solidFill>
            <a:srgbClr val="9C8F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3" name="Step2 Label"/>
          <p:cNvSpPr/>
          <p:nvPr/>
        </p:nvSpPr>
        <p:spPr>
          <a:xfrm>
            <a:off x="927100" y="3556000"/>
            <a:ext cx="406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F72FE0"/>
                </a:solidFill>
                <a:latin typeface="+mj-lt"/>
              </a:rPr>
              <a:t>2  THE MODEL SCORES EACH NEXT WORD</a:t>
            </a:r>
          </a:p>
        </p:txBody>
      </p:sp>
      <p:sp>
        <p:nvSpPr>
          <p:cNvPr id="104" name="Model Box"/>
          <p:cNvSpPr/>
          <p:nvPr/>
        </p:nvSpPr>
        <p:spPr>
          <a:xfrm>
            <a:off x="927100" y="3886200"/>
            <a:ext cx="4064000" cy="812800"/>
          </a:xfrm>
          <a:prstGeom prst="round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1C1433"/>
                </a:solidFill>
                <a:latin typeface="+mj-lt"/>
              </a:rPr>
              <a:t>Gemma 4 E4B</a:t>
            </a:r>
          </a:p>
        </p:txBody>
      </p:sp>
      <p:sp>
        <p:nvSpPr>
          <p:cNvPr id="105" name="Down 2"/>
          <p:cNvSpPr/>
          <p:nvPr/>
        </p:nvSpPr>
        <p:spPr>
          <a:xfrm>
            <a:off x="2819400" y="4826000"/>
            <a:ext cx="279400" cy="279400"/>
          </a:xfrm>
          <a:prstGeom prst="downArrow">
            <a:avLst/>
          </a:prstGeom>
          <a:solidFill>
            <a:srgbClr val="9C8F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6" name="Step3 Label"/>
          <p:cNvSpPr/>
          <p:nvPr/>
        </p:nvSpPr>
        <p:spPr>
          <a:xfrm>
            <a:off x="927100" y="5207000"/>
            <a:ext cx="406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F72FE0"/>
                </a:solidFill>
                <a:latin typeface="+mj-lt"/>
              </a:rPr>
              <a:t>3  IT PICKS ONE, ADDS IT, AND REPEATS</a:t>
            </a:r>
          </a:p>
        </p:txBody>
      </p:sp>
      <p:sp>
        <p:nvSpPr>
          <p:cNvPr id="107" name="Step3 Text"/>
          <p:cNvSpPr/>
          <p:nvPr/>
        </p:nvSpPr>
        <p:spPr>
          <a:xfrm>
            <a:off x="927100" y="55372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dirty="0">
                <a:solidFill>
                  <a:srgbClr val="D9CCF2"/>
                </a:solidFill>
              </a:rPr>
              <a:t>One token at a time, until the answer is done</a:t>
            </a:r>
          </a:p>
        </p:txBody>
      </p:sp>
      <p:sp>
        <p:nvSpPr>
          <p:cNvPr id="108" name="Chart Label"/>
          <p:cNvSpPr/>
          <p:nvPr/>
        </p:nvSpPr>
        <p:spPr>
          <a:xfrm>
            <a:off x="5588000" y="1905000"/>
            <a:ext cx="5765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 dirty="0">
                <a:solidFill>
                  <a:srgbClr val="F5EEFF"/>
                </a:solidFill>
              </a:rPr>
              <a:t>Probability of the next word</a:t>
            </a:r>
          </a:p>
        </p:txBody>
      </p:sp>
      <p:graphicFrame>
        <p:nvGraphicFramePr>
          <p:cNvPr id="109" name="Chart"/>
          <p:cNvGraphicFramePr/>
          <p:nvPr/>
        </p:nvGraphicFramePr>
        <p:xfrm>
          <a:off x="5588000" y="2286000"/>
          <a:ext cx="57658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25593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11702-446D-2B4A-90B7-D4956C539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Temperature and Top-k</a:t>
            </a:r>
          </a:p>
        </p:txBody>
      </p:sp>
      <p:sp>
        <p:nvSpPr>
          <p:cNvPr id="100" name="Temp Card"/>
          <p:cNvSpPr/>
          <p:nvPr/>
        </p:nvSpPr>
        <p:spPr>
          <a:xfrm>
            <a:off x="927100" y="1879600"/>
            <a:ext cx="5080000" cy="40640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1" name="Temp Bar"/>
          <p:cNvSpPr/>
          <p:nvPr/>
        </p:nvSpPr>
        <p:spPr>
          <a:xfrm>
            <a:off x="927100" y="1879600"/>
            <a:ext cx="5080000" cy="63500"/>
          </a:xfrm>
          <a:prstGeom prst="rect">
            <a:avLst/>
          </a:prstGeom>
          <a:solidFill>
            <a:srgbClr val="FFC2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2" name="Temp Head"/>
          <p:cNvSpPr/>
          <p:nvPr/>
        </p:nvSpPr>
        <p:spPr>
          <a:xfrm>
            <a:off x="1181100" y="2108200"/>
            <a:ext cx="457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FC21A"/>
                </a:solidFill>
                <a:latin typeface="+mj-lt"/>
              </a:rPr>
              <a:t>TEMPERATURE</a:t>
            </a:r>
          </a:p>
          <a:p>
            <a:pPr algn="l"/>
            <a:r>
              <a:rPr lang="en-US" sz="1400" dirty="0">
                <a:solidFill>
                  <a:srgbClr val="D9CCF2"/>
                </a:solidFill>
              </a:rPr>
              <a:t>How adventurous the pick is</a:t>
            </a:r>
          </a:p>
        </p:txBody>
      </p:sp>
      <p:sp>
        <p:nvSpPr>
          <p:cNvPr id="103" name="Temp 0 bar 0"/>
          <p:cNvSpPr/>
          <p:nvPr/>
        </p:nvSpPr>
        <p:spPr>
          <a:xfrm>
            <a:off x="1308100" y="3149600"/>
            <a:ext cx="304800" cy="1905000"/>
          </a:xfrm>
          <a:prstGeom prst="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4" name="Temp 0 bar 1"/>
          <p:cNvSpPr/>
          <p:nvPr/>
        </p:nvSpPr>
        <p:spPr>
          <a:xfrm>
            <a:off x="1689100" y="4830482"/>
            <a:ext cx="304800" cy="224118"/>
          </a:xfrm>
          <a:prstGeom prst="rect">
            <a:avLst/>
          </a:prstGeom>
          <a:solidFill>
            <a:srgbClr val="6C3BA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5" name="Temp 0 bar 2"/>
          <p:cNvSpPr/>
          <p:nvPr/>
        </p:nvSpPr>
        <p:spPr>
          <a:xfrm>
            <a:off x="2070100" y="4987365"/>
            <a:ext cx="304800" cy="67235"/>
          </a:xfrm>
          <a:prstGeom prst="rect">
            <a:avLst/>
          </a:prstGeom>
          <a:solidFill>
            <a:srgbClr val="6C3BA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6" name="Temp 0 bar 3"/>
          <p:cNvSpPr/>
          <p:nvPr/>
        </p:nvSpPr>
        <p:spPr>
          <a:xfrm>
            <a:off x="2451100" y="5032188"/>
            <a:ext cx="304800" cy="22412"/>
          </a:xfrm>
          <a:prstGeom prst="rect">
            <a:avLst/>
          </a:prstGeom>
          <a:solidFill>
            <a:srgbClr val="6C3BA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7" name="Temp 0 bar 4"/>
          <p:cNvSpPr/>
          <p:nvPr/>
        </p:nvSpPr>
        <p:spPr>
          <a:xfrm>
            <a:off x="2832100" y="5032188"/>
            <a:ext cx="304800" cy="22412"/>
          </a:xfrm>
          <a:prstGeom prst="rect">
            <a:avLst/>
          </a:prstGeom>
          <a:solidFill>
            <a:srgbClr val="6C3BA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08" name="Temp Group 0"/>
          <p:cNvSpPr/>
          <p:nvPr/>
        </p:nvSpPr>
        <p:spPr>
          <a:xfrm>
            <a:off x="1231900" y="51562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 dirty="0">
                <a:solidFill>
                  <a:srgbClr val="F5EEFF"/>
                </a:solidFill>
                <a:latin typeface="+mj-lt"/>
              </a:rPr>
              <a:t>Low (0.2)</a:t>
            </a:r>
          </a:p>
        </p:txBody>
      </p:sp>
      <p:sp>
        <p:nvSpPr>
          <p:cNvPr id="109" name="Temp Desc 0"/>
          <p:cNvSpPr/>
          <p:nvPr/>
        </p:nvSpPr>
        <p:spPr>
          <a:xfrm>
            <a:off x="1231900" y="54356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dirty="0">
                <a:solidFill>
                  <a:srgbClr val="D9CCF2"/>
                </a:solidFill>
              </a:rPr>
              <a:t>focused, repeatable</a:t>
            </a:r>
          </a:p>
        </p:txBody>
      </p:sp>
      <p:sp>
        <p:nvSpPr>
          <p:cNvPr id="110" name="Temp 1 bar 0"/>
          <p:cNvSpPr/>
          <p:nvPr/>
        </p:nvSpPr>
        <p:spPr>
          <a:xfrm>
            <a:off x="3721100" y="4382247"/>
            <a:ext cx="304800" cy="672353"/>
          </a:xfrm>
          <a:prstGeom prst="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1" name="Temp 1 bar 1"/>
          <p:cNvSpPr/>
          <p:nvPr/>
        </p:nvSpPr>
        <p:spPr>
          <a:xfrm>
            <a:off x="4102100" y="4494306"/>
            <a:ext cx="304800" cy="560294"/>
          </a:xfrm>
          <a:prstGeom prst="rect">
            <a:avLst/>
          </a:prstGeom>
          <a:solidFill>
            <a:srgbClr val="6C3BA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2" name="Temp 1 bar 2"/>
          <p:cNvSpPr/>
          <p:nvPr/>
        </p:nvSpPr>
        <p:spPr>
          <a:xfrm>
            <a:off x="4483100" y="4606365"/>
            <a:ext cx="304800" cy="448235"/>
          </a:xfrm>
          <a:prstGeom prst="rect">
            <a:avLst/>
          </a:prstGeom>
          <a:solidFill>
            <a:srgbClr val="6C3BA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3" name="Temp 1 bar 3"/>
          <p:cNvSpPr/>
          <p:nvPr/>
        </p:nvSpPr>
        <p:spPr>
          <a:xfrm>
            <a:off x="4864100" y="4718424"/>
            <a:ext cx="304800" cy="336176"/>
          </a:xfrm>
          <a:prstGeom prst="rect">
            <a:avLst/>
          </a:prstGeom>
          <a:solidFill>
            <a:srgbClr val="6C3BA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4" name="Temp 1 bar 4"/>
          <p:cNvSpPr/>
          <p:nvPr/>
        </p:nvSpPr>
        <p:spPr>
          <a:xfrm>
            <a:off x="5245100" y="4830482"/>
            <a:ext cx="304800" cy="224118"/>
          </a:xfrm>
          <a:prstGeom prst="rect">
            <a:avLst/>
          </a:prstGeom>
          <a:solidFill>
            <a:srgbClr val="6C3BA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5" name="Temp Group 1"/>
          <p:cNvSpPr/>
          <p:nvPr/>
        </p:nvSpPr>
        <p:spPr>
          <a:xfrm>
            <a:off x="3644900" y="51562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 dirty="0">
                <a:solidFill>
                  <a:srgbClr val="F5EEFF"/>
                </a:solidFill>
                <a:latin typeface="+mj-lt"/>
              </a:rPr>
              <a:t>High (1.5)</a:t>
            </a:r>
          </a:p>
        </p:txBody>
      </p:sp>
      <p:sp>
        <p:nvSpPr>
          <p:cNvPr id="116" name="Temp Desc 1"/>
          <p:cNvSpPr/>
          <p:nvPr/>
        </p:nvSpPr>
        <p:spPr>
          <a:xfrm>
            <a:off x="3644900" y="54356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dirty="0">
                <a:solidFill>
                  <a:srgbClr val="D9CCF2"/>
                </a:solidFill>
              </a:rPr>
              <a:t>creative, riskier</a:t>
            </a:r>
          </a:p>
        </p:txBody>
      </p:sp>
      <p:sp>
        <p:nvSpPr>
          <p:cNvPr id="117" name="Temp Baseline"/>
          <p:cNvSpPr/>
          <p:nvPr/>
        </p:nvSpPr>
        <p:spPr>
          <a:xfrm>
            <a:off x="1231900" y="5054600"/>
            <a:ext cx="4470400" cy="12700"/>
          </a:xfrm>
          <a:prstGeom prst="rect">
            <a:avLst/>
          </a:prstGeom>
          <a:solidFill>
            <a:srgbClr val="3D2A6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8" name="TopK Card"/>
          <p:cNvSpPr/>
          <p:nvPr/>
        </p:nvSpPr>
        <p:spPr>
          <a:xfrm>
            <a:off x="6273800" y="1879600"/>
            <a:ext cx="5080000" cy="40640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19" name="TopK Bar"/>
          <p:cNvSpPr/>
          <p:nvPr/>
        </p:nvSpPr>
        <p:spPr>
          <a:xfrm>
            <a:off x="6273800" y="1879600"/>
            <a:ext cx="5080000" cy="63500"/>
          </a:xfrm>
          <a:prstGeom prst="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20" name="TopK Head"/>
          <p:cNvSpPr/>
          <p:nvPr/>
        </p:nvSpPr>
        <p:spPr>
          <a:xfrm>
            <a:off x="6527800" y="2108200"/>
            <a:ext cx="457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72FE0"/>
                </a:solidFill>
                <a:latin typeface="+mj-lt"/>
              </a:rPr>
              <a:t>TOP-K</a:t>
            </a:r>
          </a:p>
          <a:p>
            <a:pPr algn="l"/>
            <a:r>
              <a:rPr lang="en-US" sz="1400" dirty="0">
                <a:solidFill>
                  <a:srgbClr val="D9CCF2"/>
                </a:solidFill>
              </a:rPr>
              <a:t>How many words stay in the running</a:t>
            </a:r>
          </a:p>
        </p:txBody>
      </p:sp>
      <p:sp>
        <p:nvSpPr>
          <p:cNvPr id="121" name="Word function"/>
          <p:cNvSpPr/>
          <p:nvPr/>
        </p:nvSpPr>
        <p:spPr>
          <a:xfrm>
            <a:off x="6527800" y="297180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01600" bIns="0" anchor="ctr">
            <a:noAutofit/>
          </a:bodyPr>
          <a:lstStyle/>
          <a:p>
            <a:pPr algn="r"/>
            <a:r>
              <a:rPr lang="en-US" sz="1400" b="1" dirty="0">
                <a:solidFill>
                  <a:srgbClr val="F5EEFF"/>
                </a:solidFill>
              </a:rPr>
              <a:t>function</a:t>
            </a:r>
          </a:p>
        </p:txBody>
      </p:sp>
      <p:sp>
        <p:nvSpPr>
          <p:cNvPr id="122" name="WBar function"/>
          <p:cNvSpPr/>
          <p:nvPr/>
        </p:nvSpPr>
        <p:spPr>
          <a:xfrm>
            <a:off x="7772400" y="3022600"/>
            <a:ext cx="2560320" cy="279400"/>
          </a:xfrm>
          <a:prstGeom prst="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23" name="WPct function"/>
          <p:cNvSpPr/>
          <p:nvPr/>
        </p:nvSpPr>
        <p:spPr>
          <a:xfrm>
            <a:off x="10434320" y="29718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F5EEFF"/>
                </a:solidFill>
              </a:rPr>
              <a:t>42%</a:t>
            </a:r>
          </a:p>
        </p:txBody>
      </p:sp>
      <p:sp>
        <p:nvSpPr>
          <p:cNvPr id="124" name="Word loop"/>
          <p:cNvSpPr/>
          <p:nvPr/>
        </p:nvSpPr>
        <p:spPr>
          <a:xfrm>
            <a:off x="6527800" y="347980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01600" bIns="0" anchor="ctr">
            <a:noAutofit/>
          </a:bodyPr>
          <a:lstStyle/>
          <a:p>
            <a:pPr algn="r"/>
            <a:r>
              <a:rPr lang="en-US" sz="1400" b="1" dirty="0">
                <a:solidFill>
                  <a:srgbClr val="F5EEFF"/>
                </a:solidFill>
              </a:rPr>
              <a:t>loop</a:t>
            </a:r>
          </a:p>
        </p:txBody>
      </p:sp>
      <p:sp>
        <p:nvSpPr>
          <p:cNvPr id="125" name="WBar loop"/>
          <p:cNvSpPr/>
          <p:nvPr/>
        </p:nvSpPr>
        <p:spPr>
          <a:xfrm>
            <a:off x="7772400" y="3530600"/>
            <a:ext cx="1645920" cy="279400"/>
          </a:xfrm>
          <a:prstGeom prst="rect">
            <a:avLst/>
          </a:prstGeom>
          <a:solidFill>
            <a:srgbClr val="B620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26" name="WPct loop"/>
          <p:cNvSpPr/>
          <p:nvPr/>
        </p:nvSpPr>
        <p:spPr>
          <a:xfrm>
            <a:off x="9519920" y="34798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F5EEFF"/>
                </a:solidFill>
              </a:rPr>
              <a:t>27%</a:t>
            </a:r>
          </a:p>
        </p:txBody>
      </p:sp>
      <p:sp>
        <p:nvSpPr>
          <p:cNvPr id="127" name="Word variable"/>
          <p:cNvSpPr/>
          <p:nvPr/>
        </p:nvSpPr>
        <p:spPr>
          <a:xfrm>
            <a:off x="6527800" y="398780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01600" bIns="0" anchor="ctr">
            <a:noAutofit/>
          </a:bodyPr>
          <a:lstStyle/>
          <a:p>
            <a:pPr algn="r"/>
            <a:r>
              <a:rPr lang="en-US" sz="1400" b="1" dirty="0">
                <a:solidFill>
                  <a:srgbClr val="F5EEFF"/>
                </a:solidFill>
              </a:rPr>
              <a:t>variable</a:t>
            </a:r>
          </a:p>
        </p:txBody>
      </p:sp>
      <p:sp>
        <p:nvSpPr>
          <p:cNvPr id="128" name="WBar variable"/>
          <p:cNvSpPr/>
          <p:nvPr/>
        </p:nvSpPr>
        <p:spPr>
          <a:xfrm>
            <a:off x="7772400" y="4038600"/>
            <a:ext cx="914400" cy="279400"/>
          </a:xfrm>
          <a:prstGeom prst="rect">
            <a:avLst/>
          </a:prstGeom>
          <a:solidFill>
            <a:srgbClr val="B620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29" name="WPct variable"/>
          <p:cNvSpPr/>
          <p:nvPr/>
        </p:nvSpPr>
        <p:spPr>
          <a:xfrm>
            <a:off x="8788400" y="39878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F5EEFF"/>
                </a:solidFill>
              </a:rPr>
              <a:t>15%</a:t>
            </a:r>
          </a:p>
        </p:txBody>
      </p:sp>
      <p:sp>
        <p:nvSpPr>
          <p:cNvPr id="130" name="Word test"/>
          <p:cNvSpPr/>
          <p:nvPr/>
        </p:nvSpPr>
        <p:spPr>
          <a:xfrm>
            <a:off x="6527800" y="467360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01600" bIns="0" anchor="ctr">
            <a:noAutofit/>
          </a:bodyPr>
          <a:lstStyle/>
          <a:p>
            <a:pPr algn="r"/>
            <a:r>
              <a:rPr lang="en-US" sz="1400" dirty="0">
                <a:solidFill>
                  <a:srgbClr val="9C8FBF"/>
                </a:solidFill>
              </a:rPr>
              <a:t>test</a:t>
            </a:r>
          </a:p>
        </p:txBody>
      </p:sp>
      <p:sp>
        <p:nvSpPr>
          <p:cNvPr id="131" name="WBar test"/>
          <p:cNvSpPr/>
          <p:nvPr/>
        </p:nvSpPr>
        <p:spPr>
          <a:xfrm>
            <a:off x="7772400" y="4724400"/>
            <a:ext cx="548640" cy="279400"/>
          </a:xfrm>
          <a:prstGeom prst="rect">
            <a:avLst/>
          </a:prstGeom>
          <a:solidFill>
            <a:srgbClr val="5542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32" name="WPct test"/>
          <p:cNvSpPr/>
          <p:nvPr/>
        </p:nvSpPr>
        <p:spPr>
          <a:xfrm>
            <a:off x="8422640" y="46736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9C8FBF"/>
                </a:solidFill>
              </a:rPr>
              <a:t>9%</a:t>
            </a:r>
          </a:p>
        </p:txBody>
      </p:sp>
      <p:sp>
        <p:nvSpPr>
          <p:cNvPr id="133" name="Word banana"/>
          <p:cNvSpPr/>
          <p:nvPr/>
        </p:nvSpPr>
        <p:spPr>
          <a:xfrm>
            <a:off x="6527800" y="518160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01600" bIns="0" anchor="ctr">
            <a:noAutofit/>
          </a:bodyPr>
          <a:lstStyle/>
          <a:p>
            <a:pPr algn="r"/>
            <a:r>
              <a:rPr lang="en-US" sz="1400" dirty="0">
                <a:solidFill>
                  <a:srgbClr val="9C8FBF"/>
                </a:solidFill>
              </a:rPr>
              <a:t>banana</a:t>
            </a:r>
          </a:p>
        </p:txBody>
      </p:sp>
      <p:sp>
        <p:nvSpPr>
          <p:cNvPr id="134" name="WBar banana"/>
          <p:cNvSpPr/>
          <p:nvPr/>
        </p:nvSpPr>
        <p:spPr>
          <a:xfrm>
            <a:off x="7772400" y="5232400"/>
            <a:ext cx="60960" cy="279400"/>
          </a:xfrm>
          <a:prstGeom prst="rect">
            <a:avLst/>
          </a:prstGeom>
          <a:solidFill>
            <a:srgbClr val="5542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35" name="WPct banana"/>
          <p:cNvSpPr/>
          <p:nvPr/>
        </p:nvSpPr>
        <p:spPr>
          <a:xfrm>
            <a:off x="7934960" y="51816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9C8FBF"/>
                </a:solidFill>
              </a:rPr>
              <a:t>1%</a:t>
            </a:r>
          </a:p>
        </p:txBody>
      </p:sp>
      <p:sp>
        <p:nvSpPr>
          <p:cNvPr id="136" name="Cutoff Line"/>
          <p:cNvSpPr/>
          <p:nvPr/>
        </p:nvSpPr>
        <p:spPr>
          <a:xfrm>
            <a:off x="6527800" y="4559300"/>
            <a:ext cx="4572000" cy="12700"/>
          </a:xfrm>
          <a:prstGeom prst="rect">
            <a:avLst/>
          </a:prstGeom>
          <a:noFill/>
          <a:ln w="15875">
            <a:solidFill>
              <a:srgbClr val="FFC21A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endParaRPr lang="en-US"/>
          </a:p>
        </p:txBody>
      </p:sp>
      <p:sp>
        <p:nvSpPr>
          <p:cNvPr id="137" name="Cutoff Label"/>
          <p:cNvSpPr/>
          <p:nvPr/>
        </p:nvSpPr>
        <p:spPr>
          <a:xfrm>
            <a:off x="9194800" y="42799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r"/>
            <a:r>
              <a:rPr lang="en-US" sz="1400" b="1" dirty="0">
                <a:solidFill>
                  <a:srgbClr val="FFC21A"/>
                </a:solidFill>
              </a:rPr>
              <a:t>k = 3 cutoff</a:t>
            </a:r>
          </a:p>
        </p:txBody>
      </p:sp>
      <p:sp>
        <p:nvSpPr>
          <p:cNvPr id="138" name="Defaults Note"/>
          <p:cNvSpPr/>
          <p:nvPr/>
        </p:nvSpPr>
        <p:spPr>
          <a:xfrm>
            <a:off x="927100" y="6121400"/>
            <a:ext cx="104267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FFC21A"/>
                </a:solidFill>
              </a:rPr>
              <a:t>Gemma's recommended defaults: </a:t>
            </a:r>
            <a:r>
              <a:rPr lang="en-US" sz="1400" dirty="0">
                <a:solidFill>
                  <a:srgbClr val="D9CCF2"/>
                </a:solidFill>
              </a:rPr>
              <a:t>temperature 1.0, top-k 64, top-p 0.95. Probabilities shown are illustrative.</a:t>
            </a:r>
          </a:p>
        </p:txBody>
      </p:sp>
      <p:sp>
        <p:nvSpPr>
          <p:cNvPr id="300" name="Temp Peak 0"/>
          <p:cNvSpPr/>
          <p:nvPr/>
        </p:nvSpPr>
        <p:spPr>
          <a:xfrm>
            <a:off x="1079500" y="28448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lang="en-US" sz="1400" b="1" dirty="0">
                <a:solidFill>
                  <a:srgbClr val="F5EEFF"/>
                </a:solidFill>
              </a:rPr>
              <a:t>85%</a:t>
            </a:r>
          </a:p>
        </p:txBody>
      </p:sp>
      <p:sp>
        <p:nvSpPr>
          <p:cNvPr id="301" name="Temp Peak 1"/>
          <p:cNvSpPr/>
          <p:nvPr/>
        </p:nvSpPr>
        <p:spPr>
          <a:xfrm>
            <a:off x="3492500" y="4077447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lang="en-US" sz="1400" b="1" dirty="0">
                <a:solidFill>
                  <a:srgbClr val="F5EEFF"/>
                </a:solidFill>
              </a:rPr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580157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llenge Text"/>
          <p:cNvSpPr txBox="1"/>
          <p:nvPr/>
        </p:nvSpPr>
        <p:spPr>
          <a:xfrm>
            <a:off x="762000" y="2540000"/>
            <a:ext cx="10668000" cy="15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7200" b="1" dirty="0">
                <a:gradFill>
                  <a:gsLst>
                    <a:gs pos="0">
                      <a:srgbClr val="FFC21A"/>
                    </a:gs>
                    <a:gs pos="50000">
                      <a:srgbClr val="F43F8E"/>
                    </a:gs>
                    <a:gs pos="100000">
                      <a:srgbClr val="F72FE0"/>
                    </a:gs>
                  </a:gsLst>
                  <a:lin ang="0" scaled="1"/>
                </a:gradFill>
                <a:latin typeface="+mj-lt"/>
              </a:rPr>
              <a:t>Workshop Challenge</a:t>
            </a:r>
          </a:p>
        </p:txBody>
      </p:sp>
    </p:spTree>
    <p:extLst>
      <p:ext uri="{BB962C8B-B14F-4D97-AF65-F5344CB8AC3E}">
        <p14:creationId xmlns:p14="http://schemas.microsoft.com/office/powerpoint/2010/main" val="2736859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F789A-F132-EB01-62B4-DC0C1C200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The same score now takes a model 142× smaller, and small models keep improving</a:t>
            </a:r>
          </a:p>
        </p:txBody>
      </p:sp>
      <p:sp>
        <p:nvSpPr>
          <p:cNvPr id="100" name="Chart Label"/>
          <p:cNvSpPr/>
          <p:nvPr/>
        </p:nvSpPr>
        <p:spPr>
          <a:xfrm>
            <a:off x="838200" y="18542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pPr algn="l"/>
            <a:r>
              <a:rPr lang="en-US" sz="1600" b="1" dirty="0">
                <a:solidFill>
                  <a:srgbClr val="F5EEFF"/>
                </a:solidFill>
              </a:rPr>
              <a:t>Smallest model scoring above 60% on MMLU</a:t>
            </a:r>
          </a:p>
          <a:p>
            <a:pPr algn="l"/>
            <a:r>
              <a:rPr lang="en-US" sz="1300" dirty="0">
                <a:solidFill>
                  <a:srgbClr val="B3A8D4"/>
                </a:solidFill>
              </a:rPr>
              <a:t>Parameters, billions</a:t>
            </a:r>
          </a:p>
        </p:txBody>
      </p:sp>
      <p:sp>
        <p:nvSpPr>
          <p:cNvPr id="101" name="Kicker"/>
          <p:cNvSpPr/>
          <p:nvPr/>
        </p:nvSpPr>
        <p:spPr>
          <a:xfrm>
            <a:off x="7366000" y="1854200"/>
            <a:ext cx="3987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72FE0"/>
                </a:solidFill>
                <a:latin typeface="+mj-lt"/>
              </a:rPr>
              <a:t>WHAT THIS MEANS FOR YOU</a:t>
            </a:r>
          </a:p>
        </p:txBody>
      </p:sp>
      <p:sp>
        <p:nvSpPr>
          <p:cNvPr id="102" name="Rule 1"/>
          <p:cNvSpPr/>
          <p:nvPr/>
        </p:nvSpPr>
        <p:spPr>
          <a:xfrm>
            <a:off x="7366000" y="2438400"/>
            <a:ext cx="50800" cy="889000"/>
          </a:xfrm>
          <a:prstGeom prst="rect">
            <a:avLst/>
          </a:prstGeom>
          <a:solidFill>
            <a:srgbClr val="FFC21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3" name="Point 1"/>
          <p:cNvSpPr/>
          <p:nvPr/>
        </p:nvSpPr>
        <p:spPr>
          <a:xfrm>
            <a:off x="7518400" y="2362200"/>
            <a:ext cx="38354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5EEFF"/>
                </a:solidFill>
                <a:latin typeface="+mj-lt"/>
              </a:rPr>
              <a:t>Your laptop gets smarter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rgbClr val="D9CCF2"/>
                </a:solidFill>
              </a:rPr>
              <a:t>Each new release fits more skill into the same memory you have today</a:t>
            </a:r>
          </a:p>
        </p:txBody>
      </p:sp>
      <p:sp>
        <p:nvSpPr>
          <p:cNvPr id="104" name="Rule 2"/>
          <p:cNvSpPr/>
          <p:nvPr/>
        </p:nvSpPr>
        <p:spPr>
          <a:xfrm>
            <a:off x="7366000" y="3632200"/>
            <a:ext cx="50800" cy="889000"/>
          </a:xfrm>
          <a:prstGeom prst="rect">
            <a:avLst/>
          </a:prstGeom>
          <a:solidFill>
            <a:srgbClr val="FF8A2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5" name="Point 2"/>
          <p:cNvSpPr/>
          <p:nvPr/>
        </p:nvSpPr>
        <p:spPr>
          <a:xfrm>
            <a:off x="7518400" y="3556000"/>
            <a:ext cx="38354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5EEFF"/>
                </a:solidFill>
                <a:latin typeface="+mj-lt"/>
              </a:rPr>
              <a:t>From data center to laptop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rgbClr val="D9CCF2"/>
                </a:solidFill>
              </a:rPr>
              <a:t>A 2022 data-center score now runs on a model you can download</a:t>
            </a:r>
          </a:p>
        </p:txBody>
      </p:sp>
      <p:sp>
        <p:nvSpPr>
          <p:cNvPr id="106" name="Rule 3"/>
          <p:cNvSpPr/>
          <p:nvPr/>
        </p:nvSpPr>
        <p:spPr>
          <a:xfrm>
            <a:off x="7366000" y="4826000"/>
            <a:ext cx="50800" cy="889000"/>
          </a:xfrm>
          <a:prstGeom prst="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7" name="Point 3"/>
          <p:cNvSpPr/>
          <p:nvPr/>
        </p:nvSpPr>
        <p:spPr>
          <a:xfrm>
            <a:off x="7518400" y="4749800"/>
            <a:ext cx="38354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5EEFF"/>
                </a:solidFill>
                <a:latin typeface="+mj-lt"/>
              </a:rPr>
              <a:t>Pick small, then upgrade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rgbClr val="D9CCF2"/>
                </a:solidFill>
              </a:rPr>
              <a:t>Learn the workflow now; swap in the next model when it ships</a:t>
            </a:r>
          </a:p>
        </p:txBody>
      </p:sp>
      <p:sp>
        <p:nvSpPr>
          <p:cNvPr id="108" name="Source"/>
          <p:cNvSpPr/>
          <p:nvPr/>
        </p:nvSpPr>
        <p:spPr>
          <a:xfrm>
            <a:off x="838200" y="6172200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pPr algn="l"/>
            <a:r>
              <a:rPr lang="en-US" sz="1000" dirty="0">
                <a:solidFill>
                  <a:srgbClr val="B3A8D4"/>
                </a:solidFill>
              </a:rPr>
              <a:t>Source: Stanford HAI, AI Index Report 2025, ch. 2 (PaLM 540B, 2022; Microsoft Phi-3-mini 3.8B, 2024)</a:t>
            </a:r>
          </a:p>
        </p:txBody>
      </p:sp>
      <p:graphicFrame>
        <p:nvGraphicFramePr>
          <p:cNvPr id="109" name="Chart"/>
          <p:cNvGraphicFramePr/>
          <p:nvPr/>
        </p:nvGraphicFramePr>
        <p:xfrm>
          <a:off x="838200" y="2413000"/>
          <a:ext cx="5969000" cy="367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10" name="GrowthArrow f109 0"/>
          <p:cNvGrpSpPr/>
          <p:nvPr/>
        </p:nvGrpSpPr>
        <p:grpSpPr>
          <a:xfrm>
            <a:off x="2470140" y="2997496"/>
            <a:ext cx="2705120" cy="2370904"/>
            <a:chOff x="2470140" y="2997496"/>
            <a:chExt cx="2705120" cy="2370904"/>
          </a:xfrm>
        </p:grpSpPr>
        <p:cxnSp>
          <p:nvCxnSpPr>
            <p:cNvPr id="111" name="GrowthArrow f109 0 rise"/>
            <p:cNvCxnSpPr/>
            <p:nvPr/>
          </p:nvCxnSpPr>
          <p:spPr>
            <a:xfrm flipV="1">
              <a:off x="2470140" y="3122496"/>
              <a:ext cx="1" cy="205000"/>
            </a:xfrm>
            <a:prstGeom prst="line">
              <a:avLst/>
            </a:prstGeom>
            <a:ln w="12700">
              <a:solidFill>
                <a:srgbClr val="D9CCF2"/>
              </a:solidFill>
            </a:ln>
          </p:spPr>
        </p:cxnSp>
        <p:cxnSp>
          <p:nvCxnSpPr>
            <p:cNvPr id="112" name="GrowthArrow f109 0 line"/>
            <p:cNvCxnSpPr/>
            <p:nvPr/>
          </p:nvCxnSpPr>
          <p:spPr>
            <a:xfrm>
              <a:off x="2470140" y="3122496"/>
              <a:ext cx="2705120" cy="1"/>
            </a:xfrm>
            <a:prstGeom prst="line">
              <a:avLst/>
            </a:prstGeom>
            <a:ln w="12700">
              <a:solidFill>
                <a:srgbClr val="D9CCF2"/>
              </a:solidFill>
            </a:ln>
          </p:spPr>
        </p:cxnSp>
        <p:cxnSp>
          <p:nvCxnSpPr>
            <p:cNvPr id="113" name="GrowthArrow f109 0 drop"/>
            <p:cNvCxnSpPr/>
            <p:nvPr/>
          </p:nvCxnSpPr>
          <p:spPr>
            <a:xfrm>
              <a:off x="5175260" y="3122496"/>
              <a:ext cx="1" cy="2245904"/>
            </a:xfrm>
            <a:prstGeom prst="line">
              <a:avLst/>
            </a:prstGeom>
            <a:ln w="12700">
              <a:solidFill>
                <a:srgbClr val="D9CCF2"/>
              </a:solidFill>
              <a:tailEnd type="triangle" w="med" len="med"/>
            </a:ln>
          </p:spPr>
        </p:cxnSp>
        <p:sp>
          <p:nvSpPr>
            <p:cNvPr id="114" name="GrowthArrow f109 0 label"/>
            <p:cNvSpPr txBox="1"/>
            <p:nvPr/>
          </p:nvSpPr>
          <p:spPr>
            <a:xfrm>
              <a:off x="3043100" y="2997496"/>
              <a:ext cx="1559200" cy="250000"/>
            </a:xfrm>
            <a:prstGeom prst="rect">
              <a:avLst/>
            </a:prstGeom>
            <a:solidFill>
              <a:srgbClr val="1C1433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F5EEFF"/>
                  </a:solidFill>
                  <a:latin typeface="Segoe UI"/>
                </a:rPr>
                <a:t>142× smaller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1017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82AA3-35EC-3492-FAAF-92708331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 7B model trained for code beats general models its size at coding</a:t>
            </a:r>
          </a:p>
        </p:txBody>
      </p:sp>
      <p:sp>
        <p:nvSpPr>
          <p:cNvPr id="100" name="Chart Label"/>
          <p:cNvSpPr/>
          <p:nvPr/>
        </p:nvSpPr>
        <p:spPr>
          <a:xfrm>
            <a:off x="838200" y="18542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pPr algn="l"/>
            <a:r>
              <a:rPr lang="en-US" sz="1600" b="1" dirty="0">
                <a:solidFill>
                  <a:srgbClr val="F5EEFF"/>
                </a:solidFill>
              </a:rPr>
              <a:t>HumanEval coding score, instruction-tuned models</a:t>
            </a:r>
          </a:p>
          <a:p>
            <a:pPr algn="l"/>
            <a:r>
              <a:rPr lang="en-US" sz="1300" dirty="0">
                <a:solidFill>
                  <a:srgbClr val="B3A8D4"/>
                </a:solidFill>
              </a:rPr>
              <a:t>% of problems solved on first try</a:t>
            </a:r>
          </a:p>
        </p:txBody>
      </p:sp>
      <p:sp>
        <p:nvSpPr>
          <p:cNvPr id="101" name="Kicker"/>
          <p:cNvSpPr/>
          <p:nvPr/>
        </p:nvSpPr>
        <p:spPr>
          <a:xfrm>
            <a:off x="7366000" y="1854200"/>
            <a:ext cx="3987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72FE0"/>
                </a:solidFill>
                <a:latin typeface="+mj-lt"/>
              </a:rPr>
              <a:t>SPECIALISTS YOU CAN RUN LOCALLY</a:t>
            </a:r>
          </a:p>
        </p:txBody>
      </p:sp>
      <p:sp>
        <p:nvSpPr>
          <p:cNvPr id="102" name="Rule 1"/>
          <p:cNvSpPr/>
          <p:nvPr/>
        </p:nvSpPr>
        <p:spPr>
          <a:xfrm>
            <a:off x="7366000" y="2387600"/>
            <a:ext cx="50800" cy="736600"/>
          </a:xfrm>
          <a:prstGeom prst="rect">
            <a:avLst/>
          </a:prstGeom>
          <a:solidFill>
            <a:srgbClr val="FFC21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3" name="Point 1"/>
          <p:cNvSpPr/>
          <p:nvPr/>
        </p:nvSpPr>
        <p:spPr>
          <a:xfrm>
            <a:off x="7518400" y="2336800"/>
            <a:ext cx="38354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5EEFF"/>
                </a:solidFill>
                <a:latin typeface="+mj-lt"/>
              </a:rPr>
              <a:t>Code</a:t>
            </a:r>
          </a:p>
          <a:p>
            <a:pPr algn="l">
              <a:spcBef>
                <a:spcPts val="100"/>
              </a:spcBef>
            </a:pPr>
            <a:r>
              <a:rPr lang="en-US" sz="1400" dirty="0">
                <a:solidFill>
                  <a:srgbClr val="D9CCF2"/>
                </a:solidFill>
              </a:rPr>
              <a:t>Write, complete and fix code (Qwen2.5-Coder, Qwen3-Coder)</a:t>
            </a:r>
          </a:p>
        </p:txBody>
      </p:sp>
      <p:sp>
        <p:nvSpPr>
          <p:cNvPr id="104" name="Rule 2"/>
          <p:cNvSpPr/>
          <p:nvPr/>
        </p:nvSpPr>
        <p:spPr>
          <a:xfrm>
            <a:off x="7366000" y="3327400"/>
            <a:ext cx="50800" cy="736600"/>
          </a:xfrm>
          <a:prstGeom prst="rect">
            <a:avLst/>
          </a:prstGeom>
          <a:solidFill>
            <a:srgbClr val="FF8A2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5" name="Point 2"/>
          <p:cNvSpPr/>
          <p:nvPr/>
        </p:nvSpPr>
        <p:spPr>
          <a:xfrm>
            <a:off x="7518400" y="3276600"/>
            <a:ext cx="38354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5EEFF"/>
                </a:solidFill>
                <a:latin typeface="+mj-lt"/>
              </a:rPr>
              <a:t>Math</a:t>
            </a:r>
          </a:p>
          <a:p>
            <a:pPr algn="l">
              <a:spcBef>
                <a:spcPts val="100"/>
              </a:spcBef>
            </a:pPr>
            <a:r>
              <a:rPr lang="en-US" sz="1400" dirty="0">
                <a:solidFill>
                  <a:srgbClr val="D9CCF2"/>
                </a:solidFill>
              </a:rPr>
              <a:t>Step-by-step problem solving (Qwen2.5-Math)</a:t>
            </a:r>
          </a:p>
        </p:txBody>
      </p:sp>
      <p:sp>
        <p:nvSpPr>
          <p:cNvPr id="106" name="Rule 3"/>
          <p:cNvSpPr/>
          <p:nvPr/>
        </p:nvSpPr>
        <p:spPr>
          <a:xfrm>
            <a:off x="7366000" y="4267200"/>
            <a:ext cx="50800" cy="736600"/>
          </a:xfrm>
          <a:prstGeom prst="rect">
            <a:avLst/>
          </a:prstGeom>
          <a:solidFill>
            <a:srgbClr val="F43F8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7" name="Point 3"/>
          <p:cNvSpPr/>
          <p:nvPr/>
        </p:nvSpPr>
        <p:spPr>
          <a:xfrm>
            <a:off x="7518400" y="4216400"/>
            <a:ext cx="38354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5EEFF"/>
                </a:solidFill>
                <a:latin typeface="+mj-lt"/>
              </a:rPr>
              <a:t>Search</a:t>
            </a:r>
          </a:p>
          <a:p>
            <a:pPr algn="l">
              <a:spcBef>
                <a:spcPts val="100"/>
              </a:spcBef>
            </a:pPr>
            <a:r>
              <a:rPr lang="en-US" sz="1400" dirty="0">
                <a:solidFill>
                  <a:srgbClr val="D9CCF2"/>
                </a:solidFill>
              </a:rPr>
              <a:t>Turn text into vectors for finding your own docs (embedding models)</a:t>
            </a:r>
          </a:p>
        </p:txBody>
      </p:sp>
      <p:sp>
        <p:nvSpPr>
          <p:cNvPr id="108" name="Rule 4"/>
          <p:cNvSpPr/>
          <p:nvPr/>
        </p:nvSpPr>
        <p:spPr>
          <a:xfrm>
            <a:off x="7366000" y="5207000"/>
            <a:ext cx="50800" cy="736600"/>
          </a:xfrm>
          <a:prstGeom prst="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9" name="Point 4"/>
          <p:cNvSpPr/>
          <p:nvPr/>
        </p:nvSpPr>
        <p:spPr>
          <a:xfrm>
            <a:off x="7518400" y="5156200"/>
            <a:ext cx="38354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5EEFF"/>
                </a:solidFill>
                <a:latin typeface="+mj-lt"/>
              </a:rPr>
              <a:t>Your own task</a:t>
            </a:r>
          </a:p>
          <a:p>
            <a:pPr algn="l">
              <a:spcBef>
                <a:spcPts val="100"/>
              </a:spcBef>
            </a:pPr>
            <a:r>
              <a:rPr lang="en-US" sz="1400" dirty="0">
                <a:solidFill>
                  <a:srgbClr val="D9CCF2"/>
                </a:solidFill>
              </a:rPr>
              <a:t>Fine-tune a small model on your examples</a:t>
            </a:r>
          </a:p>
        </p:txBody>
      </p:sp>
      <p:sp>
        <p:nvSpPr>
          <p:cNvPr id="110" name="Source"/>
          <p:cNvSpPr/>
          <p:nvPr/>
        </p:nvSpPr>
        <p:spPr>
          <a:xfrm>
            <a:off x="838200" y="6172200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pPr algn="l"/>
            <a:r>
              <a:rPr lang="en-US" sz="1000" dirty="0">
                <a:solidFill>
                  <a:srgbClr val="B3A8D4"/>
                </a:solidFill>
              </a:rPr>
              <a:t>Source: Qwen team, Qwen2.5 blog and Qwen2.5-Coder Technical Report (arXiv 2409.12186), 2024; HumanEval pass@1</a:t>
            </a:r>
          </a:p>
        </p:txBody>
      </p:sp>
      <p:graphicFrame>
        <p:nvGraphicFramePr>
          <p:cNvPr id="111" name="Chart"/>
          <p:cNvGraphicFramePr/>
          <p:nvPr/>
        </p:nvGraphicFramePr>
        <p:xfrm>
          <a:off x="838200" y="2413000"/>
          <a:ext cx="5969000" cy="367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66019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1D33F-B36C-43F9-E554-9F161E7B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The biggest gains come from tools and artifacts, not fine-tuning</a:t>
            </a:r>
          </a:p>
        </p:txBody>
      </p:sp>
      <p:sp>
        <p:nvSpPr>
          <p:cNvPr id="100" name="Card 1"/>
          <p:cNvSpPr/>
          <p:nvPr/>
        </p:nvSpPr>
        <p:spPr>
          <a:xfrm>
            <a:off x="927100" y="2006600"/>
            <a:ext cx="2438400" cy="3327400"/>
          </a:xfrm>
          <a:prstGeom prst="rect">
            <a:avLst/>
          </a:prstGeom>
          <a:solidFill>
            <a:srgbClr val="2A1D4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1" name="Tag 1"/>
          <p:cNvSpPr/>
          <p:nvPr/>
        </p:nvSpPr>
        <p:spPr>
          <a:xfrm>
            <a:off x="1130300" y="22352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1" dirty="0">
                <a:solidFill>
                  <a:srgbClr val="FFC21A"/>
                </a:solidFill>
                <a:latin typeface="+mj-lt"/>
              </a:rPr>
              <a:t>START HERE</a:t>
            </a:r>
          </a:p>
        </p:txBody>
      </p:sp>
      <p:sp>
        <p:nvSpPr>
          <p:cNvPr id="102" name="Num 1"/>
          <p:cNvSpPr/>
          <p:nvPr/>
        </p:nvSpPr>
        <p:spPr>
          <a:xfrm>
            <a:off x="1130300" y="25654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FC21A"/>
                </a:solidFill>
                <a:latin typeface="+mj-lt"/>
              </a:rPr>
              <a:t>1</a:t>
            </a:r>
          </a:p>
        </p:txBody>
      </p:sp>
      <p:sp>
        <p:nvSpPr>
          <p:cNvPr id="103" name="Head 1"/>
          <p:cNvSpPr/>
          <p:nvPr/>
        </p:nvSpPr>
        <p:spPr>
          <a:xfrm>
            <a:off x="1130300" y="31750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5EEFF"/>
                </a:solidFill>
                <a:latin typeface="+mj-lt"/>
              </a:rPr>
              <a:t>Prompt it well</a:t>
            </a:r>
          </a:p>
        </p:txBody>
      </p:sp>
      <p:sp>
        <p:nvSpPr>
          <p:cNvPr id="104" name="Body 1"/>
          <p:cNvSpPr/>
          <p:nvPr/>
        </p:nvSpPr>
        <p:spPr>
          <a:xfrm>
            <a:off x="1130300" y="3581400"/>
            <a:ext cx="2032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dirty="0">
                <a:solidFill>
                  <a:srgbClr val="D9CCF2"/>
                </a:solidFill>
              </a:rPr>
              <a:t>Give it a role, rules and an example in the system prompt</a:t>
            </a:r>
          </a:p>
        </p:txBody>
      </p:sp>
      <p:sp>
        <p:nvSpPr>
          <p:cNvPr id="105" name="Example 1"/>
          <p:cNvSpPr/>
          <p:nvPr/>
        </p:nvSpPr>
        <p:spPr>
          <a:xfrm>
            <a:off x="1130300" y="4749800"/>
            <a:ext cx="2032000" cy="381000"/>
          </a:xfrm>
          <a:prstGeom prst="rect">
            <a:avLst/>
          </a:prstGeom>
          <a:solidFill>
            <a:srgbClr val="1C1433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algn="l"/>
            <a:r>
              <a:rPr lang="en-US" sz="1200" dirty="0">
                <a:solidFill>
                  <a:srgbClr val="FFC21A"/>
                </a:solidFill>
                <a:latin typeface="Consolas"/>
              </a:rPr>
              <a:t>SYSTEM "Hints only"</a:t>
            </a:r>
          </a:p>
        </p:txBody>
      </p:sp>
      <p:sp>
        <p:nvSpPr>
          <p:cNvPr id="106" name="Card 2"/>
          <p:cNvSpPr/>
          <p:nvPr/>
        </p:nvSpPr>
        <p:spPr>
          <a:xfrm>
            <a:off x="3581400" y="2006600"/>
            <a:ext cx="2438400" cy="3327400"/>
          </a:xfrm>
          <a:prstGeom prst="rect">
            <a:avLst/>
          </a:prstGeom>
          <a:solidFill>
            <a:srgbClr val="2A1D4D"/>
          </a:solidFill>
          <a:ln w="25400">
            <a:solidFill>
              <a:srgbClr val="F72FE0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7" name="Tag 2"/>
          <p:cNvSpPr/>
          <p:nvPr/>
        </p:nvSpPr>
        <p:spPr>
          <a:xfrm>
            <a:off x="3784600" y="22352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1" dirty="0">
                <a:solidFill>
                  <a:srgbClr val="F72FE0"/>
                </a:solidFill>
                <a:latin typeface="+mj-lt"/>
              </a:rPr>
              <a:t>HIGH LEVERAGE</a:t>
            </a:r>
          </a:p>
        </p:txBody>
      </p:sp>
      <p:sp>
        <p:nvSpPr>
          <p:cNvPr id="108" name="Num 2"/>
          <p:cNvSpPr/>
          <p:nvPr/>
        </p:nvSpPr>
        <p:spPr>
          <a:xfrm>
            <a:off x="3784600" y="25654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72FE0"/>
                </a:solidFill>
                <a:latin typeface="+mj-lt"/>
              </a:rPr>
              <a:t>2</a:t>
            </a:r>
          </a:p>
        </p:txBody>
      </p:sp>
      <p:sp>
        <p:nvSpPr>
          <p:cNvPr id="109" name="Head 2"/>
          <p:cNvSpPr/>
          <p:nvPr/>
        </p:nvSpPr>
        <p:spPr>
          <a:xfrm>
            <a:off x="3784600" y="31750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5EEFF"/>
                </a:solidFill>
                <a:latin typeface="+mj-lt"/>
              </a:rPr>
              <a:t>Give it tools</a:t>
            </a:r>
          </a:p>
        </p:txBody>
      </p:sp>
      <p:sp>
        <p:nvSpPr>
          <p:cNvPr id="110" name="Body 2"/>
          <p:cNvSpPr/>
          <p:nvPr/>
        </p:nvSpPr>
        <p:spPr>
          <a:xfrm>
            <a:off x="3784600" y="3581400"/>
            <a:ext cx="2032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dirty="0">
                <a:solidFill>
                  <a:srgbClr val="D9CCF2"/>
                </a:solidFill>
              </a:rPr>
              <a:t>Let it call functions: run the tests, read a file, search the web</a:t>
            </a:r>
          </a:p>
        </p:txBody>
      </p:sp>
      <p:sp>
        <p:nvSpPr>
          <p:cNvPr id="111" name="Example 2"/>
          <p:cNvSpPr/>
          <p:nvPr/>
        </p:nvSpPr>
        <p:spPr>
          <a:xfrm>
            <a:off x="3784600" y="4749800"/>
            <a:ext cx="2032000" cy="381000"/>
          </a:xfrm>
          <a:prstGeom prst="rect">
            <a:avLst/>
          </a:prstGeom>
          <a:solidFill>
            <a:srgbClr val="1C1433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algn="l"/>
            <a:r>
              <a:rPr lang="en-US" sz="1200" dirty="0">
                <a:solidFill>
                  <a:srgbClr val="FFC21A"/>
                </a:solidFill>
                <a:latin typeface="Consolas"/>
              </a:rPr>
              <a:t>run_tests() → 2 fail</a:t>
            </a:r>
          </a:p>
        </p:txBody>
      </p:sp>
      <p:sp>
        <p:nvSpPr>
          <p:cNvPr id="112" name="Card 3"/>
          <p:cNvSpPr/>
          <p:nvPr/>
        </p:nvSpPr>
        <p:spPr>
          <a:xfrm>
            <a:off x="6235700" y="2006600"/>
            <a:ext cx="2438400" cy="3327400"/>
          </a:xfrm>
          <a:prstGeom prst="rect">
            <a:avLst/>
          </a:prstGeom>
          <a:solidFill>
            <a:srgbClr val="2A1D4D"/>
          </a:solidFill>
          <a:ln w="25400">
            <a:solidFill>
              <a:srgbClr val="F72FE0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3" name="Tag 3"/>
          <p:cNvSpPr/>
          <p:nvPr/>
        </p:nvSpPr>
        <p:spPr>
          <a:xfrm>
            <a:off x="6438900" y="22352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1" dirty="0">
                <a:solidFill>
                  <a:srgbClr val="F72FE0"/>
                </a:solidFill>
                <a:latin typeface="+mj-lt"/>
              </a:rPr>
              <a:t>HIGH LEVERAGE</a:t>
            </a:r>
          </a:p>
        </p:txBody>
      </p:sp>
      <p:sp>
        <p:nvSpPr>
          <p:cNvPr id="114" name="Num 3"/>
          <p:cNvSpPr/>
          <p:nvPr/>
        </p:nvSpPr>
        <p:spPr>
          <a:xfrm>
            <a:off x="6438900" y="25654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F72FE0"/>
                </a:solidFill>
                <a:latin typeface="+mj-lt"/>
              </a:rPr>
              <a:t>3</a:t>
            </a:r>
          </a:p>
        </p:txBody>
      </p:sp>
      <p:sp>
        <p:nvSpPr>
          <p:cNvPr id="115" name="Head 3"/>
          <p:cNvSpPr/>
          <p:nvPr/>
        </p:nvSpPr>
        <p:spPr>
          <a:xfrm>
            <a:off x="6438900" y="31750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5EEFF"/>
                </a:solidFill>
                <a:latin typeface="+mj-lt"/>
              </a:rPr>
              <a:t>Use artifacts</a:t>
            </a:r>
          </a:p>
        </p:txBody>
      </p:sp>
      <p:sp>
        <p:nvSpPr>
          <p:cNvPr id="116" name="Body 3"/>
          <p:cNvSpPr/>
          <p:nvPr/>
        </p:nvSpPr>
        <p:spPr>
          <a:xfrm>
            <a:off x="6438900" y="3581400"/>
            <a:ext cx="2032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dirty="0">
                <a:solidFill>
                  <a:srgbClr val="D9CCF2"/>
                </a:solidFill>
              </a:rPr>
              <a:t>Feed it real files and have it write files you can check: plans, diffs, logs</a:t>
            </a:r>
          </a:p>
        </p:txBody>
      </p:sp>
      <p:sp>
        <p:nvSpPr>
          <p:cNvPr id="117" name="Example 3"/>
          <p:cNvSpPr/>
          <p:nvPr/>
        </p:nvSpPr>
        <p:spPr>
          <a:xfrm>
            <a:off x="6438900" y="4749800"/>
            <a:ext cx="2032000" cy="381000"/>
          </a:xfrm>
          <a:prstGeom prst="rect">
            <a:avLst/>
          </a:prstGeom>
          <a:solidFill>
            <a:srgbClr val="1C1433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algn="l"/>
            <a:r>
              <a:rPr lang="en-US" sz="1200" dirty="0">
                <a:solidFill>
                  <a:srgbClr val="FFC21A"/>
                </a:solidFill>
                <a:latin typeface="Consolas"/>
              </a:rPr>
              <a:t>plan.md · fix.diff</a:t>
            </a:r>
          </a:p>
        </p:txBody>
      </p:sp>
      <p:sp>
        <p:nvSpPr>
          <p:cNvPr id="118" name="Card 4"/>
          <p:cNvSpPr/>
          <p:nvPr/>
        </p:nvSpPr>
        <p:spPr>
          <a:xfrm>
            <a:off x="8890000" y="2006600"/>
            <a:ext cx="2438400" cy="3327400"/>
          </a:xfrm>
          <a:prstGeom prst="rect">
            <a:avLst/>
          </a:prstGeom>
          <a:solidFill>
            <a:srgbClr val="231A4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9" name="Tag 4"/>
          <p:cNvSpPr/>
          <p:nvPr/>
        </p:nvSpPr>
        <p:spPr>
          <a:xfrm>
            <a:off x="9093200" y="22352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1" dirty="0">
                <a:solidFill>
                  <a:srgbClr val="9C8FBF"/>
                </a:solidFill>
                <a:latin typeface="+mj-lt"/>
              </a:rPr>
              <a:t>LAST RESORT</a:t>
            </a:r>
          </a:p>
        </p:txBody>
      </p:sp>
      <p:sp>
        <p:nvSpPr>
          <p:cNvPr id="120" name="Num 4"/>
          <p:cNvSpPr/>
          <p:nvPr/>
        </p:nvSpPr>
        <p:spPr>
          <a:xfrm>
            <a:off x="9093200" y="25654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dirty="0">
                <a:solidFill>
                  <a:srgbClr val="6C3BAA"/>
                </a:solidFill>
                <a:latin typeface="+mj-lt"/>
              </a:rPr>
              <a:t>4</a:t>
            </a:r>
          </a:p>
        </p:txBody>
      </p:sp>
      <p:sp>
        <p:nvSpPr>
          <p:cNvPr id="121" name="Head 4"/>
          <p:cNvSpPr/>
          <p:nvPr/>
        </p:nvSpPr>
        <p:spPr>
          <a:xfrm>
            <a:off x="9093200" y="31750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9C8FBF"/>
                </a:solidFill>
                <a:latin typeface="+mj-lt"/>
              </a:rPr>
              <a:t>Fine-tune it</a:t>
            </a:r>
          </a:p>
        </p:txBody>
      </p:sp>
      <p:sp>
        <p:nvSpPr>
          <p:cNvPr id="122" name="Body 4"/>
          <p:cNvSpPr/>
          <p:nvPr/>
        </p:nvSpPr>
        <p:spPr>
          <a:xfrm>
            <a:off x="9093200" y="3581400"/>
            <a:ext cx="2032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dirty="0">
                <a:solidFill>
                  <a:srgbClr val="B3A8D4"/>
                </a:solidFill>
              </a:rPr>
              <a:t>Needs a curated dataset, GPU time and careful evaluation</a:t>
            </a:r>
          </a:p>
        </p:txBody>
      </p:sp>
      <p:sp>
        <p:nvSpPr>
          <p:cNvPr id="123" name="Example 4"/>
          <p:cNvSpPr/>
          <p:nvPr/>
        </p:nvSpPr>
        <p:spPr>
          <a:xfrm>
            <a:off x="9093200" y="4749800"/>
            <a:ext cx="2032000" cy="381000"/>
          </a:xfrm>
          <a:prstGeom prst="rect">
            <a:avLst/>
          </a:prstGeom>
          <a:solidFill>
            <a:srgbClr val="1C1433"/>
          </a:solidFill>
          <a:ln>
            <a:noFill/>
          </a:ln>
        </p:spPr>
        <p:txBody>
          <a:bodyPr wrap="none" lIns="101600" tIns="0" rIns="101600" bIns="0" anchor="ctr">
            <a:noAutofit/>
          </a:bodyPr>
          <a:lstStyle/>
          <a:p>
            <a:pPr algn="l"/>
            <a:r>
              <a:rPr lang="en-US" sz="1200" dirty="0">
                <a:solidFill>
                  <a:srgbClr val="B3A8D4"/>
                </a:solidFill>
                <a:latin typeface="Consolas"/>
              </a:rPr>
              <a:t>1,000s of examples</a:t>
            </a:r>
          </a:p>
        </p:txBody>
      </p:sp>
      <p:sp>
        <p:nvSpPr>
          <p:cNvPr id="124" name="Effort Bar"/>
          <p:cNvSpPr/>
          <p:nvPr/>
        </p:nvSpPr>
        <p:spPr>
          <a:xfrm>
            <a:off x="927100" y="5613400"/>
            <a:ext cx="10223500" cy="76200"/>
          </a:xfrm>
          <a:prstGeom prst="rect">
            <a:avLst/>
          </a:prstGeom>
          <a:gradFill>
            <a:gsLst>
              <a:gs pos="0">
                <a:srgbClr val="FFC21A"/>
              </a:gs>
              <a:gs pos="60000">
                <a:srgbClr val="F72FE0"/>
              </a:gs>
              <a:gs pos="100000">
                <a:srgbClr val="6C3BAA"/>
              </a:gs>
            </a:gsLst>
            <a:lin ang="0" scaled="1"/>
          </a:gra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5" name="Effort Arrow"/>
          <p:cNvSpPr/>
          <p:nvPr/>
        </p:nvSpPr>
        <p:spPr>
          <a:xfrm rot="5400000">
            <a:off x="11099800" y="5524500"/>
            <a:ext cx="228600" cy="254000"/>
          </a:xfrm>
          <a:prstGeom prst="triangle">
            <a:avLst/>
          </a:prstGeom>
          <a:solidFill>
            <a:srgbClr val="6C3BA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26" name="Effort Left"/>
          <p:cNvSpPr/>
          <p:nvPr/>
        </p:nvSpPr>
        <p:spPr>
          <a:xfrm>
            <a:off x="927100" y="5791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dirty="0">
                <a:solidFill>
                  <a:srgbClr val="D9CCF2"/>
                </a:solidFill>
              </a:rPr>
              <a:t>Less effort, works today</a:t>
            </a:r>
          </a:p>
        </p:txBody>
      </p:sp>
      <p:sp>
        <p:nvSpPr>
          <p:cNvPr id="127" name="Effort Right"/>
          <p:cNvSpPr/>
          <p:nvPr/>
        </p:nvSpPr>
        <p:spPr>
          <a:xfrm>
            <a:off x="7518400" y="5791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400" b="1" dirty="0">
                <a:solidFill>
                  <a:srgbClr val="9C8FBF"/>
                </a:solidFill>
              </a:rPr>
              <a:t>More effort, data and compute</a:t>
            </a:r>
          </a:p>
        </p:txBody>
      </p:sp>
    </p:spTree>
    <p:extLst>
      <p:ext uri="{BB962C8B-B14F-4D97-AF65-F5344CB8AC3E}">
        <p14:creationId xmlns:p14="http://schemas.microsoft.com/office/powerpoint/2010/main" val="3929293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C5737-99BF-E097-C898-14C4C0A15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The best way lies in the middle</a:t>
            </a:r>
          </a:p>
        </p:txBody>
      </p:sp>
      <p:sp>
        <p:nvSpPr>
          <p:cNvPr id="100" name="Spectrum Line"/>
          <p:cNvSpPr/>
          <p:nvPr/>
        </p:nvSpPr>
        <p:spPr>
          <a:xfrm>
            <a:off x="1905000" y="2654300"/>
            <a:ext cx="8382000" cy="76200"/>
          </a:xfrm>
          <a:prstGeom prst="rect">
            <a:avLst/>
          </a:prstGeom>
          <a:gradFill>
            <a:gsLst>
              <a:gs pos="0">
                <a:srgbClr val="3D2A6B"/>
              </a:gs>
              <a:gs pos="50000">
                <a:srgbClr val="F72FE0"/>
              </a:gs>
              <a:gs pos="100000">
                <a:srgbClr val="3D2A6B"/>
              </a:gs>
            </a:gsLst>
            <a:lin ang="0" scaled="1"/>
          </a:gra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1" name="Node Left"/>
          <p:cNvSpPr/>
          <p:nvPr/>
        </p:nvSpPr>
        <p:spPr>
          <a:xfrm>
            <a:off x="1790700" y="2578100"/>
            <a:ext cx="228600" cy="228600"/>
          </a:xfrm>
          <a:prstGeom prst="ellipse">
            <a:avLst/>
          </a:prstGeom>
          <a:solidFill>
            <a:srgbClr val="6C3BA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2" name="Node Right"/>
          <p:cNvSpPr/>
          <p:nvPr/>
        </p:nvSpPr>
        <p:spPr>
          <a:xfrm>
            <a:off x="10172700" y="2578100"/>
            <a:ext cx="228600" cy="228600"/>
          </a:xfrm>
          <a:prstGeom prst="ellipse">
            <a:avLst/>
          </a:prstGeom>
          <a:solidFill>
            <a:srgbClr val="6C3BA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3" name="Node Middle"/>
          <p:cNvSpPr/>
          <p:nvPr/>
        </p:nvSpPr>
        <p:spPr>
          <a:xfrm>
            <a:off x="5918200" y="2514600"/>
            <a:ext cx="355600" cy="355600"/>
          </a:xfrm>
          <a:prstGeom prst="ellipse">
            <a:avLst/>
          </a:prstGeom>
          <a:solidFill>
            <a:srgbClr val="F72FE0"/>
          </a:solidFill>
          <a:ln w="25400">
            <a:solidFill>
              <a:srgbClr val="F5EEFF"/>
            </a:solidFill>
          </a:ln>
          <a:effectLst>
            <a:glow rad="152400">
              <a:srgbClr val="F72FE0">
                <a:alpha val="55000"/>
              </a:srgbClr>
            </a:glo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4" name="Label Left"/>
          <p:cNvSpPr/>
          <p:nvPr/>
        </p:nvSpPr>
        <p:spPr>
          <a:xfrm>
            <a:off x="889000" y="1879600"/>
            <a:ext cx="203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en-US" sz="1600" b="1" dirty="0">
                <a:solidFill>
                  <a:srgbClr val="B3A8D4"/>
                </a:solidFill>
                <a:latin typeface="+mj-lt"/>
              </a:rPr>
              <a:t>Hand it all to AI</a:t>
            </a:r>
          </a:p>
          <a:p>
            <a:pPr algn="ctr"/>
            <a:r>
              <a:rPr lang="en-US" sz="1400" dirty="0">
                <a:solidFill>
                  <a:srgbClr val="B3A8D4"/>
                </a:solidFill>
              </a:rPr>
              <a:t>your own skills fade</a:t>
            </a:r>
          </a:p>
        </p:txBody>
      </p:sp>
      <p:sp>
        <p:nvSpPr>
          <p:cNvPr id="105" name="Label Right"/>
          <p:cNvSpPr/>
          <p:nvPr/>
        </p:nvSpPr>
        <p:spPr>
          <a:xfrm>
            <a:off x="9271000" y="1879600"/>
            <a:ext cx="203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en-US" sz="1600" b="1" dirty="0">
                <a:solidFill>
                  <a:srgbClr val="B3A8D4"/>
                </a:solidFill>
                <a:latin typeface="+mj-lt"/>
              </a:rPr>
              <a:t>Avoid AI entirely</a:t>
            </a:r>
          </a:p>
          <a:p>
            <a:pPr algn="ctr"/>
            <a:r>
              <a:rPr lang="en-US" sz="1400" dirty="0">
                <a:solidFill>
                  <a:srgbClr val="B3A8D4"/>
                </a:solidFill>
              </a:rPr>
              <a:t>you fall behind</a:t>
            </a:r>
          </a:p>
        </p:txBody>
      </p:sp>
      <p:sp>
        <p:nvSpPr>
          <p:cNvPr id="106" name="Label Middle"/>
          <p:cNvSpPr/>
          <p:nvPr/>
        </p:nvSpPr>
        <p:spPr>
          <a:xfrm>
            <a:off x="4699000" y="1930400"/>
            <a:ext cx="279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en-US" sz="1400" b="1" spc="300" dirty="0">
                <a:solidFill>
                  <a:srgbClr val="F72FE0"/>
                </a:solidFill>
                <a:latin typeface="+mj-lt"/>
              </a:rPr>
              <a:t>WHERE WE STAND</a:t>
            </a:r>
          </a:p>
        </p:txBody>
      </p:sp>
      <p:sp>
        <p:nvSpPr>
          <p:cNvPr id="107" name="Connector"/>
          <p:cNvSpPr/>
          <p:nvPr/>
        </p:nvSpPr>
        <p:spPr>
          <a:xfrm>
            <a:off x="6083300" y="2870200"/>
            <a:ext cx="25400" cy="330200"/>
          </a:xfrm>
          <a:prstGeom prst="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8" name="Middle Card"/>
          <p:cNvSpPr/>
          <p:nvPr/>
        </p:nvSpPr>
        <p:spPr>
          <a:xfrm>
            <a:off x="1905000" y="3200400"/>
            <a:ext cx="8382000" cy="1727200"/>
          </a:xfrm>
          <a:prstGeom prst="rect">
            <a:avLst/>
          </a:prstGeom>
          <a:gradFill>
            <a:gsLst>
              <a:gs pos="0">
                <a:srgbClr val="34205E"/>
              </a:gs>
              <a:gs pos="100000">
                <a:srgbClr val="231A40"/>
              </a:gs>
            </a:gsLst>
            <a:lin ang="5400000" scaled="1"/>
          </a:gradFill>
          <a:ln w="28575">
            <a:gradFill>
              <a:gsLst>
                <a:gs pos="0">
                  <a:srgbClr val="FFC21A"/>
                </a:gs>
                <a:gs pos="50000">
                  <a:srgbClr val="F43F8E"/>
                </a:gs>
                <a:gs pos="100000">
                  <a:srgbClr val="B620E0"/>
                </a:gs>
              </a:gsLst>
              <a:lin ang="0" scaled="1"/>
            </a:gradFill>
          </a:ln>
          <a:effectLst>
            <a:glow rad="190500">
              <a:srgbClr val="F72FE0">
                <a:alpha val="22000"/>
              </a:srgbClr>
            </a:glow>
          </a:effectLst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09" name="Col Rule 1"/>
          <p:cNvSpPr/>
          <p:nvPr/>
        </p:nvSpPr>
        <p:spPr>
          <a:xfrm>
            <a:off x="2260600" y="3530600"/>
            <a:ext cx="50800" cy="1066800"/>
          </a:xfrm>
          <a:prstGeom prst="rect">
            <a:avLst/>
          </a:prstGeom>
          <a:solidFill>
            <a:srgbClr val="FFC21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0" name="Col Head 1"/>
          <p:cNvSpPr/>
          <p:nvPr/>
        </p:nvSpPr>
        <p:spPr>
          <a:xfrm>
            <a:off x="2463800" y="3530600"/>
            <a:ext cx="3378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5EEFF"/>
                </a:solidFill>
                <a:latin typeface="+mj-lt"/>
              </a:rPr>
              <a:t>Learn it yourself</a:t>
            </a:r>
          </a:p>
        </p:txBody>
      </p:sp>
      <p:sp>
        <p:nvSpPr>
          <p:cNvPr id="111" name="Col Body 1"/>
          <p:cNvSpPr/>
          <p:nvPr/>
        </p:nvSpPr>
        <p:spPr>
          <a:xfrm>
            <a:off x="2463800" y="4038600"/>
            <a:ext cx="33782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dirty="0">
                <a:solidFill>
                  <a:srgbClr val="D9CCF2"/>
                </a:solidFill>
              </a:rPr>
              <a:t>Master the hard concepts and real skills, even the ones AI can already do</a:t>
            </a:r>
          </a:p>
        </p:txBody>
      </p:sp>
      <p:sp>
        <p:nvSpPr>
          <p:cNvPr id="112" name="Col Rule 2"/>
          <p:cNvSpPr/>
          <p:nvPr/>
        </p:nvSpPr>
        <p:spPr>
          <a:xfrm>
            <a:off x="6451600" y="3530600"/>
            <a:ext cx="50800" cy="1066800"/>
          </a:xfrm>
          <a:prstGeom prst="rect">
            <a:avLst/>
          </a:prstGeom>
          <a:solidFill>
            <a:srgbClr val="F72F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13" name="Col Head 2"/>
          <p:cNvSpPr/>
          <p:nvPr/>
        </p:nvSpPr>
        <p:spPr>
          <a:xfrm>
            <a:off x="6654800" y="3530600"/>
            <a:ext cx="3378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5EEFF"/>
                </a:solidFill>
                <a:latin typeface="+mj-lt"/>
              </a:rPr>
              <a:t>Train AI to work for you</a:t>
            </a:r>
          </a:p>
        </p:txBody>
      </p:sp>
      <p:sp>
        <p:nvSpPr>
          <p:cNvPr id="114" name="Col Body 2"/>
          <p:cNvSpPr/>
          <p:nvPr/>
        </p:nvSpPr>
        <p:spPr>
          <a:xfrm>
            <a:off x="6654800" y="4038600"/>
            <a:ext cx="33782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dirty="0">
                <a:solidFill>
                  <a:srgbClr val="D9CCF2"/>
                </a:solidFill>
              </a:rPr>
              <a:t>Use it as a tutor and teammate, on open models you own and control</a:t>
            </a:r>
          </a:p>
        </p:txBody>
      </p:sp>
      <p:sp>
        <p:nvSpPr>
          <p:cNvPr id="115" name="Thanks"/>
          <p:cNvSpPr/>
          <p:nvPr/>
        </p:nvSpPr>
        <p:spPr>
          <a:xfrm>
            <a:off x="1143000" y="5308600"/>
            <a:ext cx="990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en-US" sz="2400" b="1" dirty="0">
              <a:solidFill>
                <a:srgbClr val="FFC21A"/>
              </a:solidFill>
              <a:latin typeface="+mj-lt"/>
            </a:endParaRPr>
          </a:p>
        </p:txBody>
      </p:sp>
      <p:pic>
        <p:nvPicPr>
          <p:cNvPr id="116" name="Copied Picture 116" descr="SpartaHack 12 logo">
            <a:extLst>
              <a:ext uri="{FF2B5EF4-FFF2-40B4-BE49-F238E27FC236}">
                <a16:creationId xmlns:a16="http://schemas.microsoft.com/office/drawing/2014/main" id="{811CEBD3-78C6-4CCA-9293-03ECBF6473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1" r="2923" b="-3"/>
          <a:stretch>
            <a:fillRect/>
          </a:stretch>
        </p:blipFill>
        <p:spPr>
          <a:xfrm>
            <a:off x="9931400" y="254000"/>
            <a:ext cx="2032000" cy="1524000"/>
          </a:xfrm>
          <a:prstGeom prst="rect">
            <a:avLst/>
          </a:prstGeom>
          <a:noFill/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4155649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ABD8C-F7E5-3BEC-DB18-09FC3D790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750" y="2435225"/>
            <a:ext cx="11182350" cy="2543175"/>
          </a:xfrm>
        </p:spPr>
        <p:txBody>
          <a:bodyPr/>
          <a:lstStyle/>
          <a:p>
            <a:r>
              <a:rPr lang="en-US" dirty="0">
                <a:gradFill>
                  <a:gsLst>
                    <a:gs pos="0">
                      <a:srgbClr val="FFC21A"/>
                    </a:gs>
                    <a:gs pos="50000">
                      <a:srgbClr val="F43F8E"/>
                    </a:gs>
                    <a:gs pos="100000">
                      <a:srgbClr val="B620E0"/>
                    </a:gs>
                  </a:gsLst>
                  <a:lin ang="0" scaled="1"/>
                </a:gradFill>
              </a:rPr>
              <a:t>Thank you, for joining our workshop!</a:t>
            </a:r>
            <a:endParaRPr lang="en-US" sz="2400" dirty="0">
              <a:solidFill>
                <a:srgbClr val="FFC2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31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92278695169]">
  <a:themeElements>
    <a:clrScheme name="SpartaHack 12">
      <a:dk1>
        <a:srgbClr val="F5EEFF"/>
      </a:dk1>
      <a:lt1>
        <a:srgbClr val="1C1433"/>
      </a:lt1>
      <a:dk2>
        <a:srgbClr val="D9CCF2"/>
      </a:dk2>
      <a:lt2>
        <a:srgbClr val="2E1A5E"/>
      </a:lt2>
      <a:accent1>
        <a:srgbClr val="F72FE0"/>
      </a:accent1>
      <a:accent2>
        <a:srgbClr val="FFC21A"/>
      </a:accent2>
      <a:accent3>
        <a:srgbClr val="FF8A2B"/>
      </a:accent3>
      <a:accent4>
        <a:srgbClr val="F43F8E"/>
      </a:accent4>
      <a:accent5>
        <a:srgbClr val="B620E0"/>
      </a:accent5>
      <a:accent6>
        <a:srgbClr val="6C3BAA"/>
      </a:accent6>
      <a:hlink>
        <a:srgbClr val="FFC21A"/>
      </a:hlink>
      <a:folHlink>
        <a:srgbClr val="D96BF0"/>
      </a:folHlink>
    </a:clrScheme>
    <a:fontScheme name="SpartaHack 12">
      <a:majorFont>
        <a:latin typeface="Bahnschrif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565656C-03B1-4655-BA2D-2660DB3AA40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702fb672-bad0-4aaf-963b-2ca9facf456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1052</TotalTime>
  <Words>1282</Words>
  <Application>Microsoft Office PowerPoint</Application>
  <PresentationFormat>Widescreen</PresentationFormat>
  <Paragraphs>213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Bahnschrift</vt:lpstr>
      <vt:lpstr>Consolas</vt:lpstr>
      <vt:lpstr>Segoe UI</vt:lpstr>
      <vt:lpstr>Office Theme [1792278695169]</vt:lpstr>
      <vt:lpstr>Power of  Open source AI</vt:lpstr>
      <vt:lpstr>PowerPoint Presentation</vt:lpstr>
      <vt:lpstr>Open models now process more tokens than closed ones on OpenRouter</vt:lpstr>
      <vt:lpstr>You know the closed-model giants. Meet the open ones.</vt:lpstr>
      <vt:lpstr>To run a model, its weights have to fit in memory</vt:lpstr>
      <vt:lpstr>4-bit quantization shrinks Gemma from 17.9 GB to 4.5 GB</vt:lpstr>
      <vt:lpstr>Models read tokens, not words</vt:lpstr>
      <vt:lpstr>Let's get to it!</vt:lpstr>
      <vt:lpstr>Ollama / Gemma Setup Demo</vt:lpstr>
      <vt:lpstr>It all starts with the Prompt</vt:lpstr>
      <vt:lpstr>Managing Context</vt:lpstr>
      <vt:lpstr>How do LLMs work?</vt:lpstr>
      <vt:lpstr>Temperature and Top-k</vt:lpstr>
      <vt:lpstr>PowerPoint Presentation</vt:lpstr>
      <vt:lpstr>The same score now takes a model 142× smaller, and small models keep improving</vt:lpstr>
      <vt:lpstr>A 7B model trained for code beats general models its size at coding</vt:lpstr>
      <vt:lpstr>The biggest gains come from tools and artifacts, not fine-tuning</vt:lpstr>
      <vt:lpstr>The best way lies in the middle</vt:lpstr>
      <vt:lpstr>Thank you, for joining our workshop!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Fedor Filippov</dc:creator>
  <cp:lastModifiedBy>Fedor Filippov</cp:lastModifiedBy>
  <cp:revision>4</cp:revision>
  <dcterms:created xsi:type="dcterms:W3CDTF">2026-10-17T23:11:34Z</dcterms:created>
  <dcterms:modified xsi:type="dcterms:W3CDTF">2026-10-18T16:43:50Z</dcterms:modified>
</cp:coreProperties>
</file>